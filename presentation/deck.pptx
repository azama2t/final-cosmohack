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[0:00–0:21] Задача — сколько плавающего пластика в море, в штуках на квадратный километр. Пользователь — эколог: он видит находки на карте, открывает зону на снимке, сверяет с полем и выгружает результат. Целевая величина — это материал, размер и единица вместе; профили разных методов мы не смешиваем.</a:t>
            </a:r>
          </a:p>
          <a:p/>
          <a:p>
            <a:r>
              <a:t>Если спросят: Основной профиль — S2: суммарный пластик &gt; 2 см, визуальный учёт с судна, 63 события. S1 — трал 5–50 см, только полевая проверка. S3/S4 — весь мусор, не пластик. ADIS — камера судна, объекты детектора ADIS &gt; 10 см, камера судна (7 % — животное/растение по классу модели).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[0:21–0:43] Мы искали пары «снимок плюс полевой счёт». Из 318 событий CSV синхронных с учётом дрейфа — 0. В открытых данных ADIS нашли 66 пар по месту и времени, но предметы там меньше пикселя. Калибровочных пар — 0; у авторов крупнейшего набора полос, Cózar 2024, тоже только искусственные мишени.</a:t>
            </a:r>
          </a:p>
          <a:p/>
          <a:p>
            <a:r>
              <a:t>Если спросят: Цитата полностью: «The current matching of satellite detections and field observations is limited to fake targets (artificial LWs), and reports of dense LW sightings» — Cózar et al. 2024, Nat Commun, раздел «A new scenario for research and management» (PMC11178853), doi 10.1038/s41467-024-48674-7. На 6 синхронных отрезках ADIS с единичными предметами детектор предметы не увидел; это согласуется с физикой (доля покрытия ≈ 6.6·10⁻⁸), но не задаёт общий предел для всех скоплений.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[0:43–1:04] Поэтому решение — лестница единиц. На фото счётчик считает предметы. Если известна площадь кадра — это плотность. По маршруту судна — штуки на квадратный километр. Со спутника — место и площадь зоны. У каждой ступени своя проверка, и без калибровки мы между ними не прыгаем.</a:t>
            </a:r>
          </a:p>
          <a:p/>
          <a:p>
            <a:r>
              <a:t>Если спросят: Сквозной путь в сервисе: спутник находит зону → детальное фото над ней → счётчик → шт./км² кадра → сверка с полем.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[1:04–1:23] Первая ступень со спутника — детектор скоплений. Пиксельный LightGBM на test MARIDA даёт F1 0.871: RandomForest по протоколу авторов — 0.771, их U-Net — 0.501. Порог выбран на val, test посчитан один раз. Класс — любой плавающий мусор, не только пластик.</a:t>
            </a:r>
          </a:p>
          <a:p/>
          <a:p>
            <a:r>
              <a:t>Если спросят: Ошибки: из 75 ложных 64 % — суда и природная органика. Дообучение: ΔF1 val от −0.057 до 0.002 — правило принятия (записано до экспериментов) не прошёл ни один из 13 вариантов с новыми данными (×3 seed) и контрольный r0 → остаётся weights/lgbm.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[1:23–1:45] Главная трудность — сложный фон. Если учить на естественных нитях, полнота растёт до 97 процентов, но пена и суда тоже становятся мусором. Добавим суда как отрицательные — теряются нити. Правило, записанное заранее, не прошёл ни один вариант, поэтому в сервисе прежний детектор, а суда мы отсеиваем фильтрами.</a:t>
            </a:r>
          </a:p>
          <a:p/>
          <a:p>
            <a:r>
              <a:t>Если спросят: Нить — хотя бы один пиксель детектора на окне нити каталога Cózar 2024; суда — рамки судов (D); пена — окна пены. Test MARIDA при подборе не читался.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[1:45–2:06] Главный количественный результат — по полю: C равно N на A. Для пластика S2 — 53.9 штуки на квадратный километр, 95 процентов по дням рейса — от 39.7 до 70.4. На отложенном test модели не лучше медианы — 30.0 против 25.2, поэтому на карте медиана.</a:t>
            </a:r>
          </a:p>
          <a:p/>
          <a:p>
            <a:r>
              <a:t>Если спросят: Интервал Пуассона [49.9–58.0] — только ошибка счёта; разброс между днями (sd ln C ≈ 0.46) он не учитывает. Одно новое место: 10.2–157.0 шт./км². ADIS: модели по регионам не лучше медианы (ни один кандидат (B1, M1, M2) не прошёл правило на val в обеих схемах → медиана профиля остаётся). Калибровка авторов ADIS — de Vries et al. 2026, Environ. Res. Commun., doi 10.1088/2515-7620/ae8152, типичный интервал отрезка 1.1–18.7; наше число без поправки не заменяем.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[2:06–2:24] Штуки видно только на детальном фото. Счётчик предметов ошибается на 0.59 предмета на кадр на отложенных сессиях съёмки, медиана без модели — 2.86. Если площадь кадра известна, как у аэросъёмки, получаем штуки на квадратный километр. Состав по материалам не выдаём.</a:t>
            </a:r>
          </a:p>
          <a:p/>
          <a:p>
            <a:r>
              <a:t>Если спросят: FML (камера у воды, FML — CC BY (SEANOE doi:10.17882/106148)): mAP@0,5 0.914, точное число у 64 % кадров. Аэро: Winans 2023 (аэро, берег/мелководье), GSD 0.02 м, 397 отложенных кадров, ошибка числа 1.85 шт./кадр (Winans 2023 — CC BY (Zenodo 8381113)). Это отдельный модуль, не спутник.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[2:24–2:44] Теперь спутник на сцене, которую модель не видела. На отложенной сцене 30SXE 14 из 23 зон совпали с нитями, найденными людьми. У зоны — площадь, доля покрытия и статус; суда, пена, блик и сильный ветер — «недостаточно данных». Штук по снимку не выдаём.</a:t>
            </a:r>
          </a:p>
          <a:p/>
          <a:p>
            <a:r>
              <a:t>Если спросят: Сцена S2B_30SXE_20210311_0_L2A: в MARIDA того же тайла нет, MADOS по содержимому — no match; ветер 2.5 м/с. Пример зоны SZ-demo-cozar-2021-03-11-016: 4.18 км², вероятность 0.87, модель sha256 0eeebf43fccc.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[2:44–3:04] Сервис. При открытии — Земля с реальными находками обработанных сцен. Клик по точке — сцена и карточка зоны: что найдено, когда, площадь, уверенность и откуда каждое число. Из карточки — в студию, кнопкой «Назад» — к той же точке обзора и к следующей находке.</a:t>
            </a:r>
          </a:p>
          <a:p/>
          <a:p>
            <a:r>
              <a:t>Если спросят: Показ вживую — docs/DEMO.md. Полевые шт./км² другого места не выдаются за плотность зоны: «не определено по этому снимку».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[3:04–3:21] Режим «Фото» открывается с готовым примером: рамки и число предметов, а при известной площади кадра — штуки на квадратный километр. У каждого числа подписан источник. Выгрузка GeoJSON и CSV совпадает с картой, запрос можно сохранить и повторить.</a:t>
            </a:r>
          </a:p>
          <a:p/>
          <a:p>
            <a:r>
              <a:t>Если спросят: Выгрузка сверяется тестом: UI 23, CSV 23, GeoJSON 23 строк.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[3:21–3:43] Что мы не утверждаем. Штук по снимку — нет, калибровочных пар ноль. Пластик по снимку — нет, детектор видит любой мусор и путает суда. Предел обнаружения не доказан. При сильном ветре — «недостаточно данных». Поле — один рейс, а счётчик по фото без дообучения на реку не переносится.</a:t>
            </a:r>
          </a:p>
          <a:p/>
          <a:p>
            <a:r>
              <a:t>Если спросят: Test концентрации не абсолютно нетронутый: ранняя разведка бейзлайнов (baseline_concentration.py, run_all шаг 4: median/mean/kNN) видела все события профиля, включая будущий test; test не абсолютно нетронутый — указывается как ограничение. Порог ветра — 5 м/с из Methods Cózar 2024, не подбирался.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[3:43–3:57] Развитие — замкнуть лестницу. Спутник находит зону, над ней делается детальный снимок с дрона, счётчик даёт штуки на квадратный километр, их сверяем с полем. Для калибровки хватит 4–12 таких пар.</a:t>
            </a:r>
          </a:p>
          <a:p/>
          <a:p>
            <a:r>
              <a:t>Если спросят: Проверено: доступа к VHR над положительными отрезками ADIS в тот же день нет; поэтому это следующий шаг, а не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[3:57–4:10] Всё воспроизводится одной командой без сети за 11.5 секунды, чистый клон до карты — 7,5 минуты, числа в README, отчёте и этой презентации сверяет тест. Спасибо, готовы к вопросам.</a:t>
            </a:r>
          </a:p>
          <a:p/>
          <a:p>
            <a:r>
              <a:t>Если спросят: Тесты кейса (26.09.2026 09:46): 255 passed. Приложение — подробные слайды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Главное в работе — как мы искали данные. CSV — это подсчёты вдоль маршрутов, поэтому каждую находку мы помечаем уровнем: A, B, C или D. У событий CSV пар уровня A — 0: для пластика снимков нет, в Северном море облака, в Чёрном время трансект не опубликовано. Тогда мы нашли открытые данные ADIS: 66 пар по месту и времени.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Пар по месту и времени — 66, но это не калибровочные пары: на 6 отрезках с предметами детектор их не увидел, предмет меньше процента пикселя. Калибровочных пар «снимок — штуки» 0: мы проверили 318 событий CSV и 177 синхронных отрезков ADIS. У авторов крупнейшего набора полос тоже: «The current matching of satellite detections and field observations is limited to fake targets» (Cózar и др., 2024, doi 10.1038/s41467-024-48674-7).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Для детектора мы собрали новые метки: скопления PLP, FloatingObjects и нити Cózar — B, суда и облака — D. С MARIDA совпадений нет; с MADOS по пикселям сверены PLP и FloatingObjects. Детектор на них почти не видит нити и путает суда.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Ответ на вопрос о дообучении: правило принятия (записано до экспериментов) не прошёл ни один из 13 вариантов с новыми данными (×3 seed) и контрольный r0 → остаётся weights/lgbm. Официальный U-Net MARIDA на том же test — F1 0.501, наш LightGBM — 0.871.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Количество: штуки на квадратный километр — только по полю. Со снимка — площадь маски и доля покрытия; перевода в штуки нет, калибровочных пар ноль, калибровка по ячейкам дала отрицательный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Нефть — отдельный эксперимент. На разметке MADOS голова лучше простого индекса, но известный разлив Wakashio на реальном снимке она не нашла. Поэтому слой выключен и подписан как эксперимент.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Из 935 строк в основной профиль попадают 63. У каждого отказа есть причина: объектные строки, категории, весь мусор. Поля-утечки в признаки не попадают, это проверяют тесты.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Реестр пар — главный фильтр. Из 318 событий по метаданным проходят 29, маски в полосе — 12. Но вода за сутки уходит на десятки километров: пара синхронна, только если между снимком и наблюдением не больше 4.2 часа. Таких ноль. Для пластика снимков нет вообще.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Детектор — пиксельный LightGBM. На test MARIDA F1 0.871, RandomForest — 0.771, индексы FDI — 0.042; саргассум и мутную воду он не путает. На снимках пар мы выключили гармонизацию каналов — решение по MARIDA val, не по тесту. Сейчас 5 объектов на 22 сценах и ни одного в полосах; вне полосы — одиночные пиксели пены и, вероятно, судно — все ложные, скоплений нет. Прежний режим давал 975 объектов, почти всё — фон моря.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Концентрация: C равно N на A, интервал Пуассона, контрольный пример — 60.0. Модели сравниваем с медианой на участках маршрута. На dev ridge выигрывает слабо, а на отложенном test, посчитанном один раз, — 30.0 против 25.2 у медианы. Правило записано до открытия test, поэтому на карте — медиана. Модель не спасаем.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Связь снимка с полем мы всё же проверили. На 11 парах FDI даёт ρ −0.75, но после поправки Холма p 0.12, а случайная вода той же сцены даёт почти то же. Вывод — данных мало: нужно около 33 независимых пар.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Наш вклад — решения, которые защищают выводы от самообмана. Допуск по дрейфу в реестре пар, сплит по участкам маршрута, test один раз по заранее записанному правилу, отказ от гармонизации по val, геометрия трансект по первоисточникам и один источник чисел с тестом. Разметка MARIDA, протокол RandomForest и индекс FDI — готовые, мы с ними сравниваемся.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[прил.–прил.] Из правила дрейфа мы сделали инструмент «Подобрать снимок»: он говорит, когда выходить на трансекту. Для Чёрного моря это окна UTC у 12 событий. Геометрию трансект восстановили по PANGAEA.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01 · Задача и целевая величина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Сколько плавающего пластика в море: шт./км² — по полю, место скопления — по снимку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шт./км²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целевая единица: материал + размерный класс + единица — профили не смешиваем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31546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Пользователь — эколог по мониторингу: карта находок → зона на снимке → полевое число рядом → выгрузка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Детектор (класс Marine Debris MARIDA) видит любой плавающий мусор, не только пластик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92040" y="1600200"/>
          <a:ext cx="685799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566160"/>
                <a:gridCol w="12344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Профиль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Что считаем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Событий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S2 Саргассово, с судна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суммарный пластик &gt; 2 см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63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S1 GPGP, трал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суммарный пластик 5–50 см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S3 / S4, с судна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весь мусор &gt; 2 см / &gt; 2.5 см — не пластик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41 · 33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ADIS, камера судна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все плавающие предметы &gt; 10 см (не только пластик)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20836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92040" y="5029200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основная целевая величина — суммарный пластик S2, шт./км²; весь мусор S3/S4 — только для экспериментов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configs/case_selection.yaml; reports/quantity/*.json (final_numbers → case.sections.quantity.profiles)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02 · Данные и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EEFF1"/>
                </a:solidFill>
                <a:latin typeface="Segoe UI"/>
              </a:rPr>
              <a:t>318 событий CSV → 0 синхронных пар; калибровочных пар «снимок → шт./км²» —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9912E"/>
                </a:solidFill>
                <a:latin typeface="Segoe UI"/>
              </a:rPr>
              <a:t>318 → 29 → 12 →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события CSV → по дате и облакам → по маскам качества → синхронно с учётом дрейфа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108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92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пар по месту и времени ADIS (камера судна); видимый сигнал — 0 из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2148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7984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калибровочных пар; для коэффициента в ×/÷2 нужно 4–12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4160520" cy="6857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Cózar и др., 2024: «The current matching of satellite detections and field observations is limited to fake targets»</a:t>
            </a:r>
          </a:p>
        </p:txBody>
      </p:sp>
      <p:pic>
        <p:nvPicPr>
          <p:cNvPr id="11" name="Picture 10" descr="05_fun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39" y="1600200"/>
            <a:ext cx="6553200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92040" y="5623559"/>
            <a:ext cx="68580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для пластика снимков в окне нет, а где снимок и счёт совпали — предметы меньше пикселя; калибровать не на чем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docs/img/funnel.png; reports/search/*.md; reports/case_pairs/summary.md (final_numbers → case.pairs, case.sections.search)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03 · Решение: лестница единиц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Решение — лестница единиц: предмет на фото → плотность на кадре → шт./км² маршрута → зона на снимке</a:t>
            </a:r>
          </a:p>
        </p:txBody>
      </p:sp>
      <p:pic>
        <p:nvPicPr>
          <p:cNvPr id="4" name="Picture 3" descr="10_units_l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11247120" cy="3792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38286"/>
            <a:ext cx="11247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FF1"/>
                </a:solidFill>
                <a:latin typeface="Segoe UI"/>
              </a:rPr>
              <a:t>Вывод: у каждой ступени своя проверка и своя метрика; между ступенями без калибровки не переходим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docs/QUANTITY.md; docs/img/units_ladder.png (final_numbers → case.sections.photo_count, quantity, scene_zones)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0:43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04 · Детектор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Детектор скоплений по Sentinel-2: F1 0.871 на test MARIDA — лучше RandomForest, U-Net авторов и индексов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0.871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F1 на test MARIDA [0.823; 0.920], 15 сцен, test один 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+0.100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к RandomForest по протоколу MARIDA [0.049; 0.150]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4160520" cy="1691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Дообучение на новых B/D: 13 вариантов — правило, записанное заранее, не прошёл ни один; остаётся weights/lgbm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600200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F1 Marine Debris, test MARIDA (15 сцен)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57400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LightGBM (наш)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121408"/>
            <a:ext cx="2747726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93278" y="205740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0.871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60320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RandomForest, протокол MARIDA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624327"/>
            <a:ext cx="2432258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7810" y="256032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0.771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063239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U-Net MARIDA, веса авторов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127247"/>
            <a:ext cx="1580494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26046" y="3063239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0.501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66159"/>
            <a:ext cx="278892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окно FDI × NDVI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630167"/>
            <a:ext cx="132496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8048" y="3566159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0.042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114799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Вывод: на том же test пиксельный LightGBM лучше всех бейзлайнов; пороги индексов с val не переносятся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reports/case_detector/compare.md, metrics.json; reports/detector_v2/unet_test.json, decision.json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1:04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05 · Разбор ошибок на сложном фоне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Сложный фон: нити, пена и суда спектрально близки — выигрыш на одном ломает другое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97 %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полнота на нитях Cózar, если учить на естественных скоплениях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50/50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ложных на пене у того же варианта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92040" y="160020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Вариант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Нити · суда · пена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В сервисе: weights/lgbm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36 % · 26 % · 4/50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+ естественные B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77–97 % · 74–91 % · 50/50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+ суда как отрицательные D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27 % · 4 % · 0/50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92040" y="3749039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правило принятия не прошёл ни один вариант — оставили прежний детектор и назвали его слабость (суда)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reports/detector_v2/experiments.md, decision.json; configs/detector_v2_eval.yaml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1:23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06 · Концентрация по полю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EEFF1"/>
                </a:solidFill>
                <a:latin typeface="Segoe UI"/>
              </a:rPr>
              <a:t>Главный количественный результат: 53.9 шт./км² [39.7–70.4] — пластик S2 по полю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53.9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шт./км², суммарный пластик &gt; 2 см: 697 шт. / 12.94 км²; 95 % по дням рейса [39.7–70.4]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1.54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шт./км², ADIS: все предметы &gt; 10 см (не только пластик), измерение ΣN/ΣA [1.52–1.56]; калибровка авторов по тралу — 4.64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4160520" cy="1691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На карте — медиана профиля 37.0 шт./км² (типичное событие); 53.9 — ΣN/ΣA всех событий; ошибка медианы на отложенном test — MAE 25.2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92040" y="1600200"/>
          <a:ext cx="6858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1714500"/>
                <a:gridCol w="17145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Отложенный test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Модель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Медиана</a:t>
                      </a:r>
                    </a:p>
                  </a:txBody>
                  <a:tcPr marL="73152" marR="73152" marT="36576" marB="36576">
                    <a:solidFill>
                      <a:srgbClr val="5B63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S2, MAE (14 событий)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30.0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25.2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S1, MAE (19 событий)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370.0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371.1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EEEFF1"/>
                          </a:solidFill>
                          <a:latin typeface="Segoe UI"/>
                        </a:rPr>
                        <a:t>S2, покрытие 90 %-интервала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71 %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EEEFF1"/>
                          </a:solidFill>
                          <a:latin typeface="Segoe UI"/>
                        </a:rPr>
                        <a:t>93 %</a:t>
                      </a:r>
                    </a:p>
                  </a:txBody>
                  <a:tcPr marL="73152" marR="73152" marT="36576" marB="36576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92040" y="4023359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модели не лучше медианы на отложенном test → на карте медиана профиля с честным интервалом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reports/case_conc/final_test.json; reports/quantity/field_intervals.md, adis_forecast.md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1:45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07 · Счётчик предметов по фото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Счётчик по фото: ошибка 0.59 шт./кадр на отложенных сессиях; при известной площади — шт./км² кадра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0.59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шт./кадр — ошибка числа, 1190 фото FML [0.54; 0.66]; медиана без модели — 2.86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11320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шт./км² — ошибка плотности на кадре 164 м² (аэро, берег); медиана — 27930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4160520" cy="1691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AC"/>
                </a:solidFill>
                <a:latin typeface="Segoe UI"/>
              </a:rPr>
              <a:t>• Состав: один класс «мусор» — по материалам не делим («состав не определён»)</a:t>
            </a:r>
          </a:p>
        </p:txBody>
      </p:sp>
      <p:pic>
        <p:nvPicPr>
          <p:cNvPr id="9" name="Picture 8" descr="2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00200"/>
            <a:ext cx="6858000" cy="38576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2040" y="5549265"/>
            <a:ext cx="68580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штуки считаем там, где предмет виден — на фото; шт./км² — только при известной площади кадра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reports/photo_count/eval_grouped.json, area_winans.json; docs/PHOTO_COUNT.md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2:06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08 · Спутниковые зоны на отложенной сцене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EEFF1"/>
                </a:solidFill>
                <a:latin typeface="Segoe UI"/>
              </a:rPr>
              <a:t>Отложенная сцена 30SXE (11.03.2021): 14 из 23 зон совпали с нитями Cózar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14 /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5856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зон детектора совпали с разметкой Cózar (уровень B); сцена не участвовала в обучении и подборе порога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21608"/>
            <a:ext cx="4160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находок детектора на 75 сценах: 14 совпали с Cózar, 64 требуют проверки; ещё 180 — недостаточно данных или ложные, 28 — не обнаружено</a:t>
            </a:r>
          </a:p>
        </p:txBody>
      </p:sp>
      <p:pic>
        <p:nvPicPr>
          <p:cNvPr id="8" name="Picture 7" descr="26_sz_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632" y="1600200"/>
            <a:ext cx="5766816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92040" y="5623559"/>
            <a:ext cx="68580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EEFF1"/>
                </a:solidFill>
                <a:latin typeface="Segoe UI"/>
              </a:rPr>
              <a:t>Вывод: снимок даёт место, площадь и статус зоны; шт./км² — «концентрация по снимку не подтверждена»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data/case/scene_zones; reports/case_demo/heldout_check.json, demo_path.json (final_numbers → case.sections.scene_zones)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2:24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09 · Сервис: путь эколога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Сервис: Земля с находками → точка → сцена и карточка зоны → студия → назад к следующей точке</a:t>
            </a:r>
          </a:p>
        </p:txBody>
      </p:sp>
      <p:pic>
        <p:nvPicPr>
          <p:cNvPr id="4" name="Picture 3" descr="21_svc_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566160" cy="2431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04824"/>
            <a:ext cx="3566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1. Обзор Земли: находки обработанных сцен сразу, без формы</a:t>
            </a:r>
          </a:p>
        </p:txBody>
      </p:sp>
      <p:pic>
        <p:nvPicPr>
          <p:cNvPr id="6" name="Picture 5" descr="22_svc_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3566160" cy="2005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679316"/>
            <a:ext cx="3566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2. Точка → сцена и карточка: что найдено, когда, площадь, уверенность</a:t>
            </a:r>
          </a:p>
        </p:txBody>
      </p:sp>
      <p:pic>
        <p:nvPicPr>
          <p:cNvPr id="8" name="Picture 7" descr="25_svc_studi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00200"/>
            <a:ext cx="3566160" cy="2431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4104824"/>
            <a:ext cx="35661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3. «В студию» — работа с зоной; «Назад к карте» — к той же точке обзора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FF1"/>
                </a:solidFill>
                <a:latin typeface="Segoe UI"/>
              </a:rPr>
              <a:t>Вывод: путь эколога — Земля → точка → карточка → студия → назад к следующей находке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presentation/img/*.jpg (presentation/make_shots.py, http://localhost:8070, 1920×1080, без фикстур); docs/DEMO.md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2:44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10 · Сервис: фото и выгрузка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Счётчик по фото и выгрузка: зоны отложенной сцены на карте = CSV = GeoJSON (23 = 23 = 23)</a:t>
            </a:r>
          </a:p>
        </p:txBody>
      </p:sp>
      <p:pic>
        <p:nvPicPr>
          <p:cNvPr id="4" name="Picture 3" descr="20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5486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9452"/>
            <a:ext cx="54864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«Фото»: рамки и число предметов, площадь кадра → шт./км²; состав не определён</a:t>
            </a:r>
          </a:p>
        </p:txBody>
      </p:sp>
      <p:pic>
        <p:nvPicPr>
          <p:cNvPr id="6" name="Picture 5" descr="24_svc_ex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54864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759452"/>
            <a:ext cx="54864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Выгрузка GeoJSON/CSV того, что на карте; запросы сохраняются и повторяются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EEFF1"/>
                </a:solidFill>
                <a:latin typeface="Segoe UI"/>
              </a:rPr>
              <a:t>Вывод: у каждого числа подписан источник — поле, фото, снимок или «нет данных»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presentation/img/*.jpg (presentation/make_shots.py, http://localhost:8070, 1920×1080); docs/CONTRACTS_V3.md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11 · Ограничения: что мы НЕ утверждаем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EEFF1"/>
                </a:solidFill>
                <a:latin typeface="Segoe UI"/>
              </a:rPr>
              <a:t>Что мы НЕ утверждаем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шт./км² по снимку — не выдаём: калибровочных пар 0; «концентрация по снимку не подтверждена»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«Пластик» по снимку — нет: детектор видит любой плавающий мусор; суда — известная слабость (26 % судов)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Предел обнаружения не доказан: на 6 отрезках ADIS с единичными предметами детектор их не увидел — согласуется с физикой, но общий предел для всех скоплений не задаёт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Сильный ветер: «не обнаружено» → «недостаточно данных» (правило Cózar 2024)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Поле: S2 — один рейс; интервал одного нового места широкий (10–157 шт./км²)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EEFF1"/>
                </a:solidFill>
                <a:latin typeface="Segoe UI"/>
              </a:rPr>
              <a:t>• Счётчик по фото на реку и спутник без дообучения не переносится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README.md «Ограничения»; reports/report.md; docs/QUANTITY.md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12 ·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Развитие: спутник находит зону → детальный снимок над ней → счёт предметов → шт./км² → сверка с полем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48640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4–12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калибровочных пар «снимок → шт./км²» хватит для коэффициента в ×/÷2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48640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514600"/>
            <a:ext cx="5029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пар — чтобы увидеть связь r =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0881360" cy="2514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Трансекты и пролёты дронов под пролёт Sentinel-2, время записано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Детальные снимки (дрон, VHR) над найденными зонами → счётчик → шт./км² кадра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Дообучить счётчик на реке и дронах; классы материалов — с матрицей ошибок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Больше рейсов и сезонов для поля; дрейф по течениям и ветру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docs/QUANTITY.md; docs/research/marine_quantity/DECISION.md; reports/quantity/calibration.json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13 · Воспроизводимость, команда, репозиторий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EEFF1"/>
                </a:solidFill>
                <a:latin typeface="Segoe UI"/>
              </a:rPr>
              <a:t>Одна команда без сети — 11.5 с; чистый клон до карты — 7,5 мин; числа из одного файла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56616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11.5 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run.ps1 -Case all -Offline, CPU, без сети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00200"/>
            <a:ext cx="356616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7,5 мин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51460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от git clone до карты на экране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00200"/>
            <a:ext cx="3566160" cy="173736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73736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9912E"/>
                </a:solidFill>
                <a:latin typeface="Segoe UI"/>
              </a:rPr>
              <a:t>255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51460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EEFF1"/>
                </a:solidFill>
                <a:latin typeface="Segoe UI"/>
              </a:rPr>
              <a:t>тесты кейса; skipped 2, failed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10881360" cy="2514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Репозиторий: github.com/azama2t/final-cosmohack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Все числа — reports/final_numbers.json; отпечаток прогона 3db680b6661e86d3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EEFF1"/>
                </a:solidFill>
                <a:latin typeface="Segoe UI"/>
              </a:rPr>
              <a:t>• Спасибо! Вопросы — в приложении и в presentation/qa.md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reports/selfcheck/clean_clone_1941.md; reports/case_run/run_summary.json; README.md «Как пересчитать»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3:57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14 · Приложение · Как мы искали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Пайплайн поиска данных: 318 событий CSV → пар уровня A 0; ADIS — 66 пар по месту и времени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Уровни: A — снимок и полевое число связаны по времени, месту, площади и категории; B — подтверждённая разметка скопления; C — кандидат; D — отвергнутый или отрицательный пример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Детектор учим только на B + проверенных D; «снимок → шт./км²» — только на калибровочных парах; C меткой не становится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Пластик: снимка нет у 62 из 63 событий Саргассова моря, у S1 датчики не видят предметы; Северное море — облака 21, маршрут вне снимка 29; Чёрное море — C 8 (время и площадь трансект не опубликованы)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Стоп-правило: нет A за пилот — поиск по дрейфу не расширяем. Нашли ADIS (The Ocean Cleanup): 177 отрезков → A 66, C 3, D 108</a:t>
            </a:r>
          </a:p>
        </p:txBody>
      </p:sp>
      <p:pic>
        <p:nvPicPr>
          <p:cNvPr id="5" name="Picture 4" descr="05_fun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49240" cy="3209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901183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Воронка «событие → снимок → маски → синхронность»; каждая попытка — docs/SEARCH_LOG.md, хронология — docs/PIPELINE.md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docs/PIPELINE.md; docs/SEARCH_LOG.md; reports/search/*_candidates.csv (final_numbers → case.sections.search)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15 · Приложение · Пары по месту и времени (ADIS)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ADIS: 66 пар по месту и времени; на 6 отрезках с единичными предметами детектор их не увидел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Камера судна, счёт предметов по размерам, время GPS; |dt| ≤ 3 ч; ≈ 52 независимых проходов, время у 26 пар подтверждено самим судном на снимке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Детектор оценивается на 28 из 66 (на 38 — низкое солнце или слабый сигнал воды); из 6 отрезков с предметами (3.5–4.4 шт./км²) оценивается 3 — на всех 0 пикселей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Согласуется с физикой: доля покрытия ≈ 6.6·10⁻⁸, предмет — 0.7 % пикселя; но общий предел для всех скоплений это не задаёт — плотные полосы эти пары не проверяют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Ложные при полевом нуле (25 пар): ветер &lt; 7 м/с — 0 пикселей на 9.5 км²; сильнее — 1 на 8.8 км², 0.16 объекта/км² в зоне (барашки)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Три уровня: по месту и времени 66 · видимый сигнал 0 из 3 · калибровочных «снимок → шт./км²» 0 (нужно 4–12)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Независимая проверка: 6 наглядных пар по предметам &gt; 50 см (другая выборка, наши — &gt; 5 см); S2 в тот же день — у 12 из 36 маршрутов</a:t>
            </a:r>
          </a:p>
        </p:txBody>
      </p:sp>
      <p:pic>
        <p:nvPicPr>
          <p:cNvPr id="5" name="Picture 4" descr="08_independent_ad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49240" cy="26645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356230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Независимая проверка: пары ADIS ↔ S2 по предметам &gt; 50 см — маршрут судна (жёлтый), поиск с учётом дрейфа (голубой); предметы на снимке не различимы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reports/search/adis_candidates.csv, reports/search/adis.md (final_numbers → case.sections.adis_pairs, quantity.levels)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16 · Приложение · Новые размеченные данные B/D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Новые данные: B — 65 съёмок и 14374 нитей Cózar, D — 2094 судов и облака; с MARIDA совпадений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B: PLP 38 съёмок (мишени), FloatingObjects 27 съёмок (25 регионов), Cózar 2024 — 14374 окон на 4435 съёмках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D: суда у Финляндии — 2094 рамок, 18 съёмок; облака — 28 сцен; отклонено источников 13 (у каждого причина)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Утечки: с MARIDA — 0 совпадений по тайлу и дате у всех наборов; с MADOS по пикселям — PLP и FO (0 из 119); Cózar, суда, облака с MADOS не сверить — у MADOS нет геопривязки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Детектор без дообучения на L2A: нити Cózar 36 % (хотя бы один пиксель нити; ≥ 3 пикс. — 21 %, по пикселям 7 %), Refined 2.8 % пикселей; ложные на судах 25.9 %; облака — 4 пикс.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91640"/>
          <a:ext cx="53492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1176832"/>
              </a:tblGrid>
              <a:tr h="32918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Набор (уровень)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Детектор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Cózar, нити (B), из 234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PLP, пластик (B), % пикс.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0.9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Суда (D), ложные рамки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543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Облака (D), ложные пикс.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reports/extra_data/registry*.csv, fp_current_detector.json (final_numbers → case.sections.labeled_data)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17 · Приложение · Детектор v2 и бейзлайны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Дообучение на B + D: 13 вариантов с новыми данными + контрольный r0 — правило не прошёл ни один; U-Net MARIDA на test — F1 0.501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Правило принятия записано до экспериментов: ΔF1 val ≥ 0.01 и не хуже на B и D; 3 seed; test не читался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ΔF1 val от −0.057 до 0.002 — правило принятия (записано до экспериментов) не прошёл ни один из 13 вариантов с новыми данными (×3 seed) и контрольный r0 → остаётся weights/lgbm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U-Net MARIDA (официальные веса): LightGBM лучше на 0.370 [0.215; 0.481], в 13 из 15 сцен; на снимках пар U-Net — 253 объектов «соль-перец», в полосах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F1 Marine Debris, test MARIDA (15 сцен)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LightGBM (основной)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7480" y="2212848"/>
            <a:ext cx="1985530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06163" y="214884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0.871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RandomForest, протокол MARIDA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7480" y="2715768"/>
            <a:ext cx="1757570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8203" y="265176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0.771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U-Net MARIDA, веса авторов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7480" y="3218688"/>
            <a:ext cx="1142079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62711" y="315468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0.501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окно FDI × NDVI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7480" y="3721608"/>
            <a:ext cx="95743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6375" y="365760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0.042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reports/detector_v2/experiments.md, decision.json, unet_test.json; configs/detector_v2_eval.yaml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18 · Приложение · Количество: поле и снимок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Количество: пар по месту и времени 66, видимый сигнал 0, калибровочных пар 0 — шт./км² только по полю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Поле (измерение): C = N/A, интервал Пуассона; S2 ΣN/ΣA = 697 / 12.94 км² = 53.9 [49.9–58.0] шт./км²; на карте — медиана профиля (отложенный test)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Снимок: площадь маски и доля покрытия подозрительного материала (LWD, м²/км²); медиана на 64 живых сценах 3.2; это не мусор и не шт./км²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Калибровка ln C = ln k + b · ln S требует калибровочных пар (по месту и времени и с сигналом) — их 0; нужно 4–12 для k в ×/÷2, для связи r = 0.5 — 30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Штуки по снимку не показываем: перевод площади маски в штуки не показываем — нет калибровочных пар «снимок → шт./км²»; перевод «площадь / размер предмета» дал бы разброс в 3125 раз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Аналогия: пальмы на гектар по Sentinel-2 с опорой на подсчёт по снимкам высокого разрешения (arXiv 2105.11207): MAE ±7,3 пальмы/га. Для мусора — мусор дрейфует (часы между снимком и полем уже сдвигают поле), разнороден по размеру и материалу и занимает доли процента пикселя; поэтому калибровка по ячейкам требует независимой проверки — у нас она дала отрицательный результат: общих дат поле × спутник 0, климатологии ρ = 0.18 на 123 ячейках</a:t>
            </a:r>
          </a:p>
        </p:txBody>
      </p:sp>
      <p:pic>
        <p:nvPicPr>
          <p:cNvPr id="5" name="Picture 4" descr="10_units_l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49240" cy="1803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495326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Лестница единиц: предмет на кадре → шт./м² кадра → шт./км² маршрута → спутниковая зона; у каждой ступени своя метрика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docs/QUANTITY.md; reports/quantity/*.json (final_numbers → case.sections.quantity)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19 · Приложение · Нефтяное пятно — эксперимент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Нефть: на MADOS F1 0.733 против OSI 0.324, но разлив Wakashio не найден — слой выключен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Отдельная голова на MADOS, сплит по сценам заморожен до обучения; val F1 0.888, test один раз 0.733 [0.612; 0.947]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Контроль на реальном L2A: Wakashio 2020-08-11 — 0.17 км² мелких пятен (пятно в лагуне не найдено), 2020-08-16 — 62.41 км² ряби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Честный отказ: это не детектор нефти на L2A; слой «эксперимент», выключен по умолчанию; единица — площадь, не объём и не масса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49240" cy="155448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800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D9912E"/>
                </a:solidFill>
                <a:latin typeface="Segoe UI"/>
              </a:rPr>
              <a:t>выкл.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606040"/>
            <a:ext cx="480060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слой «Нефтяное пятно» — эксперимент; для нефти обычно нужен радар Sentinel-1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reports/oil/test.json, control.json; docs/OIL.md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20 · Приложение · Данные и отбор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Из 935 строк реестра в профиль S2 входят 63: у каждого отказа записана причина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Реестр: 935 строк, 56 полей, 318 событий из 4 источников (S1 181, S2 63, S3 41, S4 33)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Принято: S2 — 63, S1 — 83; категории не суммируем (пусто ≠ 0)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Поля-утечки (concentration_*, items_count, reported_* …) не бывают признаками: тесты портят их и проверяют, что прогноз не меняется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91640"/>
          <a:ext cx="534923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1176832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Причина отказа (профиль S2)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Строк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объектная строка — предмет, а не плотность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категория пластика, не суммарный пластик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321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суммарный пластик другого профиля (трал S1)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all_litter — весь мусор, не пластик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категория промыслового мусора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41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аэросъёмка S1 &gt; 50 см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итого отказов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872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src/macroplastic/case/selection.py; reports/case_splits/selection_*[_rejected].csv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21 · Приложение · Реестр пар и окно синхронизации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318 событий → 29 по метаданным → 12 по маскам → 0 синхронных с учётом дрейфа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Для пластика снимков нет: S1 и S2 — открытый океан 2015 г., Sentinel-2A снимает с конца июня 2015 (S1 — 0 сцен в ±5 сут, S2 — 1)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Дрейф: при типичных 0.2 м/с вода смещается на 23.4 км (медиана) — допуск 3 км держит только |dt| ≤ 4.2 ч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Маски в полосе: блик 10, облака 6 (у 4 флаг QA Landsat сомнителен), покрытие 1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Реестр: строка на каждое из 318 событий, этап отказа и все причины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События, у которых остаётся пара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все события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7480" y="2212848"/>
            <a:ext cx="2279599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232" y="214884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318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|dt| ≤ 1 сут, облачность ≤ 60 %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7480" y="2715768"/>
            <a:ext cx="207887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8520" y="265176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маски качества в полосе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7480" y="3218688"/>
            <a:ext cx="86022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6655" y="315468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дрейф ≤ допуска (0.2 м/с)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7480" y="3721608"/>
            <a:ext cx="36576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7208" y="365760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reports/case_pairs/summary.md, quality.md; data/case/run/registry_pairs.csv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22 · Приложение · Детектор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Детектор: F1 0.871 на test MARIDA; на снимках пар — 5 объектов, в полосах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LightGBM, порог 0.63 с val; test MARIDA посчитан один раз: ΔF1 к RF 0.100 [0.049; 0.150]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MARIDA test: на саргассуме и мутной воде ложных 0 (FDI × NDVI помечает 46 % саргассума); ошибки — суда 27 и органика 21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Снимки пар (L2A): гармонизация каналов выключена по MARIDA val — F1 0.923 без сдвига против 0.897 со сдвигом, Δ −0.025 [−0.072; −0.013]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Сейчас: 5 объектов на 22 сценах, в полосах 0; все на HE460 т.03 вне полосы: 4 пена/барашки, 1 вероятно судно (тип по правилам) — все ложные, скоплений нет (суда — известная слабость: 26 % судов)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Прежний режим (с гармонизацией) — основание отказа: 975 объектов, вероятное скопление по виду у 1.7 % [0.0; 5.0]; размечал ИИ-агент, один аннотатор, κ 0.77 — его же слепой повтор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5349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AC"/>
                </a:solidFill>
                <a:latin typeface="Segoe UI"/>
              </a:rPr>
              <a:t>F1 Marine Debris, test MARIDA (15 сцен)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LightGBM (основной)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7480" y="2212848"/>
            <a:ext cx="1985530" cy="274320"/>
          </a:xfrm>
          <a:prstGeom prst="rect">
            <a:avLst/>
          </a:prstGeom>
          <a:solidFill>
            <a:srgbClr val="D9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06163" y="214884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0.871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RandomForest, протокол MARIDA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7480" y="2715768"/>
            <a:ext cx="1757570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8203" y="265176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0.771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2155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окно FDI × NDVI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7480" y="3218688"/>
            <a:ext cx="95743" cy="274320"/>
          </a:xfrm>
          <a:prstGeom prst="rect">
            <a:avLst/>
          </a:prstGeom>
          <a:solidFill>
            <a:srgbClr val="5B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6375" y="3154680"/>
            <a:ext cx="8229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EEFF1"/>
                </a:solidFill>
                <a:latin typeface="Segoe UI"/>
              </a:rPr>
              <a:t>0.042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reports/case_detector/compare.md; reports/case_pairs/visual_review.md; docs/DECISIONS.md (final_numbers → case.detector_current)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23 · Приложение · Концентрация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EEFF1"/>
                </a:solidFill>
                <a:latin typeface="Segoe UI"/>
              </a:rPr>
              <a:t>C = N/A сошлась с опубликованной у 467 из 467 строк; на отложенном test модель не лучше медианы — на карте медиана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Контроль: 12 / 0.20 км² = 60.0 шт./км², 95 % ДИ Пуассона 31.0–104.8; C = N/A совпала с опубликованной у 467 из 467 строк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Сплит: 5 участков маршрута + буфер 1 сут; протокол и правило выбора записаны до CV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Dev CV S2: ridge_log 28.5 против медианы 44.2, ΔMAE [−31.6; −0.3] — слабый выигрыш (с Бонферрони [−38.7; 7.3])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Отложенный test (25.09.2026 19:15, один раз): S2 30.0 против 25.2 (основная модель не лучше медианы); S1 370.0 против 371.1 (разницы с медианой нет)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91640"/>
          <a:ext cx="5349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Отложенный test: модель / медиана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S2 · S1</a:t>
                      </a:r>
                    </a:p>
                  </a:txBody>
                  <a:tcPr marL="73152" marR="73152" marT="27432" marB="27432">
                    <a:solidFill>
                      <a:srgbClr val="5B637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n событий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14 · 19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MAE, шт./км²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30.0 / 25.2 · 370.0 / 371.1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RMSE, шт./км²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41.5 / 32.3 · 522.5 / 502.4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Покрытие 90 %-интервала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EEEFF1"/>
                          </a:solidFill>
                          <a:latin typeface="Segoe UI"/>
                        </a:rPr>
                        <a:t>71 / 93 % · 89 / 100 %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На карте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EEEFF1"/>
                          </a:solidFill>
                          <a:latin typeface="Segoe UI"/>
                        </a:rPr>
                        <a:t>медиана профиля</a:t>
                      </a:r>
                    </a:p>
                  </a:txBody>
                  <a:tcPr marL="73152" marR="73152" marT="27432" marB="27432">
                    <a:solidFill>
                      <a:srgbClr val="1B1E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reports/case_conc/dev_cv.json, final_test.json; configs/case_selection.yaml: final_test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24 · Приложение · Эксперимент «снимок vs all_litter»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Связь признаков снимка с полевой плотностью всего мусора не установлена: данных на это мало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11 пар S2 прошли маски, независимых групп «район × день» — 6; эталон — весь мусор, не пластик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FDI в полосе: ρ −0.75 [−1.00; −0.14], p Холма 0.12; та же полоса в случайной воде сцены — −0.52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Значит, связь на уровне сцены или дня, а не места; знак к тому же обратный ожидаемому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Мощность: при 6 группах видна только |ρ| ≥ 0.96; для ρ = 0.5 нужно ≈ 33 независимых пар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349240" cy="1554480"/>
          </a:xfrm>
          <a:prstGeom prst="rect">
            <a:avLst/>
          </a:prstGeom>
          <a:solidFill>
            <a:srgbClr val="1B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8006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D9912E"/>
                </a:solidFill>
                <a:latin typeface="Segoe U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606040"/>
            <a:ext cx="480060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EFF1"/>
                </a:solidFill>
                <a:latin typeface="Segoe UI"/>
              </a:rPr>
              <a:t>независимых синхронных пар нужно, чтобы увидеть ρ = 0.5 (есть 6 групп)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reports/case_pairs/experiment.md, experiment.json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25 · Приложение · Собственный вклад и ключевые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Наш вклад — решения, каждое проверено экспериментом или записано до результата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Реестр пар с допуском по дрейфу вместо «±1 сут»: 29 пар по метаданным → 0 синхронных; причины у каждого из 318 событий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Сплит по участкам маршрута + буфер: на «связных компонентах» kNN выигрывал −11.6 [−23.1; −0.9], на маршруте −4.2 [−12.0; 3.4] — утечка через соседей дня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Отложенный test один раз: правило «не лучше медианы → медиана» записано 25.09.2026 19:05, test открыт 25.09.2026 19:15 — на карте медиана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Отказ от гармонизации L2A по MARIDA val (F1 0.923 против 0.897), test не использовался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Геометрия трансект по первоисточникам PANGAEA: 104 события, 4 прерванные — двумя сегментами; окно синхронизации |dt| ≤ 4.17 ч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Один источник чисел: final_numbers.json → README, отчёт, дека, речь, ответы; тест сверяет (255 passed)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EEEFF1"/>
                </a:solidFill>
                <a:latin typeface="Segoe UI"/>
              </a:rPr>
              <a:t>• Готовое, не наше: разметка MARIDA и MADOS, протокол RandomForest MARIDA, индекс FDI, каталоги STAC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reports/case_pairs/summary.md; reports/case_conc/metrics.json; configs/case_selection.yaml; docs/DECISIONS.md; reports/case_geometry/summary.md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9912E"/>
                </a:solidFill>
                <a:latin typeface="Segoe UI"/>
              </a:rPr>
              <a:t>26 · Приложение · Дополнительные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EEFF1"/>
                </a:solidFill>
                <a:latin typeface="Segoe UI"/>
              </a:rPr>
              <a:t>«Подобрать снимок»: из правила дрейфа — инструмент планирования полевых работ под пролёт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5577840" cy="4572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Окно синхронизации |dt| ≤ 4.17 ч; наивное окно ±1 сут даёт 29 «пар», синхронных 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Чёрное море без времени трансект: 12 событий получают окно UTC, у 8 полоса чистая по маскам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Прогноз пролётов на архиве совпал с реальной съёмкой в 82 из 88 случаев (±5 мин)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EEFF1"/>
                </a:solidFill>
                <a:latin typeface="Segoe UI"/>
              </a:rPr>
              <a:t>• Геометрия трансект по PANGAEA: 104 события S2/S3, 108 сегментов; 4 прерванные трансекты — двумя сегментами</a:t>
            </a:r>
          </a:p>
        </p:txBody>
      </p:sp>
      <p:pic>
        <p:nvPicPr>
          <p:cNvPr id="5" name="Picture 4" descr="04_pairfinder_trans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726" y="1645920"/>
            <a:ext cx="4321386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715000"/>
            <a:ext cx="5349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1AC"/>
                </a:solidFill>
                <a:latin typeface="Segoe UI"/>
              </a:rPr>
              <a:t>Саргассово море, T18: прерванная трансекта (2 сегмента) и «Подбор снимка» — сцен в окне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Источник: docs/EXTRA_FEATURES.md; reports/case_pairfinder/evidence.md; reports/case_geometry/summary.md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6400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1AC"/>
                </a:solidFill>
                <a:latin typeface="Segoe UI"/>
              </a:rPr>
              <a:t>прил.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