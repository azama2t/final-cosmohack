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[0:00–0:21] Задача — сколько плавающего пластика в море, в штуках на квадратный километр. Пользователь — эколог: он видит находки на карте, открывает зону на снимке, сверяет с полем и выгружает результат. Целевая величина — это материал, размер и единица вместе; профили разных методов мы не смешиваем.</a:t>
            </a:r>
          </a:p>
          <a:p/>
          <a:p>
            <a:r>
              <a:t>Если спросят: Основной профиль — S2: суммарный пластик &gt; 2 см, визуальный учёт с судна, 63 события. S1 — трал 5–50 см, только полевая проверка. S3/S4 — весь мусор, не пластик. ADIS — камера судна, объекты детектора ADIS &gt; 10 см, камера судна (7 % — животное/растение по классу модели).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[0:21–0:43] Мы искали пары «снимок плюс полевой счёт». Из 318 событий CSV синхронных с учётом дрейфа — 0. В открытых данных ADIS нашли 66 пар по месту и времени, но предметы там меньше пикселя. Калибровочных пар — 0; у авторов крупнейшего набора полос, Cózar 2024, тоже только искусственные мишени.</a:t>
            </a:r>
          </a:p>
          <a:p/>
          <a:p>
            <a:r>
              <a:t>Если спросят: Цитата полностью: «The current matching of satellite detections and field observations is limited to fake targets (artificial LWs), and reports of dense LW sightings» — Cózar et al. 2024, Nat Commun, раздел «A new scenario for research and management» (PMC11178853), doi 10.1038/s41467-024-48674-7. На 6 синхронных отрезках ADIS с единичными предметами детектор предметы не увидел; это согласуется с физикой (доля покрытия ≈ 6.6·10⁻⁸), но не задаёт общий предел для всех скоплений.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[0:43–1:04] Поэтому решение — лестница единиц. На фото счётчик считает предметы. Если известна площадь кадра — это плотность. По маршруту судна — штуки на квадратный километр. Со спутника — место и площадь зоны. У каждой ступени своя проверка, и без калибровки мы между ними не прыгаем.</a:t>
            </a:r>
          </a:p>
          <a:p/>
          <a:p>
            <a:r>
              <a:t>Если спросят: Сквозной путь в сервисе: спутник находит зону → детальное фото над ней → счётчик → шт./км² кадра → сверка с полем.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[1:04–1:23] Первая ступень со спутника — детектор скоплений. Пиксельный LightGBM на test MARIDA даёт F1 0.871: RandomForest по протоколу авторов — 0.771, их U-Net — 0.501. Порог выбран на val, test посчитан один раз. Класс — любой плавающий мусор, не только пластик.</a:t>
            </a:r>
          </a:p>
          <a:p/>
          <a:p>
            <a:r>
              <a:t>Если спросят: Ошибки: из 75 ложных 64 % — суда и природная органика. Дообучение: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[1:23–1:45] Главная трудность — сложный фон. Если учить на естественных нитях, полнота растёт до 97 процентов, но пена и суда тоже становятся мусором. Добавим суда как отрицательные — теряются нити. Правило, записанное заранее, не прошёл ни один вариант, поэтому в сервисе прежний детектор, а суда мы отсеиваем фильтрами.</a:t>
            </a:r>
          </a:p>
          <a:p/>
          <a:p>
            <a:r>
              <a:t>Если спросят: Нить — хотя бы один пиксель детектора на окне нити каталога Cózar 2024; суда — рамки судов (D); пена — окна пены. Test MARIDA при подборе не читался.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[1:45–2:06] Главный количественный результат — по полю: C равно N на A. Для пластика S2 — 53.9 штуки на квадратный километр, 95 процентов по дням рейса — от 39.7 до 70.4. На отложенном test модели не лучше медианы — 30.0 против 25.2, поэтому на карте медиана.</a:t>
            </a:r>
          </a:p>
          <a:p/>
          <a:p>
            <a:r>
              <a:t>Если спросят: Интервал Пуассона [49.9–58.0] — только ошибка счёта; разброс между днями (sd ln C ≈ 0.46) он не учитывает. Одно новое место: 10.2–157.0 шт./км². ADIS: модели по регионам не лучше медианы (ни один кандидат (B1, M1, M2) не прошёл правило на val в обеих схемах → медиана профиля остаётся). Калибровка авторов ADIS — de Vries et al. 2026, Environ. Res. Commun., doi 10.1088/2515-7620/ae8152, типичный интервал отрезка 1.1–18.7; наше число без поправки не заменяем.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[2:06–2:24] Штуки видно только на детальном фото. Счётчик предметов ошибается на 0.59 предмета на кадр на отложенных сессиях съёмки, медиана без модели — 2.86. Если площадь кадра известна, как у аэросъёмки, получаем штуки на квадратный километр. Состав по материалам не выдаём.</a:t>
            </a:r>
          </a:p>
          <a:p/>
          <a:p>
            <a:r>
              <a:t>Если спросят: FML (камера у воды, FML — CC BY (SEANOE doi:10.17882/106148)): mAP@0,5 0.914, точное число у 64 % кадров. Аэро: Winans 2023 (аэро, берег/мелководье), GSD 0.02 м, 397 отложенных кадров, ошибка числа 1.85 шт./кадр (Winans 2023 — CC BY (Zenodo 8381113)). Это отдельный модуль, не спутник.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[2:24–2:44] Теперь спутник на сцене, которую модель не видела. На отложенной сцене 30SXE 14 из 23 зон совпали с нитями, найденными людьми. У зоны — площадь, доля покрытия и статус; суда, пена, блик и сильный ветер — «недостаточно данных». Штук по снимку не выдаём.</a:t>
            </a:r>
          </a:p>
          <a:p/>
          <a:p>
            <a:r>
              <a:t>Если спросят: Сцена S2B_30SXE_20210311_0_L2A: в MARIDA того же тайла нет, MADOS по содержимому — no match; ветер 2.5 м/с. Пример зоны SZ-demo-cozar-2021-03-11-016: 4.18 км², вероятность 0.87, модель sha256 0eeebf43fccc.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[2:44–3:04] Сервис. При открытии — Земля с реальными находками обработанных сцен. Клик по точке — сцена и карточка зоны: что найдено, когда, площадь, уверенность и откуда каждое число. Из карточки — в студию, кнопкой «Назад» — к той же точке обзора и к следующей находке.</a:t>
            </a:r>
          </a:p>
          <a:p/>
          <a:p>
            <a:r>
              <a:t>Если спросят: Показ вживую — docs/DEMO.md. Полевые шт./км² другого места не выдаются за плотность зоны: «не определено по этому снимку».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[3:04–3:21] Режим «Фото» открывается с готовым примером: рамки и число предметов, а при известной площади кадра — штуки на квадратный километр. У каждого числа подписан источник. Выгрузка GeoJSON и CSV совпадает с картой, запрос можно сохранить и повторить.</a:t>
            </a:r>
          </a:p>
          <a:p/>
          <a:p>
            <a:r>
              <a:t>Если спросят: Выгрузка сверяется тестом: UI 23, CSV 23, GeoJSON 23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[3:21–3:43] Что мы не утверждаем. Штук по снимку — нет, калибровочных пар ноль. Пластик по снимку — нет, детектор видит любой мусор и путает суда. Предел обнаружения не доказан. При сильном ветре — «недостаточно данных». Поле — один рейс, а счётчик по фото без дообучения на реку не переносится.</a:t>
            </a:r>
          </a:p>
          <a:p/>
          <a:p>
            <a:r>
              <a:t>Если спросят: Test концентрации не абсолютно нетронутый: ранняя разведка бейзлайнов (baseline_concentration.py, run_all шаг 4: median/mean/kNN) видела все события профиля, включая будущий test; test не абсолютно нетронутый — указывается как ограничение. Порог ветра — 5 м/с из Methods Cózar 2024, не подбирался.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[3:43–3:57] Развитие — замкнуть лестницу. Спутник находит зону, над ней делается детальный снимок с дрона, счётчик даёт штуки на квадратный километр, их сверяем с полем. Для калибровки хватит 4–12 таких пар.</a:t>
            </a:r>
          </a:p>
          <a:p/>
          <a:p>
            <a:r>
              <a:t>Если спросят: Проверено: доступа к VHR над положительными отрезками ADIS в тот же день нет; поэтому это следующий шаг, а не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[3:57–4:10] Всё воспроизводится одной командой без сети за 11.5 секунды, чистый клон до карты — 7,5 минуты, числа в README, отчёте и этой презентации сверяет тест. Спасибо, готовы к вопросам.</a:t>
            </a:r>
          </a:p>
          <a:p/>
          <a:p>
            <a:r>
              <a:t>Если спросят: Тесты кейса (26.09.2026 09:46): 255 passed. Приложение — подробные слайды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Пар по месту и времени — 66, но это не калибровочные пары: на 6 отрезках с предметами детектор их не увидел, предмет меньше процента пикселя. Калибровочных пар «снимок — штуки» 0: мы проверили 318 событий CSV и 177 синхронных отрезков ADIS. У авторов крупнейшего набора полос тоже: «The current matching of satellite detections and field observations is limited to fake targets» (Cózar и др., 2024, doi 10.1038/s41467-024-48674-7).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Наш вклад — решения, которые защищают выводы от самообмана. Допуск по дрейфу в реестре пар, сплит по участкам маршрута,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Задача и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Сколько плавающего пластика в море: шт./км² — по полю, место скопления — по снимку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шт./км²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целевая единица: материал + размерный класс + единица — профили не смешиваем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31546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Пользователь — эколог по мониторингу: карта находок → зона на снимке → полевое число рядом → выгрузка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Детектор (класс Marine Debris MARIDA) видит любой плавающий мусор, не только пластик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92040" y="1600200"/>
          <a:ext cx="6857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60"/>
                <a:gridCol w="12344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Профиль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Что считаем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Событий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 Саргассово,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&gt; 2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 GPGP, трал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5–50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S3 / S4,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весь мусор &gt; 2 см / &gt; 2.5 см — не пластик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41 · 33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ADIS, камера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плавающие предметы &gt; 10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20836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92040" y="5029200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основная целевая величина — суммарный пластик S2, шт./км²; весь мусор S3/S4 — только для экспериментов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reports/quantity/*.json (final_numbers → case.sections.quantity.profiles)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Данные и воронка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318 событий CSV → 0 синхронных пар; калибровочных пар «снимок → шт./км²» —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9912E"/>
                </a:solidFill>
                <a:latin typeface="Segoe UI"/>
              </a:rPr>
              <a:t>318 → 29 → 12 →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события CSV → по дате и облакам → по маскам качества → синхронно с учётом дрейфа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108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92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пар по месту и времени ADIS (камера судна); видимый сигнал — 0 из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2148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7984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пар; для коэффициента в ×/÷2 нужно 4–12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4160520" cy="6857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Cózar и др., 2024: «The current matching of satellite detections and field observations is limited to fake targets»</a:t>
            </a:r>
          </a:p>
        </p:txBody>
      </p:sp>
      <p:pic>
        <p:nvPicPr>
          <p:cNvPr id="11" name="Picture 10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39" y="1600200"/>
            <a:ext cx="655320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для пластика снимков в окне нет, а где снимок и счёт совпали — предметы меньше пикселя; калибровать не на чем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docs/img/funnel.png; reports/search/*.md; reports/case_pairs/summary.md (final_numbers → case.pairs, case.sections.search)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Решение: лестница единиц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Решение — лестница единиц: предмет на фото → плотность на кадре → шт./км² маршрута → зона на снимке</a:t>
            </a:r>
          </a:p>
        </p:txBody>
      </p:sp>
      <p:pic>
        <p:nvPicPr>
          <p:cNvPr id="4" name="Picture 3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11247120" cy="3792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38286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каждой ступени своя проверка и своя метрика; между ступенями без калибровки не переходим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docs/img/units_ladder.png (final_numbers → case.sections.photo_count, quantity, scene_zones)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Детектор скоплений по Sentinel-2: F1 0.871 на test MARIDA — лучше RandomForest, U-Net авторов и индексов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0.871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F1 на test MARIDA [0.823; 0.920], 15 сцен, test один раз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+0.100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 RandomForest по протоколу MARIDA [0.049; 0.150]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Дообучение на новых B/D: 13 вариантов — правило, записанное заранее, не прошёл ни один; остаётся weights/lgbm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600200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05740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(наш)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121408"/>
            <a:ext cx="274772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93278" y="20574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6032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624327"/>
            <a:ext cx="2432258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10" y="256032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06323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127247"/>
            <a:ext cx="1580494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26046" y="306323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56615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630167"/>
            <a:ext cx="132496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8048" y="356615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114799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Вывод: на том же test пиксельный LightGBM лучше всех бейзлайнов; пороги индексов с val не переносятся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reports/case_detector/compare.md, metrics.json; reports/detector_v2/unet_test.json, decision.json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Сложный фон: нити, пена и суда спектрально близки — выигрыш на одном ломает другое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97 %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полнота на нитях Cózar, если учить на естественных скоплениях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50/50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ложных на пене у того же варианта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60020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В сервисе: weights/lgbm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суда как отрицательные D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92040" y="374903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правило принятия не прошёл ни один вариант — оставили прежний детектор и назвали его слабость (суда)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decision.json; configs/detector_v2_eval.yaml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Концентрация по полю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Главный количественный результат: 53.9 шт./км² [39.7–70.4] — пластик S2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суммарный пластик &gt; 2 см: 697 шт. / 12.94 км²; 95 % по дням рейса [39.7–70.4]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1.54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ADIS, предметы &gt; 10 см [1.52–1.56]; калибровка авторов по тралу — 4.64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карте — медиана профиля 37.0 шт./км² (типичное событие); 53.9 — ΣN/ΣA всех событий; ошибка медианы на отложенном test — MAE 25.2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92040" y="1600200"/>
          <a:ext cx="6858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1714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Медиана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MAE (14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25.2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S1, MAE (19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371.1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покрытие 90 %-интервала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71 %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93 %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92040" y="402335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модели не лучше медианы на отложенном test → на карте медиана профиля с честным интервалом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reports/case_conc/final_test.json; reports/quantity/field_intervals.md, adis_forecast.md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Счётчик предметов по фото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фото: ошибка 0.59 шт./кадр на отложенных сессиях; при известной площади — шт./км²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шт./кадр — ошибка числа, 1190 фото FML [0.54; 0.66]; медиана без модели — 2.86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11320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ошибка плотности на кадре 164 м² (аэро, берег); медиана — 27930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Состав: один класс «мусор» — по материалам не делим («состав не определён»)</a:t>
            </a:r>
          </a:p>
        </p:txBody>
      </p:sp>
      <p:pic>
        <p:nvPicPr>
          <p:cNvPr id="9" name="Picture 8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76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9265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штуки считаем там, где предмет виден — на фото; шт./км² — только при известной площади кадра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reports/photo_count/eval_grouped.json, area_winans.json; docs/PHOTO_COUNT.md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Спутниковые зоны на отложенной сцене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Отложенная сцена 30SXE (11.03.2021): 14 из 23 зон совпали с нитями Cózar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14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зон детектора совпали с разметкой Cózar (уровень B); сцена не участвовала в обучении и подборе порога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находок детектора на 75 сценах: 14 совпали с Cózar, 64 требуют проверки; ещё 180 — недостаточно данных или ложные, 28 — не обнаружено</a:t>
            </a:r>
          </a:p>
        </p:txBody>
      </p:sp>
      <p:pic>
        <p:nvPicPr>
          <p:cNvPr id="8" name="Picture 7" descr="26_sz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1600200"/>
            <a:ext cx="57668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снимок даёт место, площадь и статус зоны; шт./км² — «концентрация по снимку не подтверждена»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reports/case_demo/heldout_check.json, demo_path.json (final_numbers → case.sections.scene_zones)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Сервис: путь эколога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Сервис: Земля с находками → точка → сцена и карточка зоны → студия → назад к следующей точке</a:t>
            </a:r>
          </a:p>
        </p:txBody>
      </p:sp>
      <p:pic>
        <p:nvPicPr>
          <p:cNvPr id="4" name="Picture 3" descr="21_svc_ea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566160" cy="2431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104824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1. Обзор Земли: находки обработанных сцен сразу, без формы</a:t>
            </a:r>
          </a:p>
        </p:txBody>
      </p:sp>
      <p:pic>
        <p:nvPicPr>
          <p:cNvPr id="6" name="Picture 5" descr="22_svc_c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600200"/>
            <a:ext cx="3566160" cy="20059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3679316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2. Точка → сцена и карточка: что найдено, когда, площадь, уверенность</a:t>
            </a:r>
          </a:p>
        </p:txBody>
      </p:sp>
      <p:pic>
        <p:nvPicPr>
          <p:cNvPr id="8" name="Picture 7" descr="25_svc_studi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00200"/>
            <a:ext cx="3566160" cy="2431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4104824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3. «В студию» — работа с зоной; «Назад к карте» — к той же точке обзора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путь эколога — Земля → точка → карточка → студия → назад к следующей находке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presentation/img/*.png (presentation/make_shots.py, http://localhost:8070, 1920×1080, без фикстур); docs/DEMO.md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Сервис: фото и выгрузка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 и выгрузка: зоны отложенной сцены на карте = CSV = GeoJSON (23 = 23 = 23)</a:t>
            </a:r>
          </a:p>
        </p:txBody>
      </p:sp>
      <p:pic>
        <p:nvPicPr>
          <p:cNvPr id="4" name="Picture 3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486400" cy="30861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59452"/>
            <a:ext cx="5486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«Фото»: рамки и число предметов, площадь кадра → шт./км²; состав не определён</a:t>
            </a:r>
          </a:p>
        </p:txBody>
      </p:sp>
      <p:pic>
        <p:nvPicPr>
          <p:cNvPr id="6" name="Picture 5" descr="24_svc_ex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00200"/>
            <a:ext cx="548640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759452"/>
            <a:ext cx="5486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Выгрузка GeoJSON/CSV того, что на карте; запросы сохраняются и повторяются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каждого числа подписан источник — поле, фото, снимок или «нет данных»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presentation/img/*.png (presentation/make_shots.py, http://localhost:8070, 1920×1080); docs/CONTRACTS_V3.md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Ограничения: что мы НЕ утверждаем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Что мы НЕ утверждаем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шт./км² по снимку — не выдаём: калибровочных пар 0; «концентрация по снимку не подтверждена»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«Пластик» по снимку — нет: детектор видит любой плавающий мусор; суда — известная слабость (26 % судов)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Предел обнаружения не доказан: на 6 отрезках ADIS с единичными предметами детектор их не увидел — согласуется с физикой, но общий предел для всех скоплений не задаёт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Сильный ветер: «не обнаружено» → «недостаточно данных» (правило Cózar 2024)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Поле: S2 — один рейс; интервал одного нового места широкий (10–157 шт./км²)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Счётчик по фото на реку и спутник без дообучения не переносится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«Ограничения»; reports/report.md; docs/QUANTITY.md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Развитие: спутник находит зону → детальный снимок над ней → счёт предметов → шт./км² → сверка с полем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калибровочных пар «снимок → шт./км²» хватит для коэффициента в ×/÷2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пар — чтобы увидеть связь r = 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Трансекты и пролёты дронов под пролёт Sentinel-2, время записано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Детальные снимки (дрон, VHR) над найденными зонами → счётчик → шт./км² кадра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Дообучить счётчик на реке и дронах; классы материалов — с матрицей ошибок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Больше рейсов и сезонов для поля; дрейф по течениям и ветру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docs/research/marine_quantity/DECISION.md; reports/quantity/calibration.json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Воспроизводимость, команда,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Одна команда без сети — 11.5 с; чистый клон до карты — 7,5 мин; числа из одного файла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11.5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run.ps1 -Case all -Offline, CPU, без сети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от git clone до карты на экране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255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тесты кейса; skipped 2, failed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Репозиторий: github.com/azama2t/final-cosmohack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Все числа — reports/final_numbers.json; отпечаток прогона 3db680b6661e86d3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Спасибо! Вопросы — в приложении и в presentation/qa.md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reports/case_run/run_summary.json; README.md «Как пересчитать»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Приложение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pic>
        <p:nvPicPr>
          <p:cNvPr id="5" name="Picture 4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80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95326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Лестница единиц: предмет на кадре → шт./м² кадра → шт./км² маршрута → спутниковая зона; у каждой ступени своя 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21 · Приложение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22 · Приложение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23 · Приложение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24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25 · Приложение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(255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26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