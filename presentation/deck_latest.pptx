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Мусор в море виден из космоса полосами. Мы находим их и честно считаем штуки там, где их можно измерить. Мы команда SAMARKAND. По снимкам Sentinel-2 мы находим скопления плавающего мусора, оцениваем, сколько там предметов, и показываем экологу, чему можно верить.</a:t>
            </a:r>
          </a:p>
          <a:p/>
          <a:p>
            <a:r>
              <a:t>[0:00–0:18]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команда — Матвей, Егор, Марк, Фёдор и Глеб.</a:t>
            </a:r>
          </a:p>
          <a:p/>
          <a:p>
            <a:r>
              <a:t>[0:18–0:26]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Спутник видит пиксель 10 м, а предмет — 2.5–50 см: прямого счёта штук по снимку не существует. Предмет — бутылка или обрывок сети — в сотни раз меньше пикселя и почти не меняет его спектр. Чтобы считать штуки по снимку, нужны пары «снимок — полевой счёт» в одно время и в одном месте. Из 318 событий CSV организаторов синхронных пар ноль; в данных ADIS мы нашли 66 пар по месту и времени, но видимого сигнала нет ни в одной. Это физика, а не недоработка поиска.</a:t>
            </a:r>
          </a:p>
          <a:p/>
          <a:p>
            <a:r>
              <a:t>[0:26–1:05]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ступени: спутник находит зоны, поле даёт шт./км², детальное фото считает предметы. Детектор на Sentinel-2 отвечает, где и когда есть полоса мусора: F1 0.871 на отложенном тесте. Полевой счёт даёт 53.9 штуки на квадратный километр — это независимая оценка количества. Детальное фото считает предметы с ошибкой 0.59 штуки на кадр. Мост между ступенями возможен только через пары, поэтому площадь полосы в штуки мы не переводим.</a:t>
            </a:r>
          </a:p>
          <a:p/>
          <a:p>
            <a:r>
              <a:t>[1:05–1:35]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LightGBM на спектрах бьёт U-Net и индекс FDI на отложенном тесте MARIDA. На сценах, которых модель не видела, бустинг даёт F1 0.871, U-Net — 0.501, индекс FDI — 0.042. Полосы узкие, разметки мало — признаки пикселя работают лучше свёрток. Класс MARIDA — любой плавающий мусор, поэтому мы пишем «плавающий материал», а не «пластик».</a:t>
            </a:r>
          </a:p>
          <a:p/>
          <a:p>
            <a:r>
              <a:t>[1:35–1:59]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отложенной сцене 14 находок совпали с полосами, проверенными людьми (Cózar 2024). Сцена 30SXE не входила в обучение; 14 из 23 зон совпали с ручной разметкой нитей. Всего из 286 обработанных зон мы оставили 77 находок: суда, пена, блик, облака и сильный ветер отфильтрованы. Статус «подтверждено» ставит только человек.</a:t>
            </a:r>
          </a:p>
          <a:p/>
          <a:p>
            <a:r>
              <a:t>[1:59–2:22]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отличаем мусор от судов, пены, бликов, облаков и берега. Здесь пять примеров прямо из сервиса: верное обнаружение, пропуск, судно, пена и снимок, где анализ невозможен. На тесте 64 процентов ложных пикселей — суда и органика, поэтому после детектора стоят фильтры, а плохой снимок получает «анализ невозможен», а не «чисто».</a:t>
            </a:r>
          </a:p>
          <a:p/>
          <a:p>
            <a:r>
              <a:t>[2:22–2:45]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полевым данным 53.9 шт./км² [39.7–70.4]; на отложенном тесте простая медиана лучше модели — показываем её. Число предметов на полосе делим на её площадь; интервал — бутстреп по дням рейса. У модели ошибка 30.0, у медианы 25.2; правило было записано заранее. Это и есть независимая оценка количества по полевым данным.</a:t>
            </a:r>
          </a:p>
          <a:p/>
          <a:p>
            <a:r>
              <a:t>[2:45–3:08]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детальном фото модель считает предметы с ошибкой 0.59 шт. на кадр и определяет материал. Это фото с воды или дрона, где предмет виден целиком. На отложенных сессиях FML ошибка 0.59 предмета на кадр, у бейзлайна 2.86; на аэрофото Winans мы лучше открытого DebrisScan.</a:t>
            </a:r>
          </a:p>
          <a:p/>
          <a:p>
            <a:r>
              <a:t>[3:08–3:28]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Эколог за пять шагов видит, что найдено, где, когда и насколько этому верить. Кнопка «Демо» проводит по шагам: район и даты, снимок с нумерованными зонами, карточка зоны, качество и статус, выгрузка. Первая строка карточки — что это: плавающий материал, пластик не подтверждён. Дальше статус, подтверждение независимой разметкой и прямо: количество предметов по этому снимку не определено; рядом — оценка по полю. Всё отфильтрованное выгружается в GeoJSON и CSV. Показываем это вживую в сервисе, кнопка «Демо», около полутора минут.</a:t>
            </a:r>
          </a:p>
          <a:p/>
          <a:p>
            <a:r>
              <a:t>[3:28–5:34]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ещё умеет карта: наша модель на новых снимках, дроны, дрейф и PRIME — у каждого слоя подписан источник. Это просьба жюри на чекпоинте. Реальное время — это наша модель на реальных снимках Sentinel-2: за 180 дней обработано моделью 202 из 1077 найденных снимков, с находками 10. NASA — только контекст. «Дроны» — детальные кадры с разметкой авторов, отдельно наш счётчик; карточка пишет «дрон, не спутник». «Дрейф» у находки: до 72 часов, течения и ветер на дату сцены, расчёт у 33 из 77. PRIME — демо-режим по просьбе жюри: как сервис выглядел бы на детальных снимках, не результат модели. На таймлайне у каждого источника своя дорожка.</a:t>
            </a:r>
          </a:p>
          <a:p/>
          <a:p>
            <a:r>
              <a:t>[5:34–6:23]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числа: F1 0.871 у детектора, 53.9 штуки на квадратный километр по полю и все проверенные гипотезы записаны до сравнения. Спасибо, готовы к вопросам.</a:t>
            </a:r>
          </a:p>
          <a:p/>
          <a:p>
            <a:r>
              <a:t>[6:23–6:34]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141732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Мусор в море виден из космоса полосами. Мы находим их и честно считаем штуки там, где их можно измерить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406908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4E6EA"/>
                </a:solidFill>
                <a:latin typeface="Segoe UI"/>
              </a:rPr>
              <a:t>Команда SAMARKAND · РТУ МИРЭА · КосмоХакатон · кейс «Морской мусор»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" y="585216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0D4DA"/>
                </a:solidFill>
                <a:latin typeface="Segoe UI"/>
              </a:rPr>
              <a:t>Кашин Г., Закон М., Панин М., Ожигов Е., Ведерников 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E2836"/>
                </a:solidFill>
                <a:latin typeface="Segoe UI"/>
              </a:rPr>
              <a:t>Наша команда</a:t>
            </a:r>
          </a:p>
        </p:txBody>
      </p:sp>
      <p:pic>
        <p:nvPicPr>
          <p:cNvPr id="3" name="Picture 2" descr="team_r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028"/>
            <a:ext cx="11247120" cy="359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" y="580644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Кашин Г. · Закон М. · Панин М. · Ожигов Е. · Ведерников 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Спутник видит пиксель 10 м, а предмет — 2.5–50 см: прямого счёта штук по снимку не существует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318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событий в полевом CSV организаторов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предметов считаемы поштучно при пикселе 10 м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139" y="1737360"/>
            <a:ext cx="6019800" cy="361188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Воронка по событиям CSV: 318 → снимок рядом по времени → отбор по метаданным 29 → маски качества 12 → синхронны при дрейфе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Независимо: ADIS 21 444 отрезков → 66 пар по месту и времени → видимый сигнал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Поэтому считаем штуки там, где их можно измерить, — в поле и на детальном фото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Три ступени: спутник находит зоны, поле даёт шт./км², детальное фото считает предметы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35280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7556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детектор зон на снимке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634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377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 по полевому счёту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346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089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— ошибка счётчика по 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Спутник Sentinel-2: где и когда есть полоса мусора (оценка детектора, не вероятность)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Поле: предметы, посчитанные с судна, делённые на обследованную площадь (C = N / A)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Детальное фото с воды или дрона: число предметов на кадре и материал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Каждая ступень проверена на своём отложенном тесте; переход между ступенями без пар не заявляем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LightGBM на спектрах бьёт U-Net и индекс FDI на отложенном тесте MARIDA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2984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95 % ДИ [0.823; 0.920]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1063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LightGBM (наш)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938985"/>
            <a:ext cx="3383279" cy="396849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191063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0.871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1929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Random Forest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647645"/>
            <a:ext cx="29948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8603" y="261929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0.771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32795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U-Net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356305"/>
            <a:ext cx="1946065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9825" y="332795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0.501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3661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Индекс FDI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064965"/>
            <a:ext cx="1631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6903" y="403661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Отложенный тест: 15 сцен, пиксели класса «мусор» по разметке MARIDA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Лучше U-Net на 13 из 15 сцен; порог выбран только на val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Класс MARIDA Marine Debris — любой плавающий мусор, не только пластик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отложенной сцене 14 находок совпали с полосами, проверенными людьми (Cózar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23 зон сцены 30SXE совпали с разметкой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находок из 286 обработанных зон</a:t>
            </a:r>
          </a:p>
        </p:txBody>
      </p:sp>
      <p:pic>
        <p:nvPicPr>
          <p:cNvPr id="7" name="Picture 6" descr="scene_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343" y="1737360"/>
            <a:ext cx="4413392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897880"/>
            <a:ext cx="5394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Сцена 30SXE, 11.03.2021: не из обучения MARIDA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Зоны с судами и кильватером, пеной, бликом, облаками отфильтрованы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Ветер ≥ 5 м/с — «недостаточно данных» (правило Cózar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Мы отличаем мусор от судов, пены, бликов, облаков и берега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ложных пикселей на отложенном тесте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них — суда и органика</a:t>
            </a:r>
          </a:p>
        </p:txBody>
      </p:sp>
      <p:pic>
        <p:nvPicPr>
          <p:cNvPr id="7" name="Picture 6" descr="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137" y="1737360"/>
            <a:ext cx="5103805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897880"/>
            <a:ext cx="5394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Пять примеров из сервиса («Проверка качества»): верно · пропуск · судно · пена · «анализ невозможен»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По полевым данным 53.9 шт./км² [39.7–70.4]; на отложенном тесте простая медиана лучше модели — показываем её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2608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шт./км², 95 % [39.7–70.4] бутстреп по дням рейса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83080"/>
            <a:ext cx="6492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MAE на отложенном рейсе, шт./км² (меньше — лучше)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385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Медиана (показываем)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2370582"/>
            <a:ext cx="2841955" cy="448056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65715" y="23385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25.2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386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Модель 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3170682"/>
            <a:ext cx="3383279" cy="448056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31386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30.0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C = N / A: 697 предметов на 12.94 км² полосы обследования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Это полевое измерение, не снимок; в карточке зоны — «ближайшее полевое измерение»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детальном фото модель считает предметы с ошибкой 0.59 шт. на кадр и определяет материал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шт./кадр — ошибка на FML (медиана-бейзлайн 2.86)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 на 164 м² кадра берега — Winans; DebrisScan 2.29</a:t>
            </a:r>
          </a:p>
        </p:txBody>
      </p:sp>
      <p:pic>
        <p:nvPicPr>
          <p:cNvPr id="7" name="Picture 6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897880"/>
            <a:ext cx="5394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FML: 1 190 кадров, разбиение по сессиям съёмки; AP50 0.914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Фото с воды или дрона, не спутник; шт./км² — только где известна площадь кадра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Эколог за пять шагов видит, что найдено, где, когда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статуса зоны по постановке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571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C1400B"/>
                </a:solidFill>
                <a:latin typeface="Segoe UI"/>
              </a:rPr>
              <a:t>GeoJSON ·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11480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выгрузка того, что отфильтровано</a:t>
            </a:r>
          </a:p>
        </p:txBody>
      </p:sp>
      <p:pic>
        <p:nvPicPr>
          <p:cNvPr id="7" name="Picture 6" descr="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897880"/>
            <a:ext cx="5394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«Демо ▶»: Район и даты → Снимок → Зона → Качество и статус → Выгрузка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Карточка: «Что это» · статус · подтверждение · «Количество предметов по этому снимку не определено»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Что ещё умеет карта: наша модель на новых снимках, дроны, дрейф и PRIME — у каждого слоя подписан источник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627632"/>
            <a:ext cx="25694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1400B"/>
                </a:solidFill>
                <a:latin typeface="Segoe UI"/>
              </a:rPr>
              <a:t>Реальное время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956816"/>
            <a:ext cx="25694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A5462"/>
                </a:solidFill>
                <a:latin typeface="Segoe UI"/>
              </a:rPr>
              <a:t>наша модель, автоматически</a:t>
            </a:r>
          </a:p>
        </p:txBody>
      </p:sp>
      <p:pic>
        <p:nvPicPr>
          <p:cNvPr id="5" name="Picture 4" descr="s54_realti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2286000"/>
            <a:ext cx="2340864" cy="14630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9224" y="3840480"/>
            <a:ext cx="2569464" cy="1463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836"/>
                </a:solidFill>
                <a:latin typeface="Segoe UI"/>
              </a:rPr>
              <a:t>За 180 дней обработано моделью 202 из 1077 найденных снимков, с находками 10. Те же фильтры; не проверено человеком. NASA 250–375 м — только контекст, модель на нём не запускаем.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9856" y="1627632"/>
            <a:ext cx="25694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1400B"/>
                </a:solidFill>
                <a:latin typeface="Segoe UI"/>
              </a:rPr>
              <a:t>Дроны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1956816"/>
            <a:ext cx="25694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A5462"/>
                </a:solidFill>
                <a:latin typeface="Segoe UI"/>
              </a:rPr>
              <a:t>дрон, не спутник</a:t>
            </a:r>
          </a:p>
        </p:txBody>
      </p:sp>
      <p:pic>
        <p:nvPicPr>
          <p:cNvPr id="9" name="Picture 8" descr="s54_dr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4156" y="2286000"/>
            <a:ext cx="2340864" cy="14630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419856" y="3840480"/>
            <a:ext cx="2569464" cy="1463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836"/>
                </a:solidFill>
                <a:latin typeface="Segoe UI"/>
              </a:rPr>
              <a:t>Детальные кадры открытых наборов — 6 наборов, 81 кадр (4 — дрон, остальные — самолёт и судно): рамки и классы авторов. Шт./м² — только при известной площади кадра. Наш счётчик: 274 из 444 размеченных, ложных 257 — вне обучения ошибается.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0488" y="1627632"/>
            <a:ext cx="25694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1400B"/>
                </a:solidFill>
                <a:latin typeface="Segoe UI"/>
              </a:rPr>
              <a:t>Дрейф 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1956816"/>
            <a:ext cx="25694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A5462"/>
                </a:solidFill>
                <a:latin typeface="Segoe UI"/>
              </a:rPr>
              <a:t>HYCOM + GFS на дату сцены</a:t>
            </a:r>
          </a:p>
        </p:txBody>
      </p:sp>
      <p:pic>
        <p:nvPicPr>
          <p:cNvPr id="13" name="Picture 12" descr="s54_drift_ma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788" y="2286000"/>
            <a:ext cx="2340864" cy="14630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190488" y="3840480"/>
            <a:ext cx="2569464" cy="1463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836"/>
                </a:solidFill>
                <a:latin typeface="Segoe UI"/>
              </a:rPr>
              <a:t>Кнопка у находки на карте: до 72 ч, облако частиц с вероятностью. Расчёт есть у 33 из 77 находок, у остальных — «нет расчёта» с причиной. Прогноз модели, не наблюдение.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27632"/>
            <a:ext cx="25694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1400B"/>
                </a:solidFill>
                <a:latin typeface="Segoe UI"/>
              </a:rPr>
              <a:t>PRIME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56816"/>
            <a:ext cx="25694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A5462"/>
                </a:solidFill>
                <a:latin typeface="Segoe UI"/>
              </a:rPr>
              <a:t>демо-данные, не результат модели</a:t>
            </a:r>
          </a:p>
        </p:txBody>
      </p:sp>
      <p:pic>
        <p:nvPicPr>
          <p:cNvPr id="17" name="Picture 16" descr="s54_pri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5420" y="2286000"/>
            <a:ext cx="2340864" cy="14630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8961120" y="3840480"/>
            <a:ext cx="2569464" cy="1463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836"/>
                </a:solidFill>
                <a:latin typeface="Segoe UI"/>
              </a:rPr>
              <a:t>Как сервис будет выглядеть на детальных снимках — по просьбе жюри. В точках событий CSV организаторов — демо-снимки из реальной воды и вырезок предметов с дронов, числа из строк CSV. Выключен — ни одного демо-объекта.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836"/>
                </a:solidFill>
                <a:latin typeface="Segoe UI"/>
              </a:rPr>
              <a:t>Обзор ≠ обнаружение · дрон ≠ спутник · демо ≠ результат модели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0.871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F1 детектора на отложенном тесте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634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377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шт./км² по полю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346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089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проверенных гипотез и экспериментов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502920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SAMARKAND · 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