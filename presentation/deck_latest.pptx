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Мусор в море виден из космоса полосами. Мы находим их и честно считаем штуки там, где их можно измерить. Мы команда SAMARKAND. По снимкам Sentinel-2 мы находим скопления плавающего мусора, оцениваем, сколько там предметов, и показываем экологу, чему можно верить.</a:t>
            </a:r>
          </a:p>
          <a:p/>
          <a:p>
            <a:r>
              <a:t>[0:00–0:18]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Наша команда — Матвей, Егор, Марк, Фёдор и Глеб.</a:t>
            </a:r>
          </a:p>
          <a:p/>
          <a:p>
            <a:r>
              <a:t>[0:18–0:26]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Спутник видит пиксель 10 м, а предмет — 2.5–50 см: прямого счёта штук по снимку не существует. Предмет — бутылка или обрывок сети — в сотни раз меньше пикселя и почти не меняет его спектр. Чтобы считать штуки по снимку, нужны пары «снимок — полевой счёт» в одно время и в одном месте. Из 318 событий CSV организаторов синхронных пар ноль; в данных ADIS мы нашли 66 пар по месту и времени, но видимого сигнала нет ни в одной. Это физика, а не недоработка поиска.</a:t>
            </a:r>
          </a:p>
          <a:p/>
          <a:p>
            <a:r>
              <a:t>[0:26–1:05]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ступени: спутник находит зоны, поле даёт шт./км², детальное фото считает предметы. Детектор на Sentinel-2 отвечает, где и когда есть полоса мусора: F1 0.871 на отложенном тесте. Полевой счёт даёт 53.9 штуки на квадратный километр — это независимая оценка количества. Детальное фото считает предметы с ошибкой 0.59 штуки на кадр. Мост между ступенями возможен только через пары, поэтому площадь полосы в штуки мы не переводим.</a:t>
            </a:r>
          </a:p>
          <a:p/>
          <a:p>
            <a:r>
              <a:t>[1:05–1:35]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 на спектрах бьёт U-Net и индекс FDI на отложенном тесте MARIDA. На сценах, которых модель не видела, бустинг даёт F1 0.871, U-Net — 0.501, индекс FDI — 0.042. Полосы узкие, разметки мало — признаки пикселя работают лучше свёрток. Класс MARIDA — любой плавающий мусор, поэтому мы пишем «плавающий материал», а не «пластик».</a:t>
            </a:r>
          </a:p>
          <a:p/>
          <a:p>
            <a:r>
              <a:t>[1:35–1:59]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отложенной сцене 14 находок совпали с полосами, проверенными людьми (Cózar 2024). Сцена 30SXE не входила в обучение; 14 из 23 зон совпали с ручной разметкой нитей. Всего из 286 обработанных зон мы оставили 77 находок: суда, пена, блик, облака и сильный ветер отфильтрованы. Статус «подтверждено» ставит только человек.</a:t>
            </a:r>
          </a:p>
          <a:p/>
          <a:p>
            <a:r>
              <a:t>[1:59–2:22]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отличаем мусор от судов, пены, бликов, облаков и берега. Здесь пять примеров прямо из сервиса: верное обнаружение, пропуск, судно, пена и снимок, где анализ невозможен. На тесте 64 процентов ложных пикселей — суда и органика, поэтому после детектора стоят фильтры, а плохой снимок получает «анализ невозможен», а не «чисто».</a:t>
            </a:r>
          </a:p>
          <a:p/>
          <a:p>
            <a:r>
              <a:t>[2:22–2:45]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полевым данным 53.9 шт./км² [39.7–70.4]; на отложенном тесте простая медиана лучше модели — показываем её. Число предметов на полосе делим на её площадь; интервал — бутстреп по дням рейса. У модели ошибка 30.0, у медианы 25.2; правило было записано заранее. Это и есть независимая оценка количества по полевым данным.</a:t>
            </a:r>
          </a:p>
          <a:p/>
          <a:p>
            <a:r>
              <a:t>[2:45–3:08]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проверили связку снимок → штуки на всех найденных парах — посчитанные предметы спутнику не видны. Из 21 444 отрезков ADIS 66 совпали со снимком по месту и времени; в 6 с предметами детектор не сработал. На паре ISPRA посчитанные предметы лежат не рядом с пикселями детектора. Одиночные предметы спутнику не видны, а плотные нити никто не считал поштучно — поэтому штуки по снимку в сервисе только исследовательский сценарий.</a:t>
            </a:r>
          </a:p>
          <a:p/>
          <a:p>
            <a:r>
              <a:t>[3:08–3:40]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детальном фото модель считает предметы с ошибкой 0.59 шт. на кадр и определяет материал. Это фото с воды или дрона, где предмет виден целиком. На отложенных сессиях FML ошибка 0.59 предмета на кадр, у бейзлайна 2.86; на аэрофото Winans мы лучше открытого DebrisScan.</a:t>
            </a:r>
          </a:p>
          <a:p/>
          <a:p>
            <a:r>
              <a:t>[3:40–4:00]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Эколог за пять шагов видит, что найдено, где, когда и насколько этому верить. Кнопка «Демо» проводит по шагам: район и даты, снимок с нумерованными зонами, карточка зоны, качество и статус, выгрузка. Первая строка карточки — что это: плавающий материал, пластик не подтверждён. Дальше статус, подтверждение независимой разметкой и прямо: количество предметов по этому снимку не определено; рядом — оценка по полю. Всё отфильтрованное выгружается в GeoJSON и CSV. Показываем это вживую в сервисе, кнопка «Демо», около полутора минут.</a:t>
            </a:r>
          </a:p>
          <a:p/>
          <a:p>
            <a:r>
              <a:t>[4:00–6:06]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числа: F1 0.871 у детектора, 53.9 штуки на квадратный километр по полю и все проверенные гипотезы записаны до сравнения. Спасибо, готовы к вопросам.</a:t>
            </a:r>
          </a:p>
          <a:p/>
          <a:p>
            <a:r>
              <a:t>[6:06–6:17]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1417320"/>
            <a:ext cx="105156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Мусор в море виден из космоса полосами. Мы находим их и честно считаем штуки там, где их можно измерить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406908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4E6EA"/>
                </a:solidFill>
                <a:latin typeface="Segoe UI"/>
              </a:rPr>
              <a:t>Команда SAMARKAND · РТУ МИРЭА · КосмоХакатон · кейс «Морской мусор»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585216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0D4DA"/>
                </a:solidFill>
                <a:latin typeface="Segoe UI"/>
              </a:rPr>
              <a:t>Кашин Г., Закон М., Панин М., Ожигов Е., Ведерников 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E2836"/>
                </a:solidFill>
                <a:latin typeface="Segoe UI"/>
              </a:rPr>
              <a:t>Наша команда</a:t>
            </a:r>
          </a:p>
        </p:txBody>
      </p:sp>
      <p:pic>
        <p:nvPicPr>
          <p:cNvPr id="3" name="Picture 2" descr="team_r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028"/>
            <a:ext cx="11247120" cy="359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" y="580644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Кашин Г. · Закон М. · Панин М. · Ожигов Е. · Ведерников 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Спутник видит пиксель 10 м, а предмет — 2.5–50 см: прямого счёта штук по снимку не существует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318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событий в полевом CSV организаторов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предметов считаемы поштучно при пикселе 10 м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139" y="1737360"/>
            <a:ext cx="6019800" cy="361188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44068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Воронка по событиям CSV: 318 → снимок рядом по времени → отбор по метаданным 29 → маски качества 12 → синхронны при дрейфе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Независимо: ADIS 21 444 отрезков → 66 пар по месту и времени → видимый сигнал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349240"/>
            <a:ext cx="42976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Поэтому считаем штуки там, где их можно измерить, — в поле и на детальном фото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Три ступени: спутник находит зоны, поле даёт шт./км², детальное фото считает предметы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83080"/>
            <a:ext cx="3352800" cy="7619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C1400B"/>
                </a:solidFill>
                <a:latin typeface="Segoe UI"/>
              </a:rPr>
              <a:t>F1 0.871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57556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детектор зон на снимке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6344" y="1783080"/>
            <a:ext cx="335280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53.9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3776" y="277368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шт./км² по полевому счёту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464" y="1783080"/>
            <a:ext cx="335280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0.59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0896" y="2773680"/>
            <a:ext cx="335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 на кадр — ошибка счётчика по фото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931920"/>
            <a:ext cx="108813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Спутник Sentinel-2: где и когда есть полоса мусора (оценка детектора, не вероятность)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Поле: предметы, посчитанные с судна, делённые на обследованную площадь (C = N / 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Детальное фото с воды или дрона: число предметов на кадре и материал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" y="5422392"/>
            <a:ext cx="10881360" cy="19050"/>
          </a:xfrm>
          <a:prstGeom prst="rect">
            <a:avLst/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53212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836"/>
                </a:solidFill>
                <a:latin typeface="Segoe UI"/>
              </a:rPr>
              <a:t>Каждая ступень проверена на своём отложенном тесте; переход между ступенями без пар не заявляем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LightGBM на спектрах бьёт U-Net и индекс FDI на отложенном тесте MARIDA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023360" cy="7619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C1400B"/>
                </a:solidFill>
                <a:latin typeface="Segoe UI"/>
              </a:rPr>
              <a:t>F1 0.871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529840"/>
            <a:ext cx="4023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95 % ДИ [0.823; 0.920]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91063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LightGBM (наш)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938985"/>
            <a:ext cx="3383279" cy="396849"/>
          </a:xfrm>
          <a:prstGeom prst="rect">
            <a:avLst/>
          </a:prstGeom>
          <a:solidFill>
            <a:srgbClr val="C14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191063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1400B"/>
                </a:solidFill>
                <a:latin typeface="Segoe UI"/>
              </a:rPr>
              <a:t>0.871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1929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Random Forest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647645"/>
            <a:ext cx="2994843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18603" y="261929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0.771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2795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U-Net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356305"/>
            <a:ext cx="1946065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9825" y="332795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0.501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36618"/>
            <a:ext cx="2011679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Индекс FDI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064965"/>
            <a:ext cx="163143" cy="396849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6903" y="4036618"/>
            <a:ext cx="914400" cy="45354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0.042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00600"/>
            <a:ext cx="6492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Отложенный тест: 15 сцен, пиксели класса «мусор» по разметке MARIDA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Лучше U-Net на 13 из 15 сцен; порог выбран только на val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Класс MARIDA Marine Debris — любой плавающий мусор, не только пластик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На отложенной сцене 14 находок совпали с полосами, проверенными людьми (Cózar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из 23 зон сцены 30SXE совпали с разметкой Cózar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находок из 286 обработанных зон</a:t>
            </a:r>
          </a:p>
        </p:txBody>
      </p:sp>
      <p:pic>
        <p:nvPicPr>
          <p:cNvPr id="7" name="Picture 6" descr="scene_z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343" y="1737360"/>
            <a:ext cx="4413392" cy="42062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Сцена 30SXE, 11.03.2021: не из обучения MARIDA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Зоны с судами и кильватером, пеной, бликом, облаками отфильтрованы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Ветер ≥ 5 м/с — «недостаточно данных» (правило Cózar 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E2836"/>
                </a:solidFill>
                <a:latin typeface="Segoe UI"/>
              </a:rPr>
              <a:t>Мы отличаем мусор от судов, пены, бликов, облаков и берега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ложных пикселей на отложенном тесте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64 %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из них — суда и органика</a:t>
            </a:r>
          </a:p>
        </p:txBody>
      </p:sp>
      <p:pic>
        <p:nvPicPr>
          <p:cNvPr id="7" name="Picture 6" descr="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137" y="1737360"/>
            <a:ext cx="5103805" cy="42062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Пять примеров из сервиса («Проверка качества»): верно · пропуск · судно · пена · «анализ невозможен»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E2836"/>
                </a:solidFill>
                <a:latin typeface="Segoe UI"/>
              </a:rPr>
              <a:t>По полевым данным 53.9 шт./км² [39.7–70.4]; на отложенном тесте простая медиана лучше модели — показываем её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02336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C1400B"/>
                </a:solidFill>
                <a:latin typeface="Segoe UI"/>
              </a:rPr>
              <a:t>53.9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926080"/>
            <a:ext cx="4023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A5462"/>
                </a:solidFill>
                <a:latin typeface="Segoe UI"/>
              </a:rPr>
              <a:t>шт./км², 95 % [39.7–70.4] бутстреп по дням рейса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783080"/>
            <a:ext cx="64922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MAE на отложенном рейсе, шт./км² (меньше — лучше)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38578"/>
            <a:ext cx="201167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Медиана (показываем)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2370582"/>
            <a:ext cx="2841955" cy="448056"/>
          </a:xfrm>
          <a:prstGeom prst="rect">
            <a:avLst/>
          </a:prstGeom>
          <a:solidFill>
            <a:srgbClr val="C14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65715" y="2338578"/>
            <a:ext cx="91440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1400B"/>
                </a:solidFill>
                <a:latin typeface="Segoe UI"/>
              </a:rPr>
              <a:t>25.2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38678"/>
            <a:ext cx="2011679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Модель 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3170682"/>
            <a:ext cx="3383279" cy="448056"/>
          </a:xfrm>
          <a:prstGeom prst="rect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138678"/>
            <a:ext cx="91440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462"/>
                </a:solidFill>
                <a:latin typeface="Segoe UI"/>
              </a:rPr>
              <a:t>30.0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114800"/>
            <a:ext cx="649224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C = N / A: 697 предметов на 12.94 км² полосы обследования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462"/>
                </a:solidFill>
                <a:latin typeface="Segoe UI"/>
              </a:rPr>
              <a:t>Это полевое измерение, не снимок; в карточке зоны — «ближайшее полевое измерение»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Мы проверили связку снимок → штуки на всех найденных парах — посчитанные предметы спутнику не видны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пар ADIS по месту и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пар с видимым сигналом на снимке</a:t>
            </a:r>
          </a:p>
        </p:txBody>
      </p:sp>
      <p:pic>
        <p:nvPicPr>
          <p:cNvPr id="7" name="Picture 6" descr="ispra_er604_20190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51061"/>
            <a:ext cx="6400799" cy="3184477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440680"/>
            <a:ext cx="6400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ADIS: 21 444 отрезков → 66 пар; в 6 с предметами детектор сработал в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ISPRA: 167 трансект обработаны одним скриптом; на ER604 ни один предмет не ближе к пикселю детектора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Искусственные мишени: 19 дат со счётом — детектор видит пиксель только при большом покрытии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349240"/>
            <a:ext cx="42976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836"/>
                </a:solidFill>
                <a:latin typeface="Segoe UI"/>
              </a:rPr>
              <a:t>Число штук по снимку — только исследовательский сценарий, не измерение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На детальном фото модель считает предметы с ошибкой 0.59 шт. на кадр и определяет материал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0.59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шт./кадр — ошибка на FML (медиана-бейзлайн 2.86)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1.85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1104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шт. на 164 м² кадра берега — Winans; DebrisScan 2.29</a:t>
            </a:r>
          </a:p>
        </p:txBody>
      </p:sp>
      <p:pic>
        <p:nvPicPr>
          <p:cNvPr id="7" name="Picture 6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41133"/>
            <a:ext cx="6400800" cy="359869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FML: 1 190 кадров, разбиение по сессиям съёмки; AP50 0.914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Фото с воды или дрона, не спутник; шт./км² — только где известна площадь кадра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384048"/>
            <a:ext cx="10881360" cy="1234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2836"/>
                </a:solidFill>
                <a:latin typeface="Segoe UI"/>
              </a:rPr>
              <a:t>Эколог за пять шагов видит, что найдено, где, когда и насколько этому верить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737360"/>
            <a:ext cx="4206240" cy="952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C1400B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2796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статуса зоны по постановке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3520439"/>
            <a:ext cx="4206240" cy="5715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C1400B"/>
                </a:solidFill>
                <a:latin typeface="Segoe UI"/>
              </a:rPr>
              <a:t>GeoJSON ·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114800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5462"/>
                </a:solidFill>
                <a:latin typeface="Segoe UI"/>
              </a:rPr>
              <a:t>выгрузка того, что отфильтровано</a:t>
            </a:r>
          </a:p>
        </p:txBody>
      </p:sp>
      <p:pic>
        <p:nvPicPr>
          <p:cNvPr id="7" name="Picture 6" descr="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41133"/>
            <a:ext cx="6400800" cy="359869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20640" y="5897880"/>
            <a:ext cx="5394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«Демо ▶»: Район и даты → Снимок → Зона → Качество и статус → Выгрузка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5462"/>
                </a:solidFill>
                <a:latin typeface="Segoe UI"/>
              </a:rPr>
              <a:t>Карточка: «Что это» · статус · подтверждение · «Количество предметов по этому снимку не определено»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A1AC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0.871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F1 детектора на отложенном тесте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634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53.9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377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шт./км² по полю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3464" y="2103120"/>
            <a:ext cx="3444240" cy="1270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0" b="1">
                <a:solidFill>
                  <a:srgbClr val="FA913B"/>
                </a:solidFill>
                <a:latin typeface="Segoe UI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0896" y="3423920"/>
            <a:ext cx="344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0D4DA"/>
                </a:solidFill>
                <a:latin typeface="Segoe UI"/>
              </a:rPr>
              <a:t>проверенных гипотез и экспериментов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5029200"/>
            <a:ext cx="10881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SAMARKAND · 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