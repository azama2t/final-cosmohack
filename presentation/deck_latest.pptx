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Мусор в море виден из космоса полосами, и мы находим их и честно считаем штуки там, где их можно измерить. Мы команда SAMARKAND. Наша задача в кейсе — по снимкам Sentinel-2 найти скопления плавающего мусора, оценить, сколько там предметов, и показать это экологу так, чтобы он понимал, чему можно верить. За эти дни мы собрали три вещи. Детектор, который на отложенных сценах MARIDA отличает мусор от воды, судов и пены. Полевой счёт штук на квадратный километр с честным интервалом. И счётчик предметов на детальном фото. Главное, что мы узнали по дороге: снимок показывает, где мусор, но не сколько в нём штук. Мы проверили это на всех парах «снимок — полевой счёт», которые смогли найти, и поэтому число штук по снимку мы не выдаём за измерение. Дальше — команда, проблема и три ступени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Наша команда — пять человек: Матвей, Егор, Марк, Фёдор и Глеб. Мы делили работу на данные и поиск пар, модели, сервис и проверку. Каждое число в этой презентации взято из одного файла с источником и протоколом, и каждое решение записано до сравнения.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Спутник видит пиксель, а не предмет: прямого счёта штук по снимку не существует. Предмет в море — бутылка, пакет, обрывок сети — в сотни раз меньше пикселя Sentinel-2. В пикселе он занимает ничтожную долю, и спектр пикселя почти не меняется. Чтобы научить модель считать штуки, нужны пары: снимок и полевой счёт в то же время в том же месте. Мы прошли все 318 событий CSV организаторов: снимок рядом по времени есть у части, по метаданным остаётся 29, после масок облаков и блика — 12, а синхронных с учётом дрейфа — ноль. Отдельно мы нашли 66 пар по месту и времени в данных ADIS, но видимого сигнала мусора на снимке нет ни в одной. Это не недоработка поиска, а физика: спутник видит скопление, а не отдельный предмет. Поэтому решение устроено ступенями.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ступени: спутник находит зоны, поле даёт штуки на квадратный километр, детальное фото считает предметы. Первая ступень — детектор на спектрах Sentinel-2: он отвечает, где и когда есть полоса мусора; на отложенном тесте MARIDA у него F1 0.871. Вторая — полевой счёт: люди с судна считают предметы на полосе известной ширины, и мы делим число предметов на площадь; по отложенному рейсу это 53.9 штуки на квадратный километр с честным интервалом. Третья — детальное фото, где предмет виден целиком: модель считает предметы с ошибкой 0.59 штуки на кадр. У каждой ступени своя единица и своя проверка. Между ступенями мост возможен только через пары, а их нет, поэтому мы не переводим площадь полосы на снимке в штуки и прямо пишем это в интерфейсе.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LightGBM на спектрах бьёт U-Net и индекс FDI на отложенном тесте MARIDA. Мы сравнили четыре подхода на одних и тех же сценах, которые модель не видела при обучении и подборе порога. Градиентный бустинг по спектральным признакам даёт F1 0.871, случайный лес — 0.771, U-Net — 0.501, а классический индекс плавающего мусора FDI с порогом — 0.042. Почему бустинг, а не нейросеть: полосы мусора узкие, в несколько пикселей, и разметки мало, поэтому признаки пикселя и его соседей работают лучше, чем свёртки. Важно, что класс MARIDA — это любой плавающий мусор, а не только пластик, и оценка детектора — не вероятность. Поэтому в сервисе мы пишем «оценка детектора» и «плавающий материал», а не «пластик». Порог детектора мы выбирали только на валидационных сценах, а тест открыли один раз. Интервал F1 посчитан бутстрепом по сценам, поэтому он учитывает, что сцены сильно отличаются друг от друга.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отложенной сцене 14 находок совпали с полосами, проверенными людьми. Это сцена 30SXE у Альборана за 11.03.2021; модель её не видела. Детектор выделил 23 зон, и 14 из них совпадают с нитями мусора, которые авторы Cózar 2024 разметили вручную. Всего мы обработали 286 зон на сценах и оставили 77 находок: остальные отсеяны фильтрами судов и кильватера, пены, блика, облаков, или там ветер сильнее 5 метров в секунду, когда мусор уходит под воду и снимок не информативен. Каждая зона получает один из четырёх статусов: обнаружено, не обнаружено, недостаточно данных, анализ невозможен. Статус «подтверждено» ставит только человек. На снимке справа видны контуры зон поверх нитей мусора. Сцена не входила в обучение MARIDA, поэтому совпадения с ручной разметкой — независимая проверка, а не повторение обучающих данных. Совпадение с разметкой мы показываем в карточке отдельной строкой «Подтверждение», а не смешиваем со статусом. Если независимой разметки нет, карточка так и пишет.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отличаем мусор от судов, пены, бликов, облаков и берега. На этом слайде примеры с отложенного теста: слева полоса, найденная верно; дальше пропуск, когда полоса слишком тонкая; судно с кильватером, которое спектрально похоже на мусор; пена и саргассум. Всего на тесте 75 ложных пикселей, и 64 процентов из них — суда и природная органика. Поэтому после детектора стоят фильтры: маска судов и кильватера, маска пены, блика и облаков по SCL, ветер по ERA5. Если снимок закрыт облаками или на нём блик, зона получает статус «анализ невозможен», а не «чисто». Это важно для эколога: отсутствие находки на плохом снимке ничего не говорит о воде. Для каждой причины ошибки у нас есть отдельный признак, который эколог видит в карточке: что исключено и что не проверяется. Например, водоросли и мутные речные шлейфы детектор не отличает надёжно, и мы пишем об этом прямо.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 полевым данным 53.9 штуки на квадратный километр, а на отложенном тесте простая медиана лучше модели, и мы показываем медиану. Считаем так: наблюдатели с судна считают предметы на полосе известной ширины; число предметов делим на площадь полосы. Интервал от 39.7 до 70.4 — бутстреп по дням рейса; он учитывает, что дни сильно отличаются друг от друга, и потому шире, чем интервал только по ошибке счёта. Мы пробовали предсказывать концентрацию моделью по месту и времени: на отложенном рейсе у модели средняя ошибка 30.0, а у медианы 25.2. Правило было записано заранее: модель берём, только если она лучше медианы. Она не лучше — значит, честный ответ сервиса по полю — медиана с интервалом. Поле — это не снимок. Полевое число мы показываем в отдельном слое «Полевые измерения», а в карточке спутниковой зоны пишем только расстояние до ближайшего полевого измерения, не выдавая чужое число за плотность этой зоны.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проверили связку снимок — штуки на всех найденных парах, и посчитанные предметы спутнику не видны. Главный источник — ADIS: 21 444 отрезков наблюдений с судов; из них 66 совпадают со снимком по месту и времени. В 6 таких парах в поле есть предметы, и ни в одной детектор не сработал на полосе наблюдения. Мы проверили итальянские трансекты ISPRA и нашли одну пару по месту и дню — ER604; на карте видно, что предметы, посчитанные людьми, не лежат рядом с пикселями, где сработал детектор. Проверили искусственные мишени проекта PLP: детектор видит пиксель, только когда мишень закрывает заметную долю пикселя. Вывод: одиночные предметы, которые считают люди, спутнику не видны, а плотные нити, которые видит спутник, никто не считал поштучно. Поэтому число штук по снимку в сервисе — только исследовательский сценарий с оговорками.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детальном фото модель считает предметы с ошибкой 0.59 штуки на кадр и определяет материал. Это третья ступень: фото с воды или с дрона, где предмет виден целиком. Мы обучили детектор объектов на открытом наборе FML и разбили его по сессиям съёмки, чтобы соседние кадры одной съёмки не попали и в обучение, и в тест. На отложенных кадрах ошибка счёта 0.59 предмета, а у бейзлайна «всегда медиана» — 2.86. На аэрофото берега Winans, где известна площадь кадра, наша ошибка 1.85 штуки против 2.29 у открытого DebrisScan, и правило замены было записано до сравнения. Материал модель называет по классам, но число по классам мы показываем только там, где есть разметка и матрица ошибок. Штуки на квадратный километр по фото мы считаем только там, где известна площадь кадра, как у Winans. Для кадров без площади единица — штуки на кадр. И это не спутник: Sentinel-2 так не считает.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Эколог сразу видит, что найдено, где, когда и насколько этому верить. Путь такой: глобус с районами, клик по району — сцена с контурами зон, клик по зоне — карточка. Первая строка карточки — что это: плавающий материал по классу MARIDA, пластик не подтверждён. Дальше статус — один из четырёх по постановке, и отдельной строкой подтверждение: совпадает ли зона с независимой разметкой. В блоке количества прямо написано: количество предметов по этому снимку не определено, а исследовательский сценарий свёрнут и подписан оговорками. Рядом — ближайшее полевое измерение, но не как плотность этой зоны. Всё, что отфильтровано, выгружается в GeoJSON и CSV, а запрос можно сохранить и повторить. Если источник данных недоступен, сервис пишет «данные недоступны», а не «ноль зон». Находки на снимках из обучения помечены и не считаются. Так эколог отличает отсутствие мусора от отсутствия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Одна команда воспроизводит все числа из чистой копии. Мы клонировали репозиторий на чистую машину: от клона до открытой карты и пересчитанных чисел — 7,5 минуты. В проекте 253 автотестов; отдельные тесты сверяют каждое число в документах и этой презентации с единым файлом итоговых чисел, где у каждого числа есть источник и протокол. Веса моделей лежат в репозитории, поэтому ничего не нужно обучать заново. Правила выбора моделей мы записывали до сравнения: например, модель поля берётся, только если она лучше медианы на отложенном рейсе. Это защищает от подгонки под тест. Файл итоговых чисел пересобирается одной командой после любого пересчёта, и документы с этой презентацией собираются из него скриптом. Если число в тексте разойдётся с файлом, тест упадёт. Поэтому то, что вы видите на слайдах, совпадает с тем, что считает код.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числа, которые стоит запомнить. Детектор находит полосы мусора с F1 0.871 на отложенном тесте. Поле даёт 53.9 штуки на квадратный километр с честным интервалом. И 66 пар «снимок — поле» мы проверили и показали, почему штуки по снимку пока не измеряются. Спасибо, готовы к вопросам.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itle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1417320"/>
            <a:ext cx="10515600" cy="21945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Segoe UI"/>
              </a:rPr>
              <a:t>Мусор в море виден из космоса полосами. Мы находим их и честно считаем штуки там, где их можно измерить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" y="4069080"/>
            <a:ext cx="100584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E4E6EA"/>
                </a:solidFill>
                <a:latin typeface="Segoe UI"/>
              </a:rPr>
              <a:t>Команда SAMARKAND · РТУ МИРЭА · КосмоХакатон · кейс «Морской мусор»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" y="5852160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D0D4DA"/>
                </a:solidFill>
                <a:latin typeface="Segoe UI"/>
              </a:rPr>
              <a:t>Кашин Г., Закон М., Панин М., Ожигов Е., Ведерников Ф.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E2836"/>
                </a:solidFill>
                <a:latin typeface="Segoe UI"/>
              </a:rPr>
              <a:t>Наша команда</a:t>
            </a:r>
          </a:p>
        </p:txBody>
      </p:sp>
      <p:pic>
        <p:nvPicPr>
          <p:cNvPr id="3" name="Picture 2" descr="team_r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71028"/>
            <a:ext cx="11247120" cy="359026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9224" y="5806440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Кашин Г. · Закон М. · Панин М. · Ожигов Е. · Ведерников Ф.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Спутник видит пиксель, а не предмет: прямого счёта штук по снимку не существует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318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72796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событий в полевом CSV организаторов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520439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0 %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451104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предметов считаемы поштучно при пикселе 10 м</a:t>
            </a:r>
          </a:p>
        </p:txBody>
      </p:sp>
      <p:pic>
        <p:nvPicPr>
          <p:cNvPr id="7" name="Picture 6" descr="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1139" y="1737360"/>
            <a:ext cx="6019800" cy="3611880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120640" y="5440680"/>
            <a:ext cx="64008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Воронка по событиям CSV: 318 → снимок рядом по времени → отбор по метаданным 29 → маски качества 12 → синхронны при дрейфе 0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Независимо: ADIS 21 444 отрезков → 66 пар по месту и времени → видимый сигнал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5349240"/>
            <a:ext cx="429768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836"/>
                </a:solidFill>
                <a:latin typeface="Segoe UI"/>
              </a:rPr>
              <a:t>Поэтому считаем штуки там, где их можно измерить, — в поле и на детальном фото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Три ступени: спутник находит зоны, поле даёт шт./км², детальное фото считает предметы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352800" cy="76199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>
                <a:solidFill>
                  <a:srgbClr val="C1400B"/>
                </a:solidFill>
                <a:latin typeface="Segoe UI"/>
              </a:rPr>
              <a:t>F1 0.871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575560"/>
            <a:ext cx="33528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детектор зон на снимке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76344" y="1783080"/>
            <a:ext cx="335280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53.9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03776" y="2773680"/>
            <a:ext cx="33528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шт./км² по полевому счёту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3464" y="1783080"/>
            <a:ext cx="335280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0.59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30896" y="2773680"/>
            <a:ext cx="33528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шт. на кадр — ошибка счётчика по фото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3931920"/>
            <a:ext cx="10881360" cy="1371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Спутник Sentinel-2: где и когда есть полоса мусора (оценка детектора, не вероятность)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Поле: предметы, посчитанные с судна, делённые на обследованную площадь (C = N / A)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Детальное фото с воды или дрона: число предметов на кадре и материал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" y="5422392"/>
            <a:ext cx="10881360" cy="19050"/>
          </a:xfrm>
          <a:prstGeom prst="rect">
            <a:avLst/>
          </a:prstGeom>
          <a:solidFill>
            <a:srgbClr val="A7AD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5532120"/>
            <a:ext cx="1088136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E2836"/>
                </a:solidFill>
                <a:latin typeface="Segoe UI"/>
              </a:rPr>
              <a:t>Каждая ступень проверена на своём отложенном тесте; переход между ступенями без пар не заявляем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LightGBM на спектрах бьёт U-Net и индекс FDI на отложенном тесте MARIDA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023360" cy="76199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>
                <a:solidFill>
                  <a:srgbClr val="C1400B"/>
                </a:solidFill>
                <a:latin typeface="Segoe UI"/>
              </a:rPr>
              <a:t>F1 0.871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529840"/>
            <a:ext cx="4023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95 % ДИ [0.823; 0.920]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910638"/>
            <a:ext cx="2011679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836"/>
                </a:solidFill>
                <a:latin typeface="Segoe UI"/>
              </a:rPr>
              <a:t>LightGBM (наш)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0" y="1938985"/>
            <a:ext cx="3383279" cy="396849"/>
          </a:xfrm>
          <a:prstGeom prst="rect">
            <a:avLst/>
          </a:prstGeom>
          <a:solidFill>
            <a:srgbClr val="C14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0" y="1910638"/>
            <a:ext cx="914400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C1400B"/>
                </a:solidFill>
                <a:latin typeface="Segoe UI"/>
              </a:rPr>
              <a:t>0.871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2619298"/>
            <a:ext cx="2011679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Random Forest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0" y="2647645"/>
            <a:ext cx="2994843" cy="396849"/>
          </a:xfrm>
          <a:prstGeom prst="rect">
            <a:avLst/>
          </a:prstGeom>
          <a:solidFill>
            <a:srgbClr val="B9BE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18603" y="2619298"/>
            <a:ext cx="914400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4A5462"/>
                </a:solidFill>
                <a:latin typeface="Segoe UI"/>
              </a:rPr>
              <a:t>0.771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327958"/>
            <a:ext cx="2011679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U-Net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3356305"/>
            <a:ext cx="1946065" cy="396849"/>
          </a:xfrm>
          <a:prstGeom prst="rect">
            <a:avLst/>
          </a:prstGeom>
          <a:solidFill>
            <a:srgbClr val="B9BE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69825" y="3327958"/>
            <a:ext cx="914400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4A5462"/>
                </a:solidFill>
                <a:latin typeface="Segoe UI"/>
              </a:rPr>
              <a:t>0.501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4036618"/>
            <a:ext cx="2011679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Индекс FDI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0" y="4064965"/>
            <a:ext cx="163143" cy="396849"/>
          </a:xfrm>
          <a:prstGeom prst="rect">
            <a:avLst/>
          </a:prstGeom>
          <a:solidFill>
            <a:srgbClr val="B9BE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86903" y="4036618"/>
            <a:ext cx="914400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4A5462"/>
                </a:solidFill>
                <a:latin typeface="Segoe UI"/>
              </a:rPr>
              <a:t>0.042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4800600"/>
            <a:ext cx="6492240" cy="12801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Отложенный тест: 15 сцен, пиксели класса «мусор» по разметке MARIDA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Лучше U-Net на 13 из 15 сцен; порог выбран только на val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Класс MARIDA Marine Debris — любой плавающий мусор, не только пластик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На отложенной сцене 14 находок совпали с полосами, проверенными людьми (Cózar 2024)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72796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из 23 зон сцены 30SXE совпали с разметкой Cózar 2024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520439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451104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находок из 286 обработанных зон</a:t>
            </a:r>
          </a:p>
        </p:txBody>
      </p:sp>
      <p:pic>
        <p:nvPicPr>
          <p:cNvPr id="7" name="Picture 6" descr="scene_zon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7512" y="1737360"/>
            <a:ext cx="3407054" cy="4206240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120640" y="6035040"/>
            <a:ext cx="64008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Сцена 30SXE, 11.03.2021: не из обучения MARIDA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Зоны с судами и кильватером, пеной, бликом, облаками отфильтрованы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Ветер ≥ 5 м/с — «недостаточно данных» (правило Cózar 2024)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Мы отличаем мусор от судов, пены, бликов, облаков и берега</a:t>
            </a:r>
          </a:p>
        </p:txBody>
      </p:sp>
      <p:pic>
        <p:nvPicPr>
          <p:cNvPr id="3" name="Picture 2" descr="hard_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8004" y="1691640"/>
            <a:ext cx="7543800" cy="3017520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649224" y="4846320"/>
            <a:ext cx="3081527" cy="698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C1400B"/>
                </a:solidFill>
                <a:latin typeface="Segoe UI"/>
              </a:rPr>
              <a:t>75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5572760"/>
            <a:ext cx="3081527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ложных пикселей на отложенном тесте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13631" y="4846320"/>
            <a:ext cx="3081527" cy="698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C1400B"/>
                </a:solidFill>
                <a:latin typeface="Segoe UI"/>
              </a:rPr>
              <a:t>64 %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41063" y="5572760"/>
            <a:ext cx="3081527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из них — суда и органика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4983480"/>
            <a:ext cx="420624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4A5462"/>
                </a:solidFill>
                <a:latin typeface="Segoe UI"/>
              </a:rPr>
              <a:t>Верно найдено · пропуск · судно · пена · «анализ невозможен» — на отложенном тесте MARIDA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E2836"/>
                </a:solidFill>
                <a:latin typeface="Segoe UI"/>
              </a:rPr>
              <a:t>По полевым данным 53.9 шт./км² [39.7–70.4]; на отложенном тесте простая медиана лучше модели — показываем её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02336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53.9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26080"/>
            <a:ext cx="4023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шт./км², 95 % [39.7–70.4] бутстреп по дням рейса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783080"/>
            <a:ext cx="649224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MAE на отложенном рейсе, шт./км² (меньше — лучше)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2338578"/>
            <a:ext cx="2011679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836"/>
                </a:solidFill>
                <a:latin typeface="Segoe UI"/>
              </a:rPr>
              <a:t>Медиана (показываем)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2370582"/>
            <a:ext cx="2841955" cy="448056"/>
          </a:xfrm>
          <a:prstGeom prst="rect">
            <a:avLst/>
          </a:prstGeom>
          <a:solidFill>
            <a:srgbClr val="C14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65715" y="2338578"/>
            <a:ext cx="914400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C1400B"/>
                </a:solidFill>
                <a:latin typeface="Segoe UI"/>
              </a:rPr>
              <a:t>25.2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3138678"/>
            <a:ext cx="2011679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Модель ridge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3170682"/>
            <a:ext cx="3383279" cy="448056"/>
          </a:xfrm>
          <a:prstGeom prst="rect">
            <a:avLst/>
          </a:prstGeom>
          <a:solidFill>
            <a:srgbClr val="B9BE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0" y="3138678"/>
            <a:ext cx="914400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4A5462"/>
                </a:solidFill>
                <a:latin typeface="Segoe UI"/>
              </a:rPr>
              <a:t>30.0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4114800"/>
            <a:ext cx="6492240" cy="12801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C = N / A: 697 предметов на 12.94 км² полосы обследования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Это полевое измерение, не снимок; в карточке зоны — «ближайшее полевое измерение»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Мы проверили связку снимок → штуки на всех найденных парах — посчитанные предметы спутнику не видны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66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72796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пар ADIS по месту и времени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520439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451104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пар с видимым сигналом на снимке</a:t>
            </a:r>
          </a:p>
        </p:txBody>
      </p:sp>
      <p:pic>
        <p:nvPicPr>
          <p:cNvPr id="7" name="Picture 6" descr="ispra_er604_201909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951061"/>
            <a:ext cx="6400799" cy="3184477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120640" y="5440680"/>
            <a:ext cx="64008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ADIS: 21 444 отрезков → 66 пар; в 6 с предметами детектор сработал в 0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ISPRA: 167 трансект обработаны одним скриптом; на ER604 ни один предмет не ближе к пикселю детектора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Искусственные мишени PLP: детектор видит пиксель только при большом покрытии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5349240"/>
            <a:ext cx="429768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836"/>
                </a:solidFill>
                <a:latin typeface="Segoe UI"/>
              </a:rPr>
              <a:t>Число штук по снимку — только исследовательский сценарий, не измерение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На детальном фото модель считает предметы с ошибкой 0.59 шт. на кадр и определяет материал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0.59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72796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шт./кадр — ошибка на FML (медиана-бейзлайн 2.86)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520439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1.85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451104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шт. на 164 м² кадра берега — Winans; DebrisScan 2.29</a:t>
            </a:r>
          </a:p>
        </p:txBody>
      </p:sp>
      <p:pic>
        <p:nvPicPr>
          <p:cNvPr id="7" name="Picture 6" descr="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040254"/>
            <a:ext cx="6400800" cy="3600450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120640" y="6035040"/>
            <a:ext cx="64008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FML: 1 190 кадров, разбиение по сессиям съёмки; AP50 0.914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Фото с воды или дрона, не спутник; шт./км² — только где известна площадь кадра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Эколог сразу видит, что найдено, где, когда и насколько этому верить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72796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статуса зоны по постановке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520439"/>
            <a:ext cx="4206240" cy="571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C1400B"/>
                </a:solidFill>
                <a:latin typeface="Segoe UI"/>
              </a:rPr>
              <a:t>GeoJSON · 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411480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выгрузка того, что отфильтровано</a:t>
            </a:r>
          </a:p>
        </p:txBody>
      </p:sp>
      <p:pic>
        <p:nvPicPr>
          <p:cNvPr id="7" name="Picture 6" descr="c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4589" y="1737360"/>
            <a:ext cx="2992901" cy="4206240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120640" y="6035040"/>
            <a:ext cx="64008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Карточка: «Что это» · статус · подтверждение · «Количество предметов по этому снимку не определено»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Земля → сцена → зона → студия запросов → назад к карте; сохранённые запросы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Одна команда воспроизводит все числа из чистой копии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5166360" cy="104774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600" b="1">
                <a:solidFill>
                  <a:srgbClr val="C1400B"/>
                </a:solidFill>
                <a:latin typeface="Segoe UI"/>
              </a:rPr>
              <a:t>7,5 мин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872740"/>
            <a:ext cx="5166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чистый клон → карта и числа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89904" y="1783080"/>
            <a:ext cx="516636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253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17336" y="2971800"/>
            <a:ext cx="5166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автотестов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3931920"/>
            <a:ext cx="10881360" cy="1371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Установка 3 мин 17 с, карта открывается за 8,1 с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Веса моделей в репозитории; все числа — reports/final_numbers.json с источником и протоколом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Правила принятия решений записаны до сравнения (детектор, поле, счётчик)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" y="5422392"/>
            <a:ext cx="10881360" cy="19050"/>
          </a:xfrm>
          <a:prstGeom prst="rect">
            <a:avLst/>
          </a:prstGeom>
          <a:solidFill>
            <a:srgbClr val="A7AD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5532120"/>
            <a:ext cx="1088136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E2836"/>
                </a:solidFill>
                <a:latin typeface="Segoe UI"/>
              </a:rPr>
              <a:t>Любое число в презентации можно проверить по файлу и команде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2103120"/>
            <a:ext cx="3444240" cy="1270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8000" b="1">
                <a:solidFill>
                  <a:srgbClr val="FA913B"/>
                </a:solidFill>
                <a:latin typeface="Segoe UI"/>
              </a:rPr>
              <a:t>0.871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6656" y="3423920"/>
            <a:ext cx="3444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D0D4DA"/>
                </a:solidFill>
                <a:latin typeface="Segoe UI"/>
              </a:rPr>
              <a:t>F1 детектора на отложенном тесте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76344" y="2103120"/>
            <a:ext cx="3444240" cy="1270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8000" b="1">
                <a:solidFill>
                  <a:srgbClr val="FA913B"/>
                </a:solidFill>
                <a:latin typeface="Segoe UI"/>
              </a:rPr>
              <a:t>53.9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03776" y="3423920"/>
            <a:ext cx="3444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D0D4DA"/>
                </a:solidFill>
                <a:latin typeface="Segoe UI"/>
              </a:rPr>
              <a:t>шт./км² по полю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3464" y="2103120"/>
            <a:ext cx="3444240" cy="1270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8000" b="1">
                <a:solidFill>
                  <a:srgbClr val="FA913B"/>
                </a:solidFill>
                <a:latin typeface="Segoe UI"/>
              </a:rPr>
              <a:t>66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30896" y="3423920"/>
            <a:ext cx="3444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D0D4DA"/>
                </a:solidFill>
                <a:latin typeface="Segoe UI"/>
              </a:rPr>
              <a:t>пар «снимок — поле» проверено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5029200"/>
            <a:ext cx="1088136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SAMARKAND · спасибо за внимание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