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40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586" autoAdjust="0"/>
  </p:normalViewPr>
  <p:slideViewPr>
    <p:cSldViewPr>
      <p:cViewPr varScale="1">
        <p:scale>
          <a:sx n="83" d="100"/>
          <a:sy n="83" d="100"/>
        </p:scale>
        <p:origin x="813" y="39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18CC72-8664-4F98-A385-252EAD914062}" type="datetimeFigureOut">
              <a:rPr lang="ru-RU" smtClean="0"/>
              <a:t>20.09.2026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A92808-7C82-4144-82C2-2DDF3C8773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4283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A92808-7C82-4144-82C2-2DDF3C877372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16729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0514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 smtClean="0"/>
              <a:t>Проблема состоит из двух частей. Во-первых, горячая точка на спутниковом снимке не всегда означает природный пожар: это может быть газовый факел или промышленный объект. Во-вторых, после пожара нужно определить площадь и степень поражения, а наземное обследование требует времени. Наше решение объединяет обнаружение горения и оценку его последствий.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A92808-7C82-4144-82C2-2DDF3C877372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36467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Сама двухэтапная структура задана в кейсе, поэтому наше отличие находится внутри каждого модуля. В </a:t>
            </a:r>
            <a:r>
              <a:rPr lang="ru-RU" dirty="0" err="1" smtClean="0"/>
              <a:t>Active</a:t>
            </a:r>
            <a:r>
              <a:rPr lang="ru-RU" dirty="0" smtClean="0"/>
              <a:t> </a:t>
            </a:r>
            <a:r>
              <a:rPr lang="ru-RU" dirty="0" err="1" smtClean="0"/>
              <a:t>Fire</a:t>
            </a:r>
            <a:r>
              <a:rPr lang="ru-RU" dirty="0" smtClean="0"/>
              <a:t> мы объединили физические признаки горения по каналам I4 и I5 со 110 спектральными и пространственными признаками. Затем усреднили пять моделей </a:t>
            </a:r>
            <a:r>
              <a:rPr lang="ru-RU" dirty="0" err="1" smtClean="0"/>
              <a:t>LightGBM</a:t>
            </a:r>
            <a:r>
              <a:rPr lang="ru-RU" dirty="0" smtClean="0"/>
              <a:t> и отдельно обучили их на сложных отрицательных примерах вокруг очагов. Это дало F1 0,97. Для картирования гарей мы использовали ансамбль U-</a:t>
            </a:r>
            <a:r>
              <a:rPr lang="ru-RU" dirty="0" err="1" smtClean="0"/>
              <a:t>Net</a:t>
            </a:r>
            <a:r>
              <a:rPr lang="ru-RU" dirty="0" smtClean="0"/>
              <a:t> с ResNet34, дополнили его </a:t>
            </a:r>
            <a:r>
              <a:rPr lang="ru-RU" dirty="0" err="1" smtClean="0"/>
              <a:t>LightGBM-стекингом</a:t>
            </a:r>
            <a:r>
              <a:rPr lang="ru-RU" dirty="0" smtClean="0"/>
              <a:t> и постобработкой масок. В результате получили </a:t>
            </a:r>
            <a:r>
              <a:rPr lang="ru-RU" dirty="0" err="1" smtClean="0"/>
              <a:t>IoU</a:t>
            </a:r>
            <a:r>
              <a:rPr lang="ru-RU" dirty="0" smtClean="0"/>
              <a:t> 0,76 и итоговый </a:t>
            </a:r>
            <a:r>
              <a:rPr lang="ru-RU" dirty="0" err="1" smtClean="0"/>
              <a:t>Public</a:t>
            </a:r>
            <a:r>
              <a:rPr lang="ru-RU" dirty="0" smtClean="0"/>
              <a:t> </a:t>
            </a:r>
            <a:r>
              <a:rPr lang="ru-RU" dirty="0" err="1" smtClean="0"/>
              <a:t>Score</a:t>
            </a:r>
            <a:r>
              <a:rPr lang="ru-RU" dirty="0" smtClean="0"/>
              <a:t> 0,8314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A92808-7C82-4144-82C2-2DDF3C877372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30725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Главный количественный результат — </a:t>
            </a:r>
            <a:r>
              <a:rPr lang="ru-RU" dirty="0" err="1" smtClean="0"/>
              <a:t>Public</a:t>
            </a:r>
            <a:r>
              <a:rPr lang="ru-RU" dirty="0" smtClean="0"/>
              <a:t> </a:t>
            </a:r>
            <a:r>
              <a:rPr lang="ru-RU" dirty="0" err="1" smtClean="0"/>
              <a:t>Score</a:t>
            </a:r>
            <a:r>
              <a:rPr lang="ru-RU" dirty="0" smtClean="0"/>
              <a:t> 0,8314. Простой </a:t>
            </a:r>
            <a:r>
              <a:rPr lang="ru-RU" dirty="0" err="1" smtClean="0"/>
              <a:t>baseline</a:t>
            </a:r>
            <a:r>
              <a:rPr lang="ru-RU" dirty="0" smtClean="0"/>
              <a:t> на физических правилах давал около 0,31. После добавления обученного модуля </a:t>
            </a:r>
            <a:r>
              <a:rPr lang="ru-RU" dirty="0" err="1" smtClean="0"/>
              <a:t>Active</a:t>
            </a:r>
            <a:r>
              <a:rPr lang="ru-RU" dirty="0" smtClean="0"/>
              <a:t> </a:t>
            </a:r>
            <a:r>
              <a:rPr lang="ru-RU" dirty="0" err="1" smtClean="0"/>
              <a:t>Fire</a:t>
            </a:r>
            <a:r>
              <a:rPr lang="ru-RU" dirty="0" smtClean="0"/>
              <a:t> результат вырос до 0,60, а полный </a:t>
            </a:r>
            <a:r>
              <a:rPr lang="ru-RU" dirty="0" err="1" smtClean="0"/>
              <a:t>pipeline</a:t>
            </a:r>
            <a:r>
              <a:rPr lang="ru-RU" dirty="0" smtClean="0"/>
              <a:t> с сегментацией гарей — до 0,8314. Мы проверяли решение двумя способами: локальная </a:t>
            </a:r>
            <a:r>
              <a:rPr lang="ru-RU" dirty="0" err="1" smtClean="0"/>
              <a:t>валидация</a:t>
            </a:r>
            <a:r>
              <a:rPr lang="ru-RU" dirty="0" smtClean="0"/>
              <a:t> дала 0,8353, а отдельная проверка на данных 2024 года — 0,8478. Близкий </a:t>
            </a:r>
            <a:r>
              <a:rPr lang="ru-RU" dirty="0" err="1" smtClean="0"/>
              <a:t>Public</a:t>
            </a:r>
            <a:r>
              <a:rPr lang="ru-RU" dirty="0" smtClean="0"/>
              <a:t> </a:t>
            </a:r>
            <a:r>
              <a:rPr lang="ru-RU" dirty="0" err="1" smtClean="0"/>
              <a:t>Score</a:t>
            </a:r>
            <a:r>
              <a:rPr lang="ru-RU" dirty="0" smtClean="0"/>
              <a:t> показывает, что локальная оценка хорошо перенеслась на новые данные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A92808-7C82-4144-82C2-2DDF3C877372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76753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В модуле </a:t>
            </a:r>
            <a:r>
              <a:rPr lang="ru-RU" dirty="0" err="1" smtClean="0"/>
              <a:t>Active</a:t>
            </a:r>
            <a:r>
              <a:rPr lang="ru-RU" dirty="0" smtClean="0"/>
              <a:t> </a:t>
            </a:r>
            <a:r>
              <a:rPr lang="ru-RU" dirty="0" err="1" smtClean="0"/>
              <a:t>Fire</a:t>
            </a:r>
            <a:r>
              <a:rPr lang="ru-RU" dirty="0" smtClean="0"/>
              <a:t> мы не считаем каждый горячий пиксель пожаром. Простой дневной порог давал много ложных срабатываний: 86% из них приходились на пашню и травянистые территории. Поэтому сначала по каналам I4 и I5 мы выделяем кандидатов, а затем анализируем 110 признаков: температуру, разность каналов, контраст с локальным фоном, время суток и тип поверхности. Предсказания пяти моделей </a:t>
            </a:r>
            <a:r>
              <a:rPr lang="ru-RU" dirty="0" err="1" smtClean="0"/>
              <a:t>LightGBM</a:t>
            </a:r>
            <a:r>
              <a:rPr lang="ru-RU" dirty="0" smtClean="0"/>
              <a:t> усредняются, а при обучении используются сложные отрицательные примеры вокруг очагов. В результате F1 составил 0,968, а основные оставшиеся ошибки находятся на границах пожара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A92808-7C82-4144-82C2-2DDF3C877372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12963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dirty="0" smtClean="0"/>
              <a:t>По данным EDA пороги </a:t>
            </a:r>
            <a:r>
              <a:rPr lang="ru-RU" b="1" dirty="0" err="1" smtClean="0"/>
              <a:t>dNBR</a:t>
            </a:r>
            <a:r>
              <a:rPr lang="ru-RU" b="1" dirty="0" smtClean="0"/>
              <a:t> различаются: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лес — 0.16 / 0.32 / 0.60</a:t>
            </a:r>
            <a:br>
              <a:rPr lang="ru-RU" dirty="0" smtClean="0"/>
            </a:br>
            <a:r>
              <a:rPr lang="ru-RU" dirty="0" smtClean="0"/>
              <a:t>пашня — 0.08 / 0.18 / 0.38</a:t>
            </a:r>
          </a:p>
          <a:p>
            <a:endParaRPr lang="ru-RU" dirty="0" smtClean="0"/>
          </a:p>
          <a:p>
            <a:r>
              <a:rPr lang="ru-RU" dirty="0" smtClean="0"/>
              <a:t>Модуль </a:t>
            </a:r>
            <a:r>
              <a:rPr lang="ru-RU" dirty="0" err="1" smtClean="0"/>
              <a:t>Burn</a:t>
            </a:r>
            <a:r>
              <a:rPr lang="ru-RU" dirty="0" smtClean="0"/>
              <a:t> </a:t>
            </a:r>
            <a:r>
              <a:rPr lang="ru-RU" dirty="0" err="1" smtClean="0"/>
              <a:t>Scar</a:t>
            </a:r>
            <a:r>
              <a:rPr lang="ru-RU" dirty="0" smtClean="0"/>
              <a:t> особенно важен, потому что на контур гари и классификацию степеней приходится 65% итоговой метрики. Во время анализа данных мы увидели, что один универсальный порог </a:t>
            </a:r>
            <a:r>
              <a:rPr lang="ru-RU" dirty="0" err="1" smtClean="0"/>
              <a:t>dNBR</a:t>
            </a:r>
            <a:r>
              <a:rPr lang="ru-RU" dirty="0" smtClean="0"/>
              <a:t> не работает: например, для леса границы классов составляют 0,16, 0,32 и 0,60, а для пашни — 0,08, 0,18 и 0,38. Поэтому итоговую маску мы не строим только по одному индексу.</a:t>
            </a:r>
          </a:p>
          <a:p>
            <a:r>
              <a:rPr lang="ru-RU" dirty="0" smtClean="0"/>
              <a:t>Мы используем </a:t>
            </a:r>
            <a:r>
              <a:rPr lang="ru-RU" dirty="0" err="1" smtClean="0"/>
              <a:t>мультимасштабный</a:t>
            </a:r>
            <a:r>
              <a:rPr lang="ru-RU" dirty="0" smtClean="0"/>
              <a:t> ансамбль U-</a:t>
            </a:r>
            <a:r>
              <a:rPr lang="ru-RU" dirty="0" err="1" smtClean="0"/>
              <a:t>Net</a:t>
            </a:r>
            <a:r>
              <a:rPr lang="ru-RU" dirty="0" smtClean="0"/>
              <a:t> с </a:t>
            </a:r>
            <a:r>
              <a:rPr lang="ru-RU" dirty="0" err="1" smtClean="0"/>
              <a:t>энкодером</a:t>
            </a:r>
            <a:r>
              <a:rPr lang="ru-RU" dirty="0" smtClean="0"/>
              <a:t> ResNet34. Снимки Sentinel-2 до и после пожара показывают спектральные изменения, а Sentinel-1 добавляет радиолокационный сигнал, устойчивый к облачности и дыму. Одна из моделей работает в масштабе 0,75 и видит больший пространственный контекст. Затем вероятности моделей объединяет </a:t>
            </a:r>
            <a:r>
              <a:rPr lang="ru-RU" dirty="0" err="1" smtClean="0"/>
              <a:t>LightGBM</a:t>
            </a:r>
            <a:r>
              <a:rPr lang="ru-RU" dirty="0" smtClean="0"/>
              <a:t> на уровне каждого пикселя.</a:t>
            </a:r>
          </a:p>
          <a:p>
            <a:r>
              <a:rPr lang="ru-RU" dirty="0" smtClean="0"/>
              <a:t>На последнем этапе мы исключаем воду по слою SCL, удаляем компоненты меньше 25 пикселей и заполняем небольшие разрывы. В результате получили </a:t>
            </a:r>
            <a:r>
              <a:rPr lang="ru-RU" dirty="0" err="1" smtClean="0"/>
              <a:t>IoU</a:t>
            </a:r>
            <a:r>
              <a:rPr lang="ru-RU" dirty="0" smtClean="0"/>
              <a:t> контура 0,765 и </a:t>
            </a:r>
            <a:r>
              <a:rPr lang="ru-RU" dirty="0" err="1" smtClean="0"/>
              <a:t>mIoU</a:t>
            </a:r>
            <a:r>
              <a:rPr lang="ru-RU" dirty="0" smtClean="0"/>
              <a:t> трёх степеней 0,763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A92808-7C82-4144-82C2-2DDF3C877372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03833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Мы не подбирали решение по одному удачному разбиению данных. Для </a:t>
            </a:r>
            <a:r>
              <a:rPr lang="ru-RU" dirty="0" err="1" smtClean="0"/>
              <a:t>Burn</a:t>
            </a:r>
            <a:r>
              <a:rPr lang="ru-RU" dirty="0" smtClean="0"/>
              <a:t> </a:t>
            </a:r>
            <a:r>
              <a:rPr lang="ru-RU" dirty="0" err="1" smtClean="0"/>
              <a:t>Scar</a:t>
            </a:r>
            <a:r>
              <a:rPr lang="ru-RU" dirty="0" smtClean="0"/>
              <a:t> мы зафиксировали 134 экспериментальных запуска. Изменения модели проверяли одновременно на двух схемах </a:t>
            </a:r>
            <a:r>
              <a:rPr lang="ru-RU" dirty="0" err="1" smtClean="0"/>
              <a:t>валидации</a:t>
            </a:r>
            <a:r>
              <a:rPr lang="ru-RU" dirty="0" smtClean="0"/>
              <a:t>: с разделением по территориям и с временным </a:t>
            </a:r>
            <a:r>
              <a:rPr lang="ru-RU" dirty="0" err="1" smtClean="0"/>
              <a:t>holdout</a:t>
            </a:r>
            <a:r>
              <a:rPr lang="ru-RU" dirty="0" smtClean="0"/>
              <a:t> на данных 2024 года. В финальный </a:t>
            </a:r>
            <a:r>
              <a:rPr lang="ru-RU" dirty="0" err="1" smtClean="0"/>
              <a:t>pipeline</a:t>
            </a:r>
            <a:r>
              <a:rPr lang="ru-RU" dirty="0" smtClean="0"/>
              <a:t> вошли решения, которые устойчиво работали на обеих проверках: пороги с учётом покрова, U-</a:t>
            </a:r>
            <a:r>
              <a:rPr lang="ru-RU" dirty="0" err="1" smtClean="0"/>
              <a:t>Net</a:t>
            </a:r>
            <a:r>
              <a:rPr lang="ru-RU" dirty="0" smtClean="0"/>
              <a:t> с </a:t>
            </a:r>
            <a:r>
              <a:rPr lang="ru-RU" dirty="0" err="1" smtClean="0"/>
              <a:t>LightGBM-стекингом</a:t>
            </a:r>
            <a:r>
              <a:rPr lang="ru-RU" dirty="0" smtClean="0"/>
              <a:t>, постобработка и </a:t>
            </a:r>
            <a:r>
              <a:rPr lang="ru-RU" dirty="0" err="1" smtClean="0"/>
              <a:t>мультимасштабный</a:t>
            </a:r>
            <a:r>
              <a:rPr lang="ru-RU" dirty="0" smtClean="0"/>
              <a:t> ансамбль. Инженерные изменения отдельно оценивали по скорости и </a:t>
            </a:r>
            <a:r>
              <a:rPr lang="ru-RU" dirty="0" err="1" smtClean="0"/>
              <a:t>воспроизводимости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A92808-7C82-4144-82C2-2DDF3C877372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46287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mtClean="0"/>
              <a:t>Результат нашей работы — работающий прототип информационно-аналитического сервиса. Пользователь задаёт полигон или ограничивающий прямоугольник, выбирает интервал дат и без ручной обработки получает результат по загруженным спутниковым сценам.</a:t>
            </a:r>
          </a:p>
          <a:p>
            <a:r>
              <a:rPr lang="ru-RU" smtClean="0"/>
              <a:t>На карте отображаются термоточки и предсказанные моделью контуры гарей, окрашенные по трём степеням поражения. Если выбранная территория пересекает только часть контура, геометрия обрезается по границе запроса, а площадь пересчитывается в метрической проекции UTM. На контрольных геометриях расхождение расчёта площади не превышает 0,025%. Это точность геометрического расчёта, а не точность модели.</a:t>
            </a:r>
          </a:p>
          <a:p>
            <a:r>
              <a:rPr lang="ru-RU" smtClean="0"/>
              <a:t>Каждый контур содержит идентификатор, класс поражения и площадь. Контуры выгружаются в GeoJSON и Shapefile с корректной системой координат. Аналитическая справка содержит суммарную площадь в гектарах и распределение по трём степеням, её можно скачать в JSON и CSV. Тот же результат доступен через документированный REST API, поэтому сервис можно интегрировать в региональную ГИС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A92808-7C82-4144-82C2-2DDF3C877372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84544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Мы отдельно проверили </a:t>
            </a:r>
            <a:r>
              <a:rPr lang="ru-RU" dirty="0" err="1" smtClean="0"/>
              <a:t>воспроизводимость</a:t>
            </a:r>
            <a:r>
              <a:rPr lang="ru-RU" dirty="0" smtClean="0"/>
              <a:t> решения. </a:t>
            </a:r>
            <a:r>
              <a:rPr lang="ru-RU" dirty="0" err="1" smtClean="0"/>
              <a:t>Инференс</a:t>
            </a:r>
            <a:r>
              <a:rPr lang="ru-RU" dirty="0" smtClean="0"/>
              <a:t> запускается одной командой, зависимости зафиксированы, а корректность </a:t>
            </a:r>
            <a:r>
              <a:rPr lang="ru-RU" dirty="0" err="1" smtClean="0"/>
              <a:t>пайплайна</a:t>
            </a:r>
            <a:r>
              <a:rPr lang="ru-RU" dirty="0" smtClean="0"/>
              <a:t> проверяется 170 тестами на </a:t>
            </a:r>
            <a:r>
              <a:rPr lang="ru-RU" dirty="0" err="1" smtClean="0"/>
              <a:t>Python</a:t>
            </a:r>
            <a:r>
              <a:rPr lang="ru-RU" dirty="0" smtClean="0"/>
              <a:t> от 3.10 до 3.12. На </a:t>
            </a:r>
            <a:r>
              <a:rPr lang="ru-RU" dirty="0" err="1" smtClean="0"/>
              <a:t>Windows</a:t>
            </a:r>
            <a:r>
              <a:rPr lang="ru-RU" dirty="0" smtClean="0"/>
              <a:t> GPU, </a:t>
            </a:r>
            <a:r>
              <a:rPr lang="ru-RU" dirty="0" err="1" smtClean="0"/>
              <a:t>Windows</a:t>
            </a:r>
            <a:r>
              <a:rPr lang="ru-RU" dirty="0" smtClean="0"/>
              <a:t> CPU и в </a:t>
            </a:r>
            <a:r>
              <a:rPr lang="ru-RU" dirty="0" err="1" smtClean="0"/>
              <a:t>Docker</a:t>
            </a:r>
            <a:r>
              <a:rPr lang="ru-RU" dirty="0" smtClean="0"/>
              <a:t> </a:t>
            </a:r>
            <a:r>
              <a:rPr lang="ru-RU" dirty="0" err="1" smtClean="0"/>
              <a:t>Linux</a:t>
            </a:r>
            <a:r>
              <a:rPr lang="ru-RU" dirty="0" smtClean="0"/>
              <a:t> формируется идентичный </a:t>
            </a:r>
            <a:r>
              <a:rPr lang="ru-RU" dirty="0" err="1" smtClean="0"/>
              <a:t>submission</a:t>
            </a:r>
            <a:r>
              <a:rPr lang="ru-RU" dirty="0" smtClean="0"/>
              <a:t>. На </a:t>
            </a:r>
            <a:r>
              <a:rPr lang="ru-RU" dirty="0" err="1" smtClean="0"/>
              <a:t>macOS</a:t>
            </a:r>
            <a:r>
              <a:rPr lang="ru-RU" dirty="0" smtClean="0"/>
              <a:t> отличие составило один пиксель. Повторный GPU-</a:t>
            </a:r>
            <a:r>
              <a:rPr lang="ru-RU" dirty="0" err="1" smtClean="0"/>
              <a:t>инференс</a:t>
            </a:r>
            <a:r>
              <a:rPr lang="ru-RU" dirty="0" smtClean="0"/>
              <a:t> занимает 22–24 секунды, холодный запуск — до 42 секунд, CPU-</a:t>
            </a:r>
            <a:r>
              <a:rPr lang="ru-RU" dirty="0" err="1" smtClean="0"/>
              <a:t>инференс</a:t>
            </a:r>
            <a:r>
              <a:rPr lang="ru-RU" dirty="0" smtClean="0"/>
              <a:t> — 57 секунд. Главное ограничение связано с локализацией события: в тестовых данных центр пожара скрыт, а в рабочем сервисе его предоставляет модуль </a:t>
            </a:r>
            <a:r>
              <a:rPr lang="ru-RU" dirty="0" err="1" smtClean="0"/>
              <a:t>Active</a:t>
            </a:r>
            <a:r>
              <a:rPr lang="ru-RU" dirty="0" smtClean="0"/>
              <a:t> </a:t>
            </a:r>
            <a:r>
              <a:rPr lang="ru-RU" dirty="0" err="1" smtClean="0"/>
              <a:t>Fire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A92808-7C82-4144-82C2-2DDF3C877372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43757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В результате мы собрали полный </a:t>
            </a:r>
            <a:r>
              <a:rPr lang="ru-RU" dirty="0" err="1" smtClean="0"/>
              <a:t>pipeline</a:t>
            </a:r>
            <a:r>
              <a:rPr lang="ru-RU" dirty="0" smtClean="0"/>
              <a:t>: от обнаружения активного горения до оценки площади и степени поражения с выводом на карту и через REST API. Решение получило </a:t>
            </a:r>
            <a:r>
              <a:rPr lang="ru-RU" dirty="0" err="1" smtClean="0"/>
              <a:t>Public</a:t>
            </a:r>
            <a:r>
              <a:rPr lang="ru-RU" dirty="0" smtClean="0"/>
              <a:t> </a:t>
            </a:r>
            <a:r>
              <a:rPr lang="ru-RU" dirty="0" err="1" smtClean="0"/>
              <a:t>Score</a:t>
            </a:r>
            <a:r>
              <a:rPr lang="ru-RU" dirty="0" smtClean="0"/>
              <a:t> 0,8314, выполняет повторный GPU-</a:t>
            </a:r>
            <a:r>
              <a:rPr lang="ru-RU" dirty="0" err="1" smtClean="0"/>
              <a:t>инференс</a:t>
            </a:r>
            <a:r>
              <a:rPr lang="ru-RU" dirty="0" smtClean="0"/>
              <a:t> за 22–24 секунды и воспроизводится в четырёх средах с расхождением не более одного пикселя. Спасибо за внимание, готовы ответить на вопросы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A92808-7C82-4144-82C2-2DDF3C877372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84995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758" y="0"/>
                </a:moveTo>
                <a:lnTo>
                  <a:pt x="0" y="0"/>
                </a:lnTo>
                <a:lnTo>
                  <a:pt x="0" y="6858000"/>
                </a:lnTo>
                <a:lnTo>
                  <a:pt x="12191758" y="6858000"/>
                </a:lnTo>
                <a:lnTo>
                  <a:pt x="12191758" y="0"/>
                </a:lnTo>
                <a:close/>
              </a:path>
            </a:pathLst>
          </a:custGeom>
          <a:solidFill>
            <a:srgbClr val="13161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4900" y="1666057"/>
            <a:ext cx="6539230" cy="21755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1E2836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800" b="1" i="0">
                <a:solidFill>
                  <a:srgbClr val="C1400B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9BA2AE"/>
                </a:solidFill>
                <a:latin typeface="Segoe UI"/>
                <a:cs typeface="Segoe UI"/>
              </a:defRPr>
            </a:lvl1pPr>
          </a:lstStyle>
          <a:p>
            <a:pPr marL="94615">
              <a:lnSpc>
                <a:spcPct val="100000"/>
              </a:lnSpc>
              <a:spcBef>
                <a:spcPts val="190"/>
              </a:spcBef>
            </a:pPr>
            <a:r>
              <a:rPr dirty="0">
                <a:solidFill>
                  <a:srgbClr val="D0D4DA"/>
                </a:solidFill>
              </a:rPr>
              <a:t>SAMARKAND</a:t>
            </a:r>
            <a:r>
              <a:rPr spc="-40" dirty="0">
                <a:solidFill>
                  <a:srgbClr val="D0D4DA"/>
                </a:solidFill>
              </a:rPr>
              <a:t> </a:t>
            </a:r>
            <a:r>
              <a:rPr dirty="0">
                <a:solidFill>
                  <a:srgbClr val="D0D4DA"/>
                </a:solidFill>
              </a:rPr>
              <a:t>·</a:t>
            </a:r>
            <a:r>
              <a:rPr spc="-35" dirty="0">
                <a:solidFill>
                  <a:srgbClr val="D0D4DA"/>
                </a:solidFill>
              </a:rPr>
              <a:t> </a:t>
            </a:r>
            <a:r>
              <a:rPr dirty="0">
                <a:solidFill>
                  <a:srgbClr val="D0D4DA"/>
                </a:solidFill>
              </a:rPr>
              <a:t>КосмоХакатон</a:t>
            </a:r>
            <a:r>
              <a:rPr spc="-35" dirty="0">
                <a:solidFill>
                  <a:srgbClr val="D0D4DA"/>
                </a:solidFill>
              </a:rPr>
              <a:t> </a:t>
            </a:r>
            <a:r>
              <a:rPr dirty="0">
                <a:solidFill>
                  <a:srgbClr val="D0D4DA"/>
                </a:solidFill>
              </a:rPr>
              <a:t>2026</a:t>
            </a:r>
            <a:r>
              <a:rPr spc="-35" dirty="0">
                <a:solidFill>
                  <a:srgbClr val="D0D4DA"/>
                </a:solidFill>
              </a:rPr>
              <a:t> </a:t>
            </a:r>
            <a:r>
              <a:rPr dirty="0">
                <a:solidFill>
                  <a:srgbClr val="D0D4DA"/>
                </a:solidFill>
              </a:rPr>
              <a:t>·</a:t>
            </a:r>
            <a:r>
              <a:rPr spc="-30" dirty="0">
                <a:solidFill>
                  <a:srgbClr val="D0D4DA"/>
                </a:solidFill>
              </a:rPr>
              <a:t> </a:t>
            </a:r>
            <a:fld id="{81D60167-4931-47E6-BA6A-407CBD079E47}" type="slidenum">
              <a:rPr spc="-20" dirty="0">
                <a:solidFill>
                  <a:srgbClr val="D0D4DA"/>
                </a:solidFill>
              </a:rPr>
              <a:t>‹#›</a:t>
            </a:fld>
            <a:r>
              <a:rPr spc="-20" dirty="0">
                <a:solidFill>
                  <a:srgbClr val="D0D4DA"/>
                </a:solidFill>
              </a:rPr>
              <a:t>/10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1E2836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8800" b="1" i="0">
                <a:solidFill>
                  <a:srgbClr val="C1400B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9BA2AE"/>
                </a:solidFill>
                <a:latin typeface="Segoe UI"/>
                <a:cs typeface="Segoe UI"/>
              </a:defRPr>
            </a:lvl1pPr>
          </a:lstStyle>
          <a:p>
            <a:pPr marL="94615">
              <a:lnSpc>
                <a:spcPct val="100000"/>
              </a:lnSpc>
              <a:spcBef>
                <a:spcPts val="190"/>
              </a:spcBef>
            </a:pPr>
            <a:r>
              <a:rPr dirty="0">
                <a:solidFill>
                  <a:srgbClr val="D0D4DA"/>
                </a:solidFill>
              </a:rPr>
              <a:t>SAMARKAND</a:t>
            </a:r>
            <a:r>
              <a:rPr spc="-40" dirty="0">
                <a:solidFill>
                  <a:srgbClr val="D0D4DA"/>
                </a:solidFill>
              </a:rPr>
              <a:t> </a:t>
            </a:r>
            <a:r>
              <a:rPr dirty="0">
                <a:solidFill>
                  <a:srgbClr val="D0D4DA"/>
                </a:solidFill>
              </a:rPr>
              <a:t>·</a:t>
            </a:r>
            <a:r>
              <a:rPr spc="-35" dirty="0">
                <a:solidFill>
                  <a:srgbClr val="D0D4DA"/>
                </a:solidFill>
              </a:rPr>
              <a:t> </a:t>
            </a:r>
            <a:r>
              <a:rPr dirty="0">
                <a:solidFill>
                  <a:srgbClr val="D0D4DA"/>
                </a:solidFill>
              </a:rPr>
              <a:t>КосмоХакатон</a:t>
            </a:r>
            <a:r>
              <a:rPr spc="-35" dirty="0">
                <a:solidFill>
                  <a:srgbClr val="D0D4DA"/>
                </a:solidFill>
              </a:rPr>
              <a:t> </a:t>
            </a:r>
            <a:r>
              <a:rPr dirty="0">
                <a:solidFill>
                  <a:srgbClr val="D0D4DA"/>
                </a:solidFill>
              </a:rPr>
              <a:t>2026</a:t>
            </a:r>
            <a:r>
              <a:rPr spc="-35" dirty="0">
                <a:solidFill>
                  <a:srgbClr val="D0D4DA"/>
                </a:solidFill>
              </a:rPr>
              <a:t> </a:t>
            </a:r>
            <a:r>
              <a:rPr dirty="0">
                <a:solidFill>
                  <a:srgbClr val="D0D4DA"/>
                </a:solidFill>
              </a:rPr>
              <a:t>·</a:t>
            </a:r>
            <a:r>
              <a:rPr spc="-30" dirty="0">
                <a:solidFill>
                  <a:srgbClr val="D0D4DA"/>
                </a:solidFill>
              </a:rPr>
              <a:t> </a:t>
            </a:r>
            <a:fld id="{81D60167-4931-47E6-BA6A-407CBD079E47}" type="slidenum">
              <a:rPr spc="-20" dirty="0">
                <a:solidFill>
                  <a:srgbClr val="D0D4DA"/>
                </a:solidFill>
              </a:rPr>
              <a:t>‹#›</a:t>
            </a:fld>
            <a:r>
              <a:rPr spc="-20" dirty="0">
                <a:solidFill>
                  <a:srgbClr val="D0D4DA"/>
                </a:solidFill>
              </a:rPr>
              <a:t>/10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1E2836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9BA2AE"/>
                </a:solidFill>
                <a:latin typeface="Segoe UI"/>
                <a:cs typeface="Segoe UI"/>
              </a:defRPr>
            </a:lvl1pPr>
          </a:lstStyle>
          <a:p>
            <a:pPr marL="94615">
              <a:lnSpc>
                <a:spcPct val="100000"/>
              </a:lnSpc>
              <a:spcBef>
                <a:spcPts val="190"/>
              </a:spcBef>
            </a:pPr>
            <a:r>
              <a:rPr dirty="0">
                <a:solidFill>
                  <a:srgbClr val="D0D4DA"/>
                </a:solidFill>
              </a:rPr>
              <a:t>SAMARKAND</a:t>
            </a:r>
            <a:r>
              <a:rPr spc="-40" dirty="0">
                <a:solidFill>
                  <a:srgbClr val="D0D4DA"/>
                </a:solidFill>
              </a:rPr>
              <a:t> </a:t>
            </a:r>
            <a:r>
              <a:rPr dirty="0">
                <a:solidFill>
                  <a:srgbClr val="D0D4DA"/>
                </a:solidFill>
              </a:rPr>
              <a:t>·</a:t>
            </a:r>
            <a:r>
              <a:rPr spc="-35" dirty="0">
                <a:solidFill>
                  <a:srgbClr val="D0D4DA"/>
                </a:solidFill>
              </a:rPr>
              <a:t> </a:t>
            </a:r>
            <a:r>
              <a:rPr dirty="0">
                <a:solidFill>
                  <a:srgbClr val="D0D4DA"/>
                </a:solidFill>
              </a:rPr>
              <a:t>КосмоХакатон</a:t>
            </a:r>
            <a:r>
              <a:rPr spc="-35" dirty="0">
                <a:solidFill>
                  <a:srgbClr val="D0D4DA"/>
                </a:solidFill>
              </a:rPr>
              <a:t> </a:t>
            </a:r>
            <a:r>
              <a:rPr dirty="0">
                <a:solidFill>
                  <a:srgbClr val="D0D4DA"/>
                </a:solidFill>
              </a:rPr>
              <a:t>2026</a:t>
            </a:r>
            <a:r>
              <a:rPr spc="-35" dirty="0">
                <a:solidFill>
                  <a:srgbClr val="D0D4DA"/>
                </a:solidFill>
              </a:rPr>
              <a:t> </a:t>
            </a:r>
            <a:r>
              <a:rPr dirty="0">
                <a:solidFill>
                  <a:srgbClr val="D0D4DA"/>
                </a:solidFill>
              </a:rPr>
              <a:t>·</a:t>
            </a:r>
            <a:r>
              <a:rPr spc="-30" dirty="0">
                <a:solidFill>
                  <a:srgbClr val="D0D4DA"/>
                </a:solidFill>
              </a:rPr>
              <a:t> </a:t>
            </a:r>
            <a:fld id="{81D60167-4931-47E6-BA6A-407CBD079E47}" type="slidenum">
              <a:rPr spc="-20" dirty="0">
                <a:solidFill>
                  <a:srgbClr val="D0D4DA"/>
                </a:solidFill>
              </a:rPr>
              <a:t>‹#›</a:t>
            </a:fld>
            <a:r>
              <a:rPr spc="-20" dirty="0">
                <a:solidFill>
                  <a:srgbClr val="D0D4DA"/>
                </a:solidFill>
              </a:rPr>
              <a:t>/10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1E2836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9BA2AE"/>
                </a:solidFill>
                <a:latin typeface="Segoe UI"/>
                <a:cs typeface="Segoe UI"/>
              </a:defRPr>
            </a:lvl1pPr>
          </a:lstStyle>
          <a:p>
            <a:pPr marL="94615">
              <a:lnSpc>
                <a:spcPct val="100000"/>
              </a:lnSpc>
              <a:spcBef>
                <a:spcPts val="190"/>
              </a:spcBef>
            </a:pPr>
            <a:r>
              <a:rPr dirty="0">
                <a:solidFill>
                  <a:srgbClr val="D0D4DA"/>
                </a:solidFill>
              </a:rPr>
              <a:t>SAMARKAND</a:t>
            </a:r>
            <a:r>
              <a:rPr spc="-40" dirty="0">
                <a:solidFill>
                  <a:srgbClr val="D0D4DA"/>
                </a:solidFill>
              </a:rPr>
              <a:t> </a:t>
            </a:r>
            <a:r>
              <a:rPr dirty="0">
                <a:solidFill>
                  <a:srgbClr val="D0D4DA"/>
                </a:solidFill>
              </a:rPr>
              <a:t>·</a:t>
            </a:r>
            <a:r>
              <a:rPr spc="-35" dirty="0">
                <a:solidFill>
                  <a:srgbClr val="D0D4DA"/>
                </a:solidFill>
              </a:rPr>
              <a:t> </a:t>
            </a:r>
            <a:r>
              <a:rPr dirty="0">
                <a:solidFill>
                  <a:srgbClr val="D0D4DA"/>
                </a:solidFill>
              </a:rPr>
              <a:t>КосмоХакатон</a:t>
            </a:r>
            <a:r>
              <a:rPr spc="-35" dirty="0">
                <a:solidFill>
                  <a:srgbClr val="D0D4DA"/>
                </a:solidFill>
              </a:rPr>
              <a:t> </a:t>
            </a:r>
            <a:r>
              <a:rPr dirty="0">
                <a:solidFill>
                  <a:srgbClr val="D0D4DA"/>
                </a:solidFill>
              </a:rPr>
              <a:t>2026</a:t>
            </a:r>
            <a:r>
              <a:rPr spc="-35" dirty="0">
                <a:solidFill>
                  <a:srgbClr val="D0D4DA"/>
                </a:solidFill>
              </a:rPr>
              <a:t> </a:t>
            </a:r>
            <a:r>
              <a:rPr dirty="0">
                <a:solidFill>
                  <a:srgbClr val="D0D4DA"/>
                </a:solidFill>
              </a:rPr>
              <a:t>·</a:t>
            </a:r>
            <a:r>
              <a:rPr spc="-30" dirty="0">
                <a:solidFill>
                  <a:srgbClr val="D0D4DA"/>
                </a:solidFill>
              </a:rPr>
              <a:t> </a:t>
            </a:r>
            <a:fld id="{81D60167-4931-47E6-BA6A-407CBD079E47}" type="slidenum">
              <a:rPr spc="-20" dirty="0">
                <a:solidFill>
                  <a:srgbClr val="D0D4DA"/>
                </a:solidFill>
              </a:rPr>
              <a:t>‹#›</a:t>
            </a:fld>
            <a:r>
              <a:rPr spc="-20" dirty="0">
                <a:solidFill>
                  <a:srgbClr val="D0D4DA"/>
                </a:solidFill>
              </a:rPr>
              <a:t>/10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9BA2AE"/>
                </a:solidFill>
                <a:latin typeface="Segoe UI"/>
                <a:cs typeface="Segoe UI"/>
              </a:defRPr>
            </a:lvl1pPr>
          </a:lstStyle>
          <a:p>
            <a:pPr marL="94615">
              <a:lnSpc>
                <a:spcPct val="100000"/>
              </a:lnSpc>
              <a:spcBef>
                <a:spcPts val="190"/>
              </a:spcBef>
            </a:pPr>
            <a:r>
              <a:rPr dirty="0">
                <a:solidFill>
                  <a:srgbClr val="D0D4DA"/>
                </a:solidFill>
              </a:rPr>
              <a:t>SAMARKAND</a:t>
            </a:r>
            <a:r>
              <a:rPr spc="-40" dirty="0">
                <a:solidFill>
                  <a:srgbClr val="D0D4DA"/>
                </a:solidFill>
              </a:rPr>
              <a:t> </a:t>
            </a:r>
            <a:r>
              <a:rPr dirty="0">
                <a:solidFill>
                  <a:srgbClr val="D0D4DA"/>
                </a:solidFill>
              </a:rPr>
              <a:t>·</a:t>
            </a:r>
            <a:r>
              <a:rPr spc="-35" dirty="0">
                <a:solidFill>
                  <a:srgbClr val="D0D4DA"/>
                </a:solidFill>
              </a:rPr>
              <a:t> </a:t>
            </a:r>
            <a:r>
              <a:rPr dirty="0">
                <a:solidFill>
                  <a:srgbClr val="D0D4DA"/>
                </a:solidFill>
              </a:rPr>
              <a:t>КосмоХакатон</a:t>
            </a:r>
            <a:r>
              <a:rPr spc="-35" dirty="0">
                <a:solidFill>
                  <a:srgbClr val="D0D4DA"/>
                </a:solidFill>
              </a:rPr>
              <a:t> </a:t>
            </a:r>
            <a:r>
              <a:rPr dirty="0">
                <a:solidFill>
                  <a:srgbClr val="D0D4DA"/>
                </a:solidFill>
              </a:rPr>
              <a:t>2026</a:t>
            </a:r>
            <a:r>
              <a:rPr spc="-35" dirty="0">
                <a:solidFill>
                  <a:srgbClr val="D0D4DA"/>
                </a:solidFill>
              </a:rPr>
              <a:t> </a:t>
            </a:r>
            <a:r>
              <a:rPr dirty="0">
                <a:solidFill>
                  <a:srgbClr val="D0D4DA"/>
                </a:solidFill>
              </a:rPr>
              <a:t>·</a:t>
            </a:r>
            <a:r>
              <a:rPr spc="-30" dirty="0">
                <a:solidFill>
                  <a:srgbClr val="D0D4DA"/>
                </a:solidFill>
              </a:rPr>
              <a:t> </a:t>
            </a:r>
            <a:fld id="{81D60167-4931-47E6-BA6A-407CBD079E47}" type="slidenum">
              <a:rPr spc="-20" dirty="0">
                <a:solidFill>
                  <a:srgbClr val="D0D4DA"/>
                </a:solidFill>
              </a:rPr>
              <a:t>‹#›</a:t>
            </a:fld>
            <a:r>
              <a:rPr spc="-20" dirty="0">
                <a:solidFill>
                  <a:srgbClr val="D0D4DA"/>
                </a:solidFill>
              </a:rPr>
              <a:t>/10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9501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758" y="0"/>
                </a:moveTo>
                <a:lnTo>
                  <a:pt x="0" y="0"/>
                </a:lnTo>
                <a:lnTo>
                  <a:pt x="0" y="6858000"/>
                </a:lnTo>
                <a:lnTo>
                  <a:pt x="12191758" y="6858000"/>
                </a:lnTo>
                <a:lnTo>
                  <a:pt x="12191758" y="0"/>
                </a:lnTo>
                <a:close/>
              </a:path>
            </a:pathLst>
          </a:custGeom>
          <a:solidFill>
            <a:srgbClr val="FAF9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45375" y="416775"/>
            <a:ext cx="10587355" cy="1122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1E2836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406095" y="1069900"/>
            <a:ext cx="4899659" cy="321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800" b="1" i="0">
                <a:solidFill>
                  <a:srgbClr val="C1400B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606776" y="6394405"/>
            <a:ext cx="2934500" cy="2279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9BA2AE"/>
                </a:solidFill>
                <a:latin typeface="Segoe UI"/>
                <a:cs typeface="Segoe UI"/>
              </a:defRPr>
            </a:lvl1pPr>
          </a:lstStyle>
          <a:p>
            <a:pPr marL="94615">
              <a:lnSpc>
                <a:spcPct val="100000"/>
              </a:lnSpc>
              <a:spcBef>
                <a:spcPts val="190"/>
              </a:spcBef>
            </a:pPr>
            <a:r>
              <a:rPr dirty="0">
                <a:solidFill>
                  <a:srgbClr val="D0D4DA"/>
                </a:solidFill>
              </a:rPr>
              <a:t>SAMARKAND</a:t>
            </a:r>
            <a:r>
              <a:rPr spc="-40" dirty="0">
                <a:solidFill>
                  <a:srgbClr val="D0D4DA"/>
                </a:solidFill>
              </a:rPr>
              <a:t> </a:t>
            </a:r>
            <a:r>
              <a:rPr dirty="0">
                <a:solidFill>
                  <a:srgbClr val="D0D4DA"/>
                </a:solidFill>
              </a:rPr>
              <a:t>·</a:t>
            </a:r>
            <a:r>
              <a:rPr spc="-35" dirty="0">
                <a:solidFill>
                  <a:srgbClr val="D0D4DA"/>
                </a:solidFill>
              </a:rPr>
              <a:t> </a:t>
            </a:r>
            <a:r>
              <a:rPr dirty="0">
                <a:solidFill>
                  <a:srgbClr val="D0D4DA"/>
                </a:solidFill>
              </a:rPr>
              <a:t>КосмоХакатон</a:t>
            </a:r>
            <a:r>
              <a:rPr spc="-35" dirty="0">
                <a:solidFill>
                  <a:srgbClr val="D0D4DA"/>
                </a:solidFill>
              </a:rPr>
              <a:t> </a:t>
            </a:r>
            <a:r>
              <a:rPr dirty="0">
                <a:solidFill>
                  <a:srgbClr val="D0D4DA"/>
                </a:solidFill>
              </a:rPr>
              <a:t>2026</a:t>
            </a:r>
            <a:r>
              <a:rPr spc="-35" dirty="0">
                <a:solidFill>
                  <a:srgbClr val="D0D4DA"/>
                </a:solidFill>
              </a:rPr>
              <a:t> </a:t>
            </a:r>
            <a:r>
              <a:rPr dirty="0">
                <a:solidFill>
                  <a:srgbClr val="D0D4DA"/>
                </a:solidFill>
              </a:rPr>
              <a:t>·</a:t>
            </a:r>
            <a:r>
              <a:rPr spc="-30" dirty="0">
                <a:solidFill>
                  <a:srgbClr val="D0D4DA"/>
                </a:solidFill>
              </a:rPr>
              <a:t> </a:t>
            </a:r>
            <a:fld id="{81D60167-4931-47E6-BA6A-407CBD079E47}" type="slidenum">
              <a:rPr spc="-20" dirty="0">
                <a:solidFill>
                  <a:srgbClr val="D0D4DA"/>
                </a:solidFill>
              </a:rPr>
              <a:t>‹#›</a:t>
            </a:fld>
            <a:r>
              <a:rPr spc="-20" dirty="0">
                <a:solidFill>
                  <a:srgbClr val="D0D4DA"/>
                </a:solidFill>
              </a:rPr>
              <a:t>/10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91758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28255" y="1559775"/>
            <a:ext cx="10422255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FFFFFF"/>
                </a:solidFill>
              </a:rPr>
              <a:t>Пожар</a:t>
            </a:r>
            <a:r>
              <a:rPr sz="4000" spc="-105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виден</a:t>
            </a:r>
            <a:r>
              <a:rPr sz="4000" spc="-100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из</a:t>
            </a:r>
            <a:r>
              <a:rPr sz="4000" spc="-100" dirty="0">
                <a:solidFill>
                  <a:srgbClr val="FFFFFF"/>
                </a:solidFill>
              </a:rPr>
              <a:t> </a:t>
            </a:r>
            <a:r>
              <a:rPr sz="4000" spc="-10" dirty="0">
                <a:solidFill>
                  <a:srgbClr val="FFFFFF"/>
                </a:solidFill>
              </a:rPr>
              <a:t>космоса.</a:t>
            </a:r>
            <a:r>
              <a:rPr sz="4000" spc="-95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Мы</a:t>
            </a:r>
            <a:r>
              <a:rPr sz="4000" spc="-105" dirty="0">
                <a:solidFill>
                  <a:srgbClr val="FFFFFF"/>
                </a:solidFill>
              </a:rPr>
              <a:t> </a:t>
            </a:r>
            <a:r>
              <a:rPr sz="4000" spc="-10" dirty="0">
                <a:solidFill>
                  <a:srgbClr val="FFFFFF"/>
                </a:solidFill>
              </a:rPr>
              <a:t>убираем </a:t>
            </a:r>
            <a:r>
              <a:rPr sz="4000" dirty="0">
                <a:solidFill>
                  <a:srgbClr val="FFFFFF"/>
                </a:solidFill>
              </a:rPr>
              <a:t>ложные</a:t>
            </a:r>
            <a:r>
              <a:rPr sz="4000" spc="-130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тревоги</a:t>
            </a:r>
            <a:r>
              <a:rPr sz="4000" spc="-125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и</a:t>
            </a:r>
            <a:r>
              <a:rPr sz="4000" spc="-125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считаем</a:t>
            </a:r>
            <a:r>
              <a:rPr sz="4000" spc="-125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площадь</a:t>
            </a:r>
            <a:r>
              <a:rPr sz="4000" spc="-125" dirty="0">
                <a:solidFill>
                  <a:srgbClr val="FFFFFF"/>
                </a:solidFill>
              </a:rPr>
              <a:t> </a:t>
            </a:r>
            <a:r>
              <a:rPr sz="4000" spc="-20" dirty="0">
                <a:solidFill>
                  <a:srgbClr val="FFFFFF"/>
                </a:solidFill>
              </a:rPr>
              <a:t>гари</a:t>
            </a:r>
            <a:endParaRPr sz="4000"/>
          </a:p>
        </p:txBody>
      </p:sp>
      <p:sp>
        <p:nvSpPr>
          <p:cNvPr id="7" name="object 7"/>
          <p:cNvSpPr txBox="1"/>
          <p:nvPr/>
        </p:nvSpPr>
        <p:spPr>
          <a:xfrm>
            <a:off x="828255" y="4120095"/>
            <a:ext cx="972375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200" dirty="0" err="1">
                <a:solidFill>
                  <a:srgbClr val="E4E6EA"/>
                </a:solidFill>
                <a:latin typeface="Segoe UI"/>
                <a:cs typeface="Segoe UI"/>
              </a:rPr>
              <a:t>Команда</a:t>
            </a:r>
            <a:r>
              <a:rPr sz="2200" spc="-55" dirty="0">
                <a:solidFill>
                  <a:srgbClr val="E4E6EA"/>
                </a:solidFill>
                <a:latin typeface="Segoe UI"/>
                <a:cs typeface="Segoe UI"/>
              </a:rPr>
              <a:t> </a:t>
            </a:r>
            <a:r>
              <a:rPr sz="2200" dirty="0" smtClean="0">
                <a:solidFill>
                  <a:srgbClr val="E4E6EA"/>
                </a:solidFill>
                <a:latin typeface="Segoe UI"/>
                <a:cs typeface="Segoe UI"/>
              </a:rPr>
              <a:t>SAMARKAND</a:t>
            </a:r>
            <a:r>
              <a:rPr lang="en-US" sz="2200" spc="-60" dirty="0">
                <a:solidFill>
                  <a:srgbClr val="E4E6EA"/>
                </a:solidFill>
                <a:latin typeface="Segoe UI"/>
                <a:cs typeface="Segoe UI"/>
              </a:rPr>
              <a:t> </a:t>
            </a:r>
            <a:r>
              <a:rPr lang="ru-RU" sz="2200" spc="-60" dirty="0" smtClean="0">
                <a:solidFill>
                  <a:srgbClr val="E4E6EA"/>
                </a:solidFill>
                <a:latin typeface="Segoe UI"/>
                <a:cs typeface="Segoe UI"/>
              </a:rPr>
              <a:t>РТУ-МИРЭА </a:t>
            </a:r>
            <a:r>
              <a:rPr sz="2200" dirty="0" smtClean="0">
                <a:solidFill>
                  <a:srgbClr val="E4E6EA"/>
                </a:solidFill>
                <a:latin typeface="Segoe UI"/>
                <a:cs typeface="Segoe UI"/>
              </a:rPr>
              <a:t>·</a:t>
            </a:r>
            <a:r>
              <a:rPr sz="2200" spc="-50" dirty="0" smtClean="0">
                <a:solidFill>
                  <a:srgbClr val="E4E6EA"/>
                </a:solidFill>
                <a:latin typeface="Segoe UI"/>
                <a:cs typeface="Segoe UI"/>
              </a:rPr>
              <a:t> </a:t>
            </a:r>
            <a:r>
              <a:rPr sz="2200" spc="-10" dirty="0">
                <a:solidFill>
                  <a:srgbClr val="E4E6EA"/>
                </a:solidFill>
                <a:latin typeface="Segoe UI"/>
                <a:cs typeface="Segoe UI"/>
              </a:rPr>
              <a:t>КосмоХакатон</a:t>
            </a:r>
            <a:r>
              <a:rPr sz="2200" spc="-55" dirty="0">
                <a:solidFill>
                  <a:srgbClr val="E4E6EA"/>
                </a:solidFill>
                <a:latin typeface="Segoe UI"/>
                <a:cs typeface="Segoe UI"/>
              </a:rPr>
              <a:t> </a:t>
            </a:r>
            <a:r>
              <a:rPr sz="2200" dirty="0">
                <a:solidFill>
                  <a:srgbClr val="E4E6EA"/>
                </a:solidFill>
                <a:latin typeface="Segoe UI"/>
                <a:cs typeface="Segoe UI"/>
              </a:rPr>
              <a:t>2026</a:t>
            </a:r>
            <a:r>
              <a:rPr sz="2200" spc="-55" dirty="0">
                <a:solidFill>
                  <a:srgbClr val="E4E6EA"/>
                </a:solidFill>
                <a:latin typeface="Segoe UI"/>
                <a:cs typeface="Segoe UI"/>
              </a:rPr>
              <a:t> </a:t>
            </a:r>
            <a:r>
              <a:rPr sz="2200" dirty="0">
                <a:solidFill>
                  <a:srgbClr val="E4E6EA"/>
                </a:solidFill>
                <a:latin typeface="Segoe UI"/>
                <a:cs typeface="Segoe UI"/>
              </a:rPr>
              <a:t>·</a:t>
            </a:r>
            <a:r>
              <a:rPr sz="2200" spc="-50" dirty="0">
                <a:solidFill>
                  <a:srgbClr val="E4E6EA"/>
                </a:solidFill>
                <a:latin typeface="Segoe UI"/>
                <a:cs typeface="Segoe UI"/>
              </a:rPr>
              <a:t> </a:t>
            </a:r>
            <a:r>
              <a:rPr sz="2200" dirty="0">
                <a:solidFill>
                  <a:srgbClr val="E4E6EA"/>
                </a:solidFill>
                <a:latin typeface="Segoe UI"/>
                <a:cs typeface="Segoe UI"/>
              </a:rPr>
              <a:t>кейс</a:t>
            </a:r>
            <a:r>
              <a:rPr sz="2200" spc="-50" dirty="0">
                <a:solidFill>
                  <a:srgbClr val="E4E6EA"/>
                </a:solidFill>
                <a:latin typeface="Segoe UI"/>
                <a:cs typeface="Segoe UI"/>
              </a:rPr>
              <a:t> </a:t>
            </a:r>
            <a:r>
              <a:rPr sz="2200" dirty="0">
                <a:solidFill>
                  <a:srgbClr val="E4E6EA"/>
                </a:solidFill>
                <a:latin typeface="Segoe UI"/>
                <a:cs typeface="Segoe UI"/>
              </a:rPr>
              <a:t>„Мониторинг</a:t>
            </a:r>
            <a:r>
              <a:rPr sz="2200" spc="-60" dirty="0">
                <a:solidFill>
                  <a:srgbClr val="E4E6EA"/>
                </a:solidFill>
                <a:latin typeface="Segoe UI"/>
                <a:cs typeface="Segoe UI"/>
              </a:rPr>
              <a:t> </a:t>
            </a:r>
            <a:r>
              <a:rPr sz="2200" spc="-10" dirty="0">
                <a:solidFill>
                  <a:srgbClr val="E4E6EA"/>
                </a:solidFill>
                <a:latin typeface="Segoe UI"/>
                <a:cs typeface="Segoe UI"/>
              </a:rPr>
              <a:t>природных пожаров"</a:t>
            </a:r>
            <a:endParaRPr sz="2200" dirty="0">
              <a:latin typeface="Segoe UI"/>
              <a:cs typeface="Segoe U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8255" y="5903175"/>
            <a:ext cx="460883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D0D4DA"/>
                </a:solidFill>
                <a:latin typeface="Segoe UI"/>
                <a:cs typeface="Segoe UI"/>
              </a:rPr>
              <a:t>Кашин</a:t>
            </a:r>
            <a:r>
              <a:rPr sz="1400" spc="-20" dirty="0">
                <a:solidFill>
                  <a:srgbClr val="D0D4DA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0D4DA"/>
                </a:solidFill>
                <a:latin typeface="Segoe UI"/>
                <a:cs typeface="Segoe UI"/>
              </a:rPr>
              <a:t>Г.,</a:t>
            </a:r>
            <a:r>
              <a:rPr sz="1400" spc="-30" dirty="0">
                <a:solidFill>
                  <a:srgbClr val="D0D4DA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0D4DA"/>
                </a:solidFill>
                <a:latin typeface="Segoe UI"/>
                <a:cs typeface="Segoe UI"/>
              </a:rPr>
              <a:t>Закон</a:t>
            </a:r>
            <a:r>
              <a:rPr sz="1400" spc="-20" dirty="0">
                <a:solidFill>
                  <a:srgbClr val="D0D4DA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0D4DA"/>
                </a:solidFill>
                <a:latin typeface="Segoe UI"/>
                <a:cs typeface="Segoe UI"/>
              </a:rPr>
              <a:t>М.,</a:t>
            </a:r>
            <a:r>
              <a:rPr sz="1400" spc="-30" dirty="0">
                <a:solidFill>
                  <a:srgbClr val="D0D4DA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0D4DA"/>
                </a:solidFill>
                <a:latin typeface="Segoe UI"/>
                <a:cs typeface="Segoe UI"/>
              </a:rPr>
              <a:t>Панин</a:t>
            </a:r>
            <a:r>
              <a:rPr sz="1400" spc="-15" dirty="0">
                <a:solidFill>
                  <a:srgbClr val="D0D4DA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0D4DA"/>
                </a:solidFill>
                <a:latin typeface="Segoe UI"/>
                <a:cs typeface="Segoe UI"/>
              </a:rPr>
              <a:t>М.,</a:t>
            </a:r>
            <a:r>
              <a:rPr sz="1400" spc="-30" dirty="0">
                <a:solidFill>
                  <a:srgbClr val="D0D4DA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0D4DA"/>
                </a:solidFill>
                <a:latin typeface="Segoe UI"/>
                <a:cs typeface="Segoe UI"/>
              </a:rPr>
              <a:t>Ожигов</a:t>
            </a:r>
            <a:r>
              <a:rPr sz="1400" spc="-30" dirty="0">
                <a:solidFill>
                  <a:srgbClr val="D0D4DA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0D4DA"/>
                </a:solidFill>
                <a:latin typeface="Segoe UI"/>
                <a:cs typeface="Segoe UI"/>
              </a:rPr>
              <a:t>Е.,</a:t>
            </a:r>
            <a:r>
              <a:rPr sz="1400" spc="-30" dirty="0">
                <a:solidFill>
                  <a:srgbClr val="D0D4DA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D0D4DA"/>
                </a:solidFill>
                <a:latin typeface="Segoe UI"/>
                <a:cs typeface="Segoe UI"/>
              </a:rPr>
              <a:t>Ведерников</a:t>
            </a:r>
            <a:r>
              <a:rPr sz="1400" spc="-25" dirty="0">
                <a:solidFill>
                  <a:srgbClr val="D0D4DA"/>
                </a:solidFill>
                <a:latin typeface="Segoe UI"/>
                <a:cs typeface="Segoe UI"/>
              </a:rPr>
              <a:t> Ф.</a:t>
            </a:r>
            <a:endParaRPr sz="14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5000" y="609601"/>
            <a:ext cx="12014200" cy="43685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algn="l">
              <a:lnSpc>
                <a:spcPct val="78850"/>
              </a:lnSpc>
            </a:pPr>
            <a:r>
              <a:rPr lang="en-US" sz="3000" b="1" spc="-60" dirty="0">
                <a:solidFill>
                  <a:srgbClr val="1212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Команда.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01053" y="4199298"/>
            <a:ext cx="1445895" cy="25169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 algn="ctr"/>
            <a:r>
              <a:rPr lang="en-US" sz="1500" b="1" dirty="0">
                <a:solidFill>
                  <a:srgbClr val="12121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Имя Фамилия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73551" y="4489090"/>
            <a:ext cx="900827" cy="223982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 algn="ctr"/>
            <a:r>
              <a:rPr lang="en-US" sz="1300" dirty="0">
                <a:solidFill>
                  <a:srgbClr val="6E6E78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Фронтенд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087053" y="4199298"/>
            <a:ext cx="1445895" cy="25169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 algn="ctr"/>
            <a:r>
              <a:rPr lang="en-US" sz="1500" b="1" dirty="0">
                <a:solidFill>
                  <a:srgbClr val="12121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Имя Фамилия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490696" y="4489090"/>
            <a:ext cx="638608" cy="223982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 algn="ctr"/>
            <a:r>
              <a:rPr lang="en-US" sz="1300" dirty="0">
                <a:solidFill>
                  <a:srgbClr val="6E6E78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Бэкенд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73053" y="4199298"/>
            <a:ext cx="1445895" cy="25169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 algn="ctr"/>
            <a:r>
              <a:rPr lang="en-US" sz="1500" b="1" dirty="0">
                <a:solidFill>
                  <a:srgbClr val="12121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Имя Фамилия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548868" y="4489090"/>
            <a:ext cx="1094264" cy="223982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 algn="ctr"/>
            <a:r>
              <a:rPr lang="en-US" sz="1300" dirty="0">
                <a:solidFill>
                  <a:srgbClr val="6E6E78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NLP и поиск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659053" y="4199298"/>
            <a:ext cx="1445895" cy="25169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 algn="ctr"/>
            <a:r>
              <a:rPr lang="en-US" sz="1500" b="1" dirty="0">
                <a:solidFill>
                  <a:srgbClr val="12121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Имя Фамилия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834869" y="4489090"/>
            <a:ext cx="1094264" cy="223982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 algn="ctr"/>
            <a:r>
              <a:rPr lang="en-US" sz="1300" dirty="0">
                <a:solidFill>
                  <a:srgbClr val="6E6E78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NLP и поиск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945053" y="4199298"/>
            <a:ext cx="1445895" cy="25169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 algn="ctr"/>
            <a:r>
              <a:rPr lang="en-US" sz="1500" b="1" dirty="0">
                <a:solidFill>
                  <a:srgbClr val="12121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Имя Фамилия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752330" y="4489090"/>
            <a:ext cx="1831340" cy="422563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 algn="ctr"/>
            <a:r>
              <a:rPr lang="en-US" sz="1300" dirty="0">
                <a:solidFill>
                  <a:srgbClr val="6E6E78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Данные и методика оценки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5000" y="6322292"/>
            <a:ext cx="3116501" cy="205509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 algn="l"/>
            <a:r>
              <a:rPr lang="en-US" sz="1200" dirty="0">
                <a:solidFill>
                  <a:srgbClr val="6E6E78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ИИ-поддержка Портала поставщиков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071731" y="6294582"/>
            <a:ext cx="536070" cy="233218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algn="l"/>
            <a:r>
              <a:rPr lang="en-US" sz="1200" b="1" dirty="0">
                <a:solidFill>
                  <a:srgbClr val="1212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 / 12</a:t>
            </a:r>
            <a:endParaRPr lang="en-US" sz="1200" dirty="0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BDA4A44E-1437-201A-8804-CF862C746E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4" y="0"/>
            <a:ext cx="12185522" cy="6858000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98" y="0"/>
            <a:ext cx="12197684" cy="693230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21483" y="304800"/>
            <a:ext cx="643781" cy="6477000"/>
          </a:xfrm>
          <a:prstGeom prst="rect">
            <a:avLst/>
          </a:prstGeom>
        </p:spPr>
      </p:pic>
      <p:pic>
        <p:nvPicPr>
          <p:cNvPr id="17" name="Рисунок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395222"/>
            <a:ext cx="7716327" cy="2467319"/>
          </a:xfrm>
          <a:prstGeom prst="rect">
            <a:avLst/>
          </a:prstGeom>
        </p:spPr>
      </p:pic>
      <p:sp>
        <p:nvSpPr>
          <p:cNvPr id="19" name="object 2" descr="$PPTXTitle"/>
          <p:cNvSpPr txBox="1">
            <a:spLocks/>
          </p:cNvSpPr>
          <p:nvPr/>
        </p:nvSpPr>
        <p:spPr>
          <a:xfrm>
            <a:off x="635000" y="1482283"/>
            <a:ext cx="1038669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ru-RU" sz="3600" b="1" dirty="0">
                <a:solidFill>
                  <a:srgbClr val="1E2836"/>
                </a:solidFill>
                <a:latin typeface="Segoe UI"/>
                <a:cs typeface="Segoe UI"/>
              </a:rPr>
              <a:t>Наша команда</a:t>
            </a:r>
            <a:endParaRPr lang="ru-RU" sz="3600" b="1" dirty="0">
              <a:solidFill>
                <a:srgbClr val="1E2836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790213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5375" y="416775"/>
            <a:ext cx="103866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dirty="0"/>
              <a:t>Где сегодня теряется время</a:t>
            </a:r>
            <a:endParaRPr spc="-10" dirty="0"/>
          </a:p>
        </p:txBody>
      </p:sp>
      <p:sp>
        <p:nvSpPr>
          <p:cNvPr id="6" name="object 6"/>
          <p:cNvSpPr txBox="1"/>
          <p:nvPr/>
        </p:nvSpPr>
        <p:spPr>
          <a:xfrm>
            <a:off x="828255" y="1069900"/>
            <a:ext cx="3872229" cy="3213100"/>
          </a:xfrm>
          <a:prstGeom prst="rect">
            <a:avLst/>
          </a:prstGeom>
        </p:spPr>
        <p:txBody>
          <a:bodyPr vert="horz" wrap="square" lIns="0" tIns="6851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5395"/>
              </a:spcBef>
            </a:pPr>
            <a:r>
              <a:rPr sz="8800" b="1" dirty="0" smtClean="0">
                <a:solidFill>
                  <a:srgbClr val="C1400B"/>
                </a:solidFill>
                <a:latin typeface="Segoe UI"/>
                <a:cs typeface="Segoe UI"/>
              </a:rPr>
              <a:t>&gt;50</a:t>
            </a:r>
            <a:r>
              <a:rPr sz="8800" b="1" spc="-190" dirty="0" smtClean="0">
                <a:solidFill>
                  <a:srgbClr val="C1400B"/>
                </a:solidFill>
                <a:latin typeface="Segoe UI"/>
                <a:cs typeface="Segoe UI"/>
              </a:rPr>
              <a:t> </a:t>
            </a:r>
            <a:r>
              <a:rPr sz="8800" b="1" spc="-50" dirty="0" smtClean="0">
                <a:solidFill>
                  <a:srgbClr val="C1400B"/>
                </a:solidFill>
                <a:latin typeface="Segoe UI"/>
                <a:cs typeface="Segoe UI"/>
              </a:rPr>
              <a:t>%</a:t>
            </a:r>
            <a:endParaRPr sz="8800" dirty="0" smtClean="0">
              <a:latin typeface="Segoe UI"/>
              <a:cs typeface="Segoe UI"/>
            </a:endParaRPr>
          </a:p>
          <a:p>
            <a:pPr marL="12700" marR="5080" algn="just">
              <a:lnSpc>
                <a:spcPct val="100000"/>
              </a:lnSpc>
              <a:spcBef>
                <a:spcPts val="1325"/>
              </a:spcBef>
            </a:pPr>
            <a:r>
              <a:rPr sz="2200" dirty="0" err="1" smtClean="0">
                <a:solidFill>
                  <a:srgbClr val="4A5462"/>
                </a:solidFill>
                <a:latin typeface="Segoe UI"/>
                <a:cs typeface="Segoe UI"/>
              </a:rPr>
              <a:t>термоточек</a:t>
            </a:r>
            <a:r>
              <a:rPr sz="2200" spc="-40" dirty="0" smtClean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2200" dirty="0" smtClean="0">
                <a:solidFill>
                  <a:srgbClr val="4A5462"/>
                </a:solidFill>
                <a:latin typeface="Segoe UI"/>
                <a:cs typeface="Segoe UI"/>
              </a:rPr>
              <a:t>в</a:t>
            </a:r>
            <a:r>
              <a:rPr sz="2200" spc="-40" dirty="0" smtClean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2200" spc="-10" dirty="0" err="1" smtClean="0">
                <a:solidFill>
                  <a:srgbClr val="4A5462"/>
                </a:solidFill>
                <a:latin typeface="Segoe UI"/>
                <a:cs typeface="Segoe UI"/>
              </a:rPr>
              <a:t>промышленных</a:t>
            </a:r>
            <a:r>
              <a:rPr sz="2200" spc="-10" dirty="0" smtClean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2200" dirty="0" err="1" smtClean="0">
                <a:solidFill>
                  <a:srgbClr val="4A5462"/>
                </a:solidFill>
                <a:latin typeface="Segoe UI"/>
                <a:cs typeface="Segoe UI"/>
              </a:rPr>
              <a:t>районах</a:t>
            </a:r>
            <a:r>
              <a:rPr sz="2200" spc="-60" dirty="0" smtClean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2200" dirty="0" smtClean="0">
                <a:solidFill>
                  <a:srgbClr val="4A5462"/>
                </a:solidFill>
                <a:latin typeface="Segoe UI"/>
                <a:cs typeface="Segoe UI"/>
              </a:rPr>
              <a:t>—</a:t>
            </a:r>
            <a:r>
              <a:rPr sz="2200" spc="-55" dirty="0" smtClean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2200" dirty="0" err="1" smtClean="0">
                <a:solidFill>
                  <a:srgbClr val="4A5462"/>
                </a:solidFill>
                <a:latin typeface="Segoe UI"/>
                <a:cs typeface="Segoe UI"/>
              </a:rPr>
              <a:t>техноген</a:t>
            </a:r>
            <a:r>
              <a:rPr sz="2200" dirty="0" smtClean="0">
                <a:solidFill>
                  <a:srgbClr val="4A5462"/>
                </a:solidFill>
                <a:latin typeface="Segoe UI"/>
                <a:cs typeface="Segoe UI"/>
              </a:rPr>
              <a:t>:</a:t>
            </a:r>
            <a:r>
              <a:rPr sz="2200" spc="-55" dirty="0" smtClean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2200" spc="-10" dirty="0" err="1" smtClean="0">
                <a:solidFill>
                  <a:srgbClr val="4A5462"/>
                </a:solidFill>
                <a:latin typeface="Segoe UI"/>
                <a:cs typeface="Segoe UI"/>
              </a:rPr>
              <a:t>факелы</a:t>
            </a:r>
            <a:r>
              <a:rPr sz="2200" spc="-10" dirty="0" smtClean="0">
                <a:solidFill>
                  <a:srgbClr val="4A5462"/>
                </a:solidFill>
                <a:latin typeface="Segoe UI"/>
                <a:cs typeface="Segoe UI"/>
              </a:rPr>
              <a:t>, </a:t>
            </a:r>
            <a:r>
              <a:rPr sz="2200" spc="-10" dirty="0" err="1" smtClean="0">
                <a:solidFill>
                  <a:srgbClr val="4A5462"/>
                </a:solidFill>
                <a:latin typeface="Segoe UI"/>
                <a:cs typeface="Segoe UI"/>
              </a:rPr>
              <a:t>металлургия</a:t>
            </a:r>
            <a:r>
              <a:rPr sz="2200" spc="-10" dirty="0" smtClean="0">
                <a:solidFill>
                  <a:srgbClr val="4A5462"/>
                </a:solidFill>
                <a:latin typeface="Segoe UI"/>
                <a:cs typeface="Segoe UI"/>
              </a:rPr>
              <a:t>,</a:t>
            </a:r>
            <a:r>
              <a:rPr sz="2200" spc="-45" dirty="0" smtClean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2200" spc="-25" dirty="0" smtClean="0">
                <a:solidFill>
                  <a:srgbClr val="4A5462"/>
                </a:solidFill>
                <a:latin typeface="Segoe UI"/>
                <a:cs typeface="Segoe UI"/>
              </a:rPr>
              <a:t>ТЭЦ</a:t>
            </a:r>
            <a:endParaRPr sz="2200" dirty="0">
              <a:latin typeface="Segoe UI"/>
              <a:cs typeface="Segoe U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xfrm>
            <a:off x="6406095" y="1069900"/>
            <a:ext cx="4899659" cy="2889894"/>
          </a:xfrm>
          <a:prstGeom prst="rect">
            <a:avLst/>
          </a:prstGeom>
        </p:spPr>
        <p:txBody>
          <a:bodyPr vert="horz" wrap="square" lIns="0" tIns="685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95"/>
              </a:spcBef>
            </a:pPr>
            <a:r>
              <a:rPr spc="-10" dirty="0"/>
              <a:t>недели</a:t>
            </a:r>
          </a:p>
          <a:p>
            <a:pPr marL="12700" marR="5080">
              <a:lnSpc>
                <a:spcPct val="100000"/>
              </a:lnSpc>
              <a:spcBef>
                <a:spcPts val="1325"/>
              </a:spcBef>
            </a:pPr>
            <a:r>
              <a:rPr lang="ru-RU" sz="2200" b="0" spc="-10" dirty="0">
                <a:solidFill>
                  <a:srgbClr val="4A5462"/>
                </a:solidFill>
              </a:rPr>
              <a:t>наземная оценка площади и степени поражения может занимать недели</a:t>
            </a:r>
            <a:endParaRPr sz="2200" b="0" spc="-10" dirty="0">
              <a:solidFill>
                <a:srgbClr val="4A5462"/>
              </a:solidFill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82637" y="5240858"/>
            <a:ext cx="10625455" cy="97790"/>
            <a:chOff x="782637" y="5240858"/>
            <a:chExt cx="10625455" cy="9779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2637" y="5240858"/>
              <a:ext cx="10625404" cy="9758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22604" y="5257799"/>
              <a:ext cx="10546080" cy="18415"/>
            </a:xfrm>
            <a:custGeom>
              <a:avLst/>
              <a:gdLst/>
              <a:ahLst/>
              <a:cxnLst/>
              <a:rect l="l" t="t" r="r" b="b"/>
              <a:pathLst>
                <a:path w="10546080" h="18414">
                  <a:moveTo>
                    <a:pt x="10545470" y="0"/>
                  </a:moveTo>
                  <a:lnTo>
                    <a:pt x="0" y="0"/>
                  </a:lnTo>
                  <a:lnTo>
                    <a:pt x="0" y="17995"/>
                  </a:lnTo>
                  <a:lnTo>
                    <a:pt x="5272913" y="17995"/>
                  </a:lnTo>
                  <a:lnTo>
                    <a:pt x="10545470" y="17995"/>
                  </a:lnTo>
                  <a:lnTo>
                    <a:pt x="10545470" y="0"/>
                  </a:lnTo>
                  <a:close/>
                </a:path>
              </a:pathLst>
            </a:custGeom>
            <a:solidFill>
              <a:srgbClr val="9BA2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28255" y="5445988"/>
            <a:ext cx="1004506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1E2836"/>
                </a:solidFill>
                <a:latin typeface="Segoe UI"/>
                <a:cs typeface="Segoe UI"/>
              </a:rPr>
              <a:t>Степной</a:t>
            </a:r>
            <a:r>
              <a:rPr sz="2400" b="1" spc="-65" dirty="0">
                <a:solidFill>
                  <a:srgbClr val="1E2836"/>
                </a:solidFill>
                <a:latin typeface="Segoe UI"/>
                <a:cs typeface="Segoe UI"/>
              </a:rPr>
              <a:t> </a:t>
            </a:r>
            <a:r>
              <a:rPr sz="2400" b="1" dirty="0">
                <a:solidFill>
                  <a:srgbClr val="1E2836"/>
                </a:solidFill>
                <a:latin typeface="Segoe UI"/>
                <a:cs typeface="Segoe UI"/>
              </a:rPr>
              <a:t>пожар</a:t>
            </a:r>
            <a:r>
              <a:rPr sz="2400" b="1" spc="-55" dirty="0">
                <a:solidFill>
                  <a:srgbClr val="1E2836"/>
                </a:solidFill>
                <a:latin typeface="Segoe UI"/>
                <a:cs typeface="Segoe UI"/>
              </a:rPr>
              <a:t> </a:t>
            </a:r>
            <a:r>
              <a:rPr sz="2400" b="1" dirty="0">
                <a:solidFill>
                  <a:srgbClr val="1E2836"/>
                </a:solidFill>
                <a:latin typeface="Segoe UI"/>
                <a:cs typeface="Segoe UI"/>
              </a:rPr>
              <a:t>идёт</a:t>
            </a:r>
            <a:r>
              <a:rPr sz="2400" b="1" spc="-55" dirty="0">
                <a:solidFill>
                  <a:srgbClr val="1E2836"/>
                </a:solidFill>
                <a:latin typeface="Segoe UI"/>
                <a:cs typeface="Segoe UI"/>
              </a:rPr>
              <a:t> </a:t>
            </a:r>
            <a:r>
              <a:rPr sz="2400" b="1" dirty="0">
                <a:solidFill>
                  <a:srgbClr val="1E2836"/>
                </a:solidFill>
                <a:latin typeface="Segoe UI"/>
                <a:cs typeface="Segoe UI"/>
              </a:rPr>
              <a:t>несколько</a:t>
            </a:r>
            <a:r>
              <a:rPr sz="2400" b="1" spc="-60" dirty="0">
                <a:solidFill>
                  <a:srgbClr val="1E2836"/>
                </a:solidFill>
                <a:latin typeface="Segoe UI"/>
                <a:cs typeface="Segoe UI"/>
              </a:rPr>
              <a:t> </a:t>
            </a:r>
            <a:r>
              <a:rPr sz="2400" b="1" dirty="0">
                <a:solidFill>
                  <a:srgbClr val="1E2836"/>
                </a:solidFill>
                <a:latin typeface="Segoe UI"/>
                <a:cs typeface="Segoe UI"/>
              </a:rPr>
              <a:t>км/ч</a:t>
            </a:r>
            <a:r>
              <a:rPr sz="2400" b="1" spc="-60" dirty="0">
                <a:solidFill>
                  <a:srgbClr val="1E2836"/>
                </a:solidFill>
                <a:latin typeface="Segoe UI"/>
                <a:cs typeface="Segoe UI"/>
              </a:rPr>
              <a:t> </a:t>
            </a:r>
            <a:r>
              <a:rPr sz="2400" b="1" dirty="0">
                <a:solidFill>
                  <a:srgbClr val="1E2836"/>
                </a:solidFill>
                <a:latin typeface="Segoe UI"/>
                <a:cs typeface="Segoe UI"/>
              </a:rPr>
              <a:t>—</a:t>
            </a:r>
            <a:r>
              <a:rPr sz="2400" b="1" spc="-55" dirty="0">
                <a:solidFill>
                  <a:srgbClr val="1E2836"/>
                </a:solidFill>
                <a:latin typeface="Segoe UI"/>
                <a:cs typeface="Segoe UI"/>
              </a:rPr>
              <a:t> </a:t>
            </a:r>
            <a:r>
              <a:rPr sz="2400" b="1" dirty="0">
                <a:solidFill>
                  <a:srgbClr val="1E2836"/>
                </a:solidFill>
                <a:latin typeface="Segoe UI"/>
                <a:cs typeface="Segoe UI"/>
              </a:rPr>
              <a:t>решение</a:t>
            </a:r>
            <a:r>
              <a:rPr sz="2400" b="1" spc="-55" dirty="0">
                <a:solidFill>
                  <a:srgbClr val="1E2836"/>
                </a:solidFill>
                <a:latin typeface="Segoe UI"/>
                <a:cs typeface="Segoe UI"/>
              </a:rPr>
              <a:t> </a:t>
            </a:r>
            <a:r>
              <a:rPr sz="2400" b="1" dirty="0">
                <a:solidFill>
                  <a:srgbClr val="1E2836"/>
                </a:solidFill>
                <a:latin typeface="Segoe UI"/>
                <a:cs typeface="Segoe UI"/>
              </a:rPr>
              <a:t>нужно</a:t>
            </a:r>
            <a:r>
              <a:rPr sz="2400" b="1" spc="-60" dirty="0">
                <a:solidFill>
                  <a:srgbClr val="1E2836"/>
                </a:solidFill>
                <a:latin typeface="Segoe UI"/>
                <a:cs typeface="Segoe UI"/>
              </a:rPr>
              <a:t> </a:t>
            </a:r>
            <a:r>
              <a:rPr sz="2400" b="1" dirty="0">
                <a:solidFill>
                  <a:srgbClr val="1E2836"/>
                </a:solidFill>
                <a:latin typeface="Segoe UI"/>
                <a:cs typeface="Segoe UI"/>
              </a:rPr>
              <a:t>за</a:t>
            </a:r>
            <a:r>
              <a:rPr sz="2400" b="1" spc="-50" dirty="0">
                <a:solidFill>
                  <a:srgbClr val="1E2836"/>
                </a:solidFill>
                <a:latin typeface="Segoe UI"/>
                <a:cs typeface="Segoe UI"/>
              </a:rPr>
              <a:t> </a:t>
            </a:r>
            <a:r>
              <a:rPr sz="2400" b="1" spc="-10" dirty="0">
                <a:solidFill>
                  <a:srgbClr val="1E2836"/>
                </a:solidFill>
                <a:latin typeface="Segoe UI"/>
                <a:cs typeface="Segoe UI"/>
              </a:rPr>
              <a:t>минуты</a:t>
            </a:r>
            <a:endParaRPr sz="24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5374" y="416775"/>
            <a:ext cx="964162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dirty="0"/>
              <a:t>За счёт чего получили </a:t>
            </a:r>
            <a:r>
              <a:rPr lang="ru-RU" dirty="0" err="1"/>
              <a:t>Public</a:t>
            </a:r>
            <a:r>
              <a:rPr lang="ru-RU" dirty="0"/>
              <a:t> </a:t>
            </a:r>
            <a:r>
              <a:rPr lang="ru-RU" dirty="0" err="1"/>
              <a:t>Score</a:t>
            </a:r>
            <a:r>
              <a:rPr lang="ru-RU" dirty="0"/>
              <a:t> 0.8314</a:t>
            </a:r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1676400" y="5867400"/>
            <a:ext cx="8243337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4A5462"/>
                </a:solidFill>
                <a:latin typeface="Segoe UI"/>
                <a:cs typeface="Segoe UI"/>
              </a:rPr>
              <a:t>одна</a:t>
            </a:r>
            <a:r>
              <a:rPr sz="2000" spc="-45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4A5462"/>
                </a:solidFill>
                <a:latin typeface="Segoe UI"/>
                <a:cs typeface="Segoe UI"/>
              </a:rPr>
              <a:t>команда</a:t>
            </a:r>
            <a:r>
              <a:rPr sz="2000" spc="-45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4A5462"/>
                </a:solidFill>
                <a:latin typeface="Segoe UI"/>
                <a:cs typeface="Segoe UI"/>
              </a:rPr>
              <a:t>python</a:t>
            </a:r>
            <a:r>
              <a:rPr sz="2000" spc="-40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4A5462"/>
                </a:solidFill>
                <a:latin typeface="Segoe UI"/>
                <a:cs typeface="Segoe UI"/>
              </a:rPr>
              <a:t>inference.py</a:t>
            </a:r>
            <a:r>
              <a:rPr sz="2000" spc="-45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4A5462"/>
                </a:solidFill>
                <a:latin typeface="Segoe UI"/>
                <a:cs typeface="Segoe UI"/>
              </a:rPr>
              <a:t>→</a:t>
            </a:r>
            <a:r>
              <a:rPr sz="2000" spc="-40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lang="ru-RU" sz="2000" dirty="0">
                <a:solidFill>
                  <a:srgbClr val="4A5462"/>
                </a:solidFill>
                <a:latin typeface="Segoe UI"/>
                <a:cs typeface="Segoe UI"/>
              </a:rPr>
              <a:t>полный </a:t>
            </a:r>
            <a:r>
              <a:rPr lang="ru-RU" sz="2000" dirty="0" err="1">
                <a:solidFill>
                  <a:srgbClr val="4A5462"/>
                </a:solidFill>
                <a:latin typeface="Segoe UI"/>
                <a:cs typeface="Segoe UI"/>
              </a:rPr>
              <a:t>инференс</a:t>
            </a:r>
            <a:r>
              <a:rPr lang="ru-RU" sz="2000" dirty="0">
                <a:solidFill>
                  <a:srgbClr val="4A5462"/>
                </a:solidFill>
                <a:latin typeface="Segoe UI"/>
                <a:cs typeface="Segoe UI"/>
              </a:rPr>
              <a:t> на GPU — 22 с</a:t>
            </a:r>
            <a:endParaRPr sz="2000" dirty="0">
              <a:solidFill>
                <a:srgbClr val="4A5462"/>
              </a:solidFill>
              <a:latin typeface="Segoe UI"/>
              <a:cs typeface="Segoe U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45375" y="1905000"/>
            <a:ext cx="3580765" cy="2025650"/>
            <a:chOff x="632523" y="2301468"/>
            <a:chExt cx="3580765" cy="202565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2523" y="2301468"/>
              <a:ext cx="3580561" cy="202537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85444" y="2331364"/>
              <a:ext cx="3474720" cy="1920239"/>
            </a:xfrm>
            <a:custGeom>
              <a:avLst/>
              <a:gdLst/>
              <a:ahLst/>
              <a:cxnLst/>
              <a:rect l="l" t="t" r="r" b="b"/>
              <a:pathLst>
                <a:path w="3474720" h="1920239">
                  <a:moveTo>
                    <a:pt x="3154311" y="0"/>
                  </a:moveTo>
                  <a:lnTo>
                    <a:pt x="320039" y="0"/>
                  </a:lnTo>
                  <a:lnTo>
                    <a:pt x="278207" y="2744"/>
                  </a:lnTo>
                  <a:lnTo>
                    <a:pt x="237285" y="10888"/>
                  </a:lnTo>
                  <a:lnTo>
                    <a:pt x="197780" y="24297"/>
                  </a:lnTo>
                  <a:lnTo>
                    <a:pt x="160197" y="42837"/>
                  </a:lnTo>
                  <a:lnTo>
                    <a:pt x="125147" y="66136"/>
                  </a:lnTo>
                  <a:lnTo>
                    <a:pt x="93647" y="93687"/>
                  </a:lnTo>
                  <a:lnTo>
                    <a:pt x="66136" y="124999"/>
                  </a:lnTo>
                  <a:lnTo>
                    <a:pt x="42837" y="159829"/>
                  </a:lnTo>
                  <a:lnTo>
                    <a:pt x="24297" y="197624"/>
                  </a:lnTo>
                  <a:lnTo>
                    <a:pt x="10879" y="237285"/>
                  </a:lnTo>
                  <a:lnTo>
                    <a:pt x="2744" y="278207"/>
                  </a:lnTo>
                  <a:lnTo>
                    <a:pt x="0" y="320039"/>
                  </a:lnTo>
                  <a:lnTo>
                    <a:pt x="0" y="1600200"/>
                  </a:lnTo>
                  <a:lnTo>
                    <a:pt x="2720" y="1641670"/>
                  </a:lnTo>
                  <a:lnTo>
                    <a:pt x="2744" y="1642032"/>
                  </a:lnTo>
                  <a:lnTo>
                    <a:pt x="10824" y="1682630"/>
                  </a:lnTo>
                  <a:lnTo>
                    <a:pt x="10888" y="1682953"/>
                  </a:lnTo>
                  <a:lnTo>
                    <a:pt x="24225" y="1722241"/>
                  </a:lnTo>
                  <a:lnTo>
                    <a:pt x="42837" y="1760029"/>
                  </a:lnTo>
                  <a:lnTo>
                    <a:pt x="66130" y="1795078"/>
                  </a:lnTo>
                  <a:lnTo>
                    <a:pt x="93641" y="1826544"/>
                  </a:lnTo>
                  <a:lnTo>
                    <a:pt x="124999" y="1854093"/>
                  </a:lnTo>
                  <a:lnTo>
                    <a:pt x="159829" y="1877390"/>
                  </a:lnTo>
                  <a:lnTo>
                    <a:pt x="197624" y="1895931"/>
                  </a:lnTo>
                  <a:lnTo>
                    <a:pt x="237239" y="1909344"/>
                  </a:lnTo>
                  <a:lnTo>
                    <a:pt x="278201" y="1917493"/>
                  </a:lnTo>
                  <a:lnTo>
                    <a:pt x="320039" y="1920239"/>
                  </a:lnTo>
                  <a:lnTo>
                    <a:pt x="3154680" y="1919871"/>
                  </a:lnTo>
                  <a:lnTo>
                    <a:pt x="3196512" y="1917127"/>
                  </a:lnTo>
                  <a:lnTo>
                    <a:pt x="3237433" y="1908983"/>
                  </a:lnTo>
                  <a:lnTo>
                    <a:pt x="3276934" y="1895574"/>
                  </a:lnTo>
                  <a:lnTo>
                    <a:pt x="3314509" y="1877034"/>
                  </a:lnTo>
                  <a:lnTo>
                    <a:pt x="3349558" y="1853741"/>
                  </a:lnTo>
                  <a:lnTo>
                    <a:pt x="3381024" y="1826228"/>
                  </a:lnTo>
                  <a:lnTo>
                    <a:pt x="3408573" y="1794867"/>
                  </a:lnTo>
                  <a:lnTo>
                    <a:pt x="3431870" y="1760029"/>
                  </a:lnTo>
                  <a:lnTo>
                    <a:pt x="3450307" y="1722454"/>
                  </a:lnTo>
                  <a:lnTo>
                    <a:pt x="3463715" y="1682953"/>
                  </a:lnTo>
                  <a:lnTo>
                    <a:pt x="3471901" y="1642032"/>
                  </a:lnTo>
                  <a:lnTo>
                    <a:pt x="3474695" y="1600200"/>
                  </a:lnTo>
                  <a:lnTo>
                    <a:pt x="3474720" y="1599831"/>
                  </a:lnTo>
                  <a:lnTo>
                    <a:pt x="3474351" y="320039"/>
                  </a:lnTo>
                  <a:lnTo>
                    <a:pt x="3471607" y="278207"/>
                  </a:lnTo>
                  <a:lnTo>
                    <a:pt x="3463463" y="237285"/>
                  </a:lnTo>
                  <a:lnTo>
                    <a:pt x="3450054" y="197780"/>
                  </a:lnTo>
                  <a:lnTo>
                    <a:pt x="3431514" y="160197"/>
                  </a:lnTo>
                  <a:lnTo>
                    <a:pt x="3408221" y="125154"/>
                  </a:lnTo>
                  <a:lnTo>
                    <a:pt x="3380708" y="93687"/>
                  </a:lnTo>
                  <a:lnTo>
                    <a:pt x="3349347" y="66136"/>
                  </a:lnTo>
                  <a:lnTo>
                    <a:pt x="3314509" y="42837"/>
                  </a:lnTo>
                  <a:lnTo>
                    <a:pt x="3276721" y="24297"/>
                  </a:lnTo>
                  <a:lnTo>
                    <a:pt x="3237110" y="10888"/>
                  </a:lnTo>
                  <a:lnTo>
                    <a:pt x="3196150" y="2744"/>
                  </a:lnTo>
                  <a:lnTo>
                    <a:pt x="31543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85444" y="2331364"/>
              <a:ext cx="3474720" cy="1920239"/>
            </a:xfrm>
            <a:custGeom>
              <a:avLst/>
              <a:gdLst/>
              <a:ahLst/>
              <a:cxnLst/>
              <a:rect l="l" t="t" r="r" b="b"/>
              <a:pathLst>
                <a:path w="3474720" h="1920239">
                  <a:moveTo>
                    <a:pt x="0" y="320039"/>
                  </a:moveTo>
                  <a:lnTo>
                    <a:pt x="2744" y="278201"/>
                  </a:lnTo>
                  <a:lnTo>
                    <a:pt x="10888" y="237239"/>
                  </a:lnTo>
                  <a:lnTo>
                    <a:pt x="24297" y="197624"/>
                  </a:lnTo>
                  <a:lnTo>
                    <a:pt x="42837" y="159829"/>
                  </a:lnTo>
                  <a:lnTo>
                    <a:pt x="66136" y="124999"/>
                  </a:lnTo>
                  <a:lnTo>
                    <a:pt x="93687" y="93641"/>
                  </a:lnTo>
                  <a:lnTo>
                    <a:pt x="125154" y="66130"/>
                  </a:lnTo>
                  <a:lnTo>
                    <a:pt x="160197" y="42837"/>
                  </a:lnTo>
                  <a:lnTo>
                    <a:pt x="197780" y="24297"/>
                  </a:lnTo>
                  <a:lnTo>
                    <a:pt x="237285" y="10888"/>
                  </a:lnTo>
                  <a:lnTo>
                    <a:pt x="278207" y="2744"/>
                  </a:lnTo>
                  <a:lnTo>
                    <a:pt x="320039" y="0"/>
                  </a:lnTo>
                  <a:lnTo>
                    <a:pt x="3154311" y="0"/>
                  </a:lnTo>
                  <a:lnTo>
                    <a:pt x="3196150" y="2744"/>
                  </a:lnTo>
                  <a:lnTo>
                    <a:pt x="3237110" y="10888"/>
                  </a:lnTo>
                  <a:lnTo>
                    <a:pt x="3276721" y="24297"/>
                  </a:lnTo>
                  <a:lnTo>
                    <a:pt x="3314509" y="42837"/>
                  </a:lnTo>
                  <a:lnTo>
                    <a:pt x="3349347" y="66136"/>
                  </a:lnTo>
                  <a:lnTo>
                    <a:pt x="3380708" y="93687"/>
                  </a:lnTo>
                  <a:lnTo>
                    <a:pt x="3408221" y="125154"/>
                  </a:lnTo>
                  <a:lnTo>
                    <a:pt x="3431514" y="160197"/>
                  </a:lnTo>
                  <a:lnTo>
                    <a:pt x="3450054" y="197780"/>
                  </a:lnTo>
                  <a:lnTo>
                    <a:pt x="3463463" y="237285"/>
                  </a:lnTo>
                  <a:lnTo>
                    <a:pt x="3471607" y="278207"/>
                  </a:lnTo>
                  <a:lnTo>
                    <a:pt x="3474351" y="320039"/>
                  </a:lnTo>
                  <a:lnTo>
                    <a:pt x="3474720" y="1599831"/>
                  </a:lnTo>
                  <a:lnTo>
                    <a:pt x="3471973" y="1641670"/>
                  </a:lnTo>
                  <a:lnTo>
                    <a:pt x="3463824" y="1682630"/>
                  </a:lnTo>
                  <a:lnTo>
                    <a:pt x="3450411" y="1722241"/>
                  </a:lnTo>
                  <a:lnTo>
                    <a:pt x="3431870" y="1760029"/>
                  </a:lnTo>
                  <a:lnTo>
                    <a:pt x="3408573" y="1794867"/>
                  </a:lnTo>
                  <a:lnTo>
                    <a:pt x="3381024" y="1826228"/>
                  </a:lnTo>
                  <a:lnTo>
                    <a:pt x="3349558" y="1853741"/>
                  </a:lnTo>
                  <a:lnTo>
                    <a:pt x="3314509" y="1877034"/>
                  </a:lnTo>
                  <a:lnTo>
                    <a:pt x="3276934" y="1895574"/>
                  </a:lnTo>
                  <a:lnTo>
                    <a:pt x="3237433" y="1908983"/>
                  </a:lnTo>
                  <a:lnTo>
                    <a:pt x="3196512" y="1917127"/>
                  </a:lnTo>
                  <a:lnTo>
                    <a:pt x="3154680" y="1919871"/>
                  </a:lnTo>
                  <a:lnTo>
                    <a:pt x="320039" y="1920239"/>
                  </a:lnTo>
                  <a:lnTo>
                    <a:pt x="278201" y="1917493"/>
                  </a:lnTo>
                  <a:lnTo>
                    <a:pt x="237239" y="1909344"/>
                  </a:lnTo>
                  <a:lnTo>
                    <a:pt x="197624" y="1895931"/>
                  </a:lnTo>
                  <a:lnTo>
                    <a:pt x="159829" y="1877390"/>
                  </a:lnTo>
                  <a:lnTo>
                    <a:pt x="124999" y="1854093"/>
                  </a:lnTo>
                  <a:lnTo>
                    <a:pt x="93641" y="1826544"/>
                  </a:lnTo>
                  <a:lnTo>
                    <a:pt x="66130" y="1795078"/>
                  </a:lnTo>
                  <a:lnTo>
                    <a:pt x="42837" y="1760029"/>
                  </a:lnTo>
                  <a:lnTo>
                    <a:pt x="24297" y="1722454"/>
                  </a:lnTo>
                  <a:lnTo>
                    <a:pt x="10888" y="1682953"/>
                  </a:lnTo>
                  <a:lnTo>
                    <a:pt x="2744" y="1642032"/>
                  </a:lnTo>
                  <a:lnTo>
                    <a:pt x="0" y="1600200"/>
                  </a:lnTo>
                  <a:lnTo>
                    <a:pt x="0" y="320039"/>
                  </a:lnTo>
                  <a:close/>
                </a:path>
              </a:pathLst>
            </a:custGeom>
            <a:ln w="25559">
              <a:solidFill>
                <a:srgbClr val="C1400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78869" y="2292304"/>
            <a:ext cx="3413329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89610" marR="5080" indent="-677545" algn="l">
              <a:lnSpc>
                <a:spcPct val="100000"/>
              </a:lnSpc>
              <a:spcBef>
                <a:spcPts val="100"/>
              </a:spcBef>
            </a:pPr>
            <a:r>
              <a:rPr lang="ru-RU" sz="2000" dirty="0" smtClean="0">
                <a:solidFill>
                  <a:srgbClr val="1E2836"/>
                </a:solidFill>
                <a:latin typeface="Segoe UI"/>
                <a:cs typeface="Segoe UI"/>
              </a:rPr>
              <a:t>     Физические </a:t>
            </a:r>
            <a:r>
              <a:rPr lang="ru-RU" sz="2000" dirty="0">
                <a:solidFill>
                  <a:srgbClr val="1E2836"/>
                </a:solidFill>
                <a:latin typeface="Segoe UI"/>
                <a:cs typeface="Segoe UI"/>
              </a:rPr>
              <a:t>пороги </a:t>
            </a:r>
            <a:r>
              <a:rPr lang="ru-RU" sz="2000" dirty="0" smtClean="0">
                <a:solidFill>
                  <a:srgbClr val="1E2836"/>
                </a:solidFill>
                <a:latin typeface="Segoe UI"/>
                <a:cs typeface="Segoe UI"/>
              </a:rPr>
              <a:t>I4/I5</a:t>
            </a:r>
            <a:br>
              <a:rPr lang="ru-RU" sz="2000" dirty="0" smtClean="0">
                <a:solidFill>
                  <a:srgbClr val="1E2836"/>
                </a:solidFill>
                <a:latin typeface="Segoe UI"/>
                <a:cs typeface="Segoe UI"/>
              </a:rPr>
            </a:br>
            <a:r>
              <a:rPr lang="ru-RU" sz="2000" dirty="0" smtClean="0">
                <a:solidFill>
                  <a:srgbClr val="1E2836"/>
                </a:solidFill>
                <a:latin typeface="Segoe UI"/>
                <a:cs typeface="Segoe UI"/>
              </a:rPr>
              <a:t>110 </a:t>
            </a:r>
            <a:r>
              <a:rPr lang="ru-RU" sz="2000" dirty="0">
                <a:solidFill>
                  <a:srgbClr val="1E2836"/>
                </a:solidFill>
                <a:latin typeface="Segoe UI"/>
                <a:cs typeface="Segoe UI"/>
              </a:rPr>
              <a:t>признаков</a:t>
            </a:r>
            <a:br>
              <a:rPr lang="ru-RU" sz="2000" dirty="0">
                <a:solidFill>
                  <a:srgbClr val="1E2836"/>
                </a:solidFill>
                <a:latin typeface="Segoe UI"/>
                <a:cs typeface="Segoe UI"/>
              </a:rPr>
            </a:br>
            <a:r>
              <a:rPr lang="ru-RU" sz="2000" dirty="0">
                <a:solidFill>
                  <a:srgbClr val="1E2836"/>
                </a:solidFill>
                <a:latin typeface="Segoe UI"/>
                <a:cs typeface="Segoe UI"/>
              </a:rPr>
              <a:t>5 </a:t>
            </a:r>
            <a:r>
              <a:rPr lang="ru-RU" sz="2000" dirty="0" err="1">
                <a:solidFill>
                  <a:srgbClr val="1E2836"/>
                </a:solidFill>
                <a:latin typeface="Segoe UI"/>
                <a:cs typeface="Segoe UI"/>
              </a:rPr>
              <a:t>LightGBM</a:t>
            </a:r>
            <a:r>
              <a:rPr lang="ru-RU" sz="2000" dirty="0">
                <a:solidFill>
                  <a:srgbClr val="1E2836"/>
                </a:solidFill>
                <a:latin typeface="Segoe UI"/>
                <a:cs typeface="Segoe UI"/>
              </a:rPr>
              <a:t> + </a:t>
            </a:r>
            <a:r>
              <a:rPr lang="ru-RU" sz="2000" dirty="0" err="1">
                <a:solidFill>
                  <a:srgbClr val="1E2836"/>
                </a:solidFill>
                <a:latin typeface="Segoe UI"/>
                <a:cs typeface="Segoe UI"/>
              </a:rPr>
              <a:t>hard</a:t>
            </a:r>
            <a:r>
              <a:rPr lang="ru-RU" sz="2000" dirty="0">
                <a:solidFill>
                  <a:srgbClr val="1E2836"/>
                </a:solidFill>
                <a:latin typeface="Segoe UI"/>
                <a:cs typeface="Segoe UI"/>
              </a:rPr>
              <a:t> </a:t>
            </a:r>
            <a:r>
              <a:rPr lang="ru-RU" sz="2000" dirty="0" err="1">
                <a:solidFill>
                  <a:srgbClr val="1E2836"/>
                </a:solidFill>
                <a:latin typeface="Segoe UI"/>
                <a:cs typeface="Segoe UI"/>
              </a:rPr>
              <a:t>negatives</a:t>
            </a:r>
            <a:endParaRPr sz="2000" dirty="0">
              <a:solidFill>
                <a:srgbClr val="1E2836"/>
              </a:solidFill>
              <a:latin typeface="Segoe UI"/>
              <a:cs typeface="Segoe U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81911" y="3997947"/>
            <a:ext cx="190627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dirty="0">
                <a:solidFill>
                  <a:srgbClr val="C1400B"/>
                </a:solidFill>
                <a:latin typeface="Segoe UI"/>
                <a:cs typeface="Segoe UI"/>
              </a:rPr>
              <a:t>F1</a:t>
            </a:r>
            <a:r>
              <a:rPr sz="4400" b="1" spc="-10" dirty="0">
                <a:solidFill>
                  <a:srgbClr val="C1400B"/>
                </a:solidFill>
                <a:latin typeface="Segoe UI"/>
                <a:cs typeface="Segoe UI"/>
              </a:rPr>
              <a:t> </a:t>
            </a:r>
            <a:r>
              <a:rPr sz="4400" b="1" spc="-20" dirty="0">
                <a:solidFill>
                  <a:srgbClr val="C1400B"/>
                </a:solidFill>
                <a:latin typeface="Segoe UI"/>
                <a:cs typeface="Segoe UI"/>
              </a:rPr>
              <a:t>0.97</a:t>
            </a:r>
            <a:endParaRPr sz="4400">
              <a:latin typeface="Segoe UI"/>
              <a:cs typeface="Segoe U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225936" y="1905000"/>
            <a:ext cx="3887635" cy="2025370"/>
            <a:chOff x="4193285" y="2301468"/>
            <a:chExt cx="3887635" cy="2025370"/>
          </a:xfrm>
        </p:grpSpPr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93285" y="3091675"/>
              <a:ext cx="326885" cy="44532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00359" y="2301468"/>
              <a:ext cx="3580561" cy="202537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553280" y="2331364"/>
              <a:ext cx="3474720" cy="1920239"/>
            </a:xfrm>
            <a:custGeom>
              <a:avLst/>
              <a:gdLst/>
              <a:ahLst/>
              <a:cxnLst/>
              <a:rect l="l" t="t" r="r" b="b"/>
              <a:pathLst>
                <a:path w="3474720" h="1920239">
                  <a:moveTo>
                    <a:pt x="3154324" y="0"/>
                  </a:moveTo>
                  <a:lnTo>
                    <a:pt x="320039" y="0"/>
                  </a:lnTo>
                  <a:lnTo>
                    <a:pt x="278207" y="2744"/>
                  </a:lnTo>
                  <a:lnTo>
                    <a:pt x="237285" y="10888"/>
                  </a:lnTo>
                  <a:lnTo>
                    <a:pt x="197780" y="24297"/>
                  </a:lnTo>
                  <a:lnTo>
                    <a:pt x="160197" y="42837"/>
                  </a:lnTo>
                  <a:lnTo>
                    <a:pt x="125147" y="66136"/>
                  </a:lnTo>
                  <a:lnTo>
                    <a:pt x="93647" y="93687"/>
                  </a:lnTo>
                  <a:lnTo>
                    <a:pt x="66136" y="124999"/>
                  </a:lnTo>
                  <a:lnTo>
                    <a:pt x="42837" y="159829"/>
                  </a:lnTo>
                  <a:lnTo>
                    <a:pt x="24297" y="197624"/>
                  </a:lnTo>
                  <a:lnTo>
                    <a:pt x="10879" y="237285"/>
                  </a:lnTo>
                  <a:lnTo>
                    <a:pt x="2744" y="278207"/>
                  </a:lnTo>
                  <a:lnTo>
                    <a:pt x="0" y="320039"/>
                  </a:lnTo>
                  <a:lnTo>
                    <a:pt x="0" y="1600200"/>
                  </a:lnTo>
                  <a:lnTo>
                    <a:pt x="2720" y="1641670"/>
                  </a:lnTo>
                  <a:lnTo>
                    <a:pt x="2744" y="1642032"/>
                  </a:lnTo>
                  <a:lnTo>
                    <a:pt x="10824" y="1682630"/>
                  </a:lnTo>
                  <a:lnTo>
                    <a:pt x="10888" y="1682953"/>
                  </a:lnTo>
                  <a:lnTo>
                    <a:pt x="24225" y="1722241"/>
                  </a:lnTo>
                  <a:lnTo>
                    <a:pt x="42837" y="1760029"/>
                  </a:lnTo>
                  <a:lnTo>
                    <a:pt x="66130" y="1795078"/>
                  </a:lnTo>
                  <a:lnTo>
                    <a:pt x="93643" y="1826544"/>
                  </a:lnTo>
                  <a:lnTo>
                    <a:pt x="125004" y="1854093"/>
                  </a:lnTo>
                  <a:lnTo>
                    <a:pt x="159842" y="1877390"/>
                  </a:lnTo>
                  <a:lnTo>
                    <a:pt x="197630" y="1895931"/>
                  </a:lnTo>
                  <a:lnTo>
                    <a:pt x="237240" y="1909344"/>
                  </a:lnTo>
                  <a:lnTo>
                    <a:pt x="278201" y="1917493"/>
                  </a:lnTo>
                  <a:lnTo>
                    <a:pt x="320039" y="1920239"/>
                  </a:lnTo>
                  <a:lnTo>
                    <a:pt x="3154680" y="1919871"/>
                  </a:lnTo>
                  <a:lnTo>
                    <a:pt x="3196512" y="1917127"/>
                  </a:lnTo>
                  <a:lnTo>
                    <a:pt x="3237434" y="1908983"/>
                  </a:lnTo>
                  <a:lnTo>
                    <a:pt x="3276939" y="1895574"/>
                  </a:lnTo>
                  <a:lnTo>
                    <a:pt x="3314522" y="1877034"/>
                  </a:lnTo>
                  <a:lnTo>
                    <a:pt x="3349565" y="1853741"/>
                  </a:lnTo>
                  <a:lnTo>
                    <a:pt x="3381032" y="1826228"/>
                  </a:lnTo>
                  <a:lnTo>
                    <a:pt x="3408583" y="1794867"/>
                  </a:lnTo>
                  <a:lnTo>
                    <a:pt x="3431882" y="1760029"/>
                  </a:lnTo>
                  <a:lnTo>
                    <a:pt x="3450317" y="1722454"/>
                  </a:lnTo>
                  <a:lnTo>
                    <a:pt x="3463722" y="1682953"/>
                  </a:lnTo>
                  <a:lnTo>
                    <a:pt x="3471903" y="1642032"/>
                  </a:lnTo>
                  <a:lnTo>
                    <a:pt x="3474695" y="1600200"/>
                  </a:lnTo>
                  <a:lnTo>
                    <a:pt x="3474719" y="1599831"/>
                  </a:lnTo>
                  <a:lnTo>
                    <a:pt x="3474364" y="320039"/>
                  </a:lnTo>
                  <a:lnTo>
                    <a:pt x="3471617" y="278207"/>
                  </a:lnTo>
                  <a:lnTo>
                    <a:pt x="3463469" y="237285"/>
                  </a:lnTo>
                  <a:lnTo>
                    <a:pt x="3450056" y="197780"/>
                  </a:lnTo>
                  <a:lnTo>
                    <a:pt x="3431514" y="160197"/>
                  </a:lnTo>
                  <a:lnTo>
                    <a:pt x="3408223" y="125154"/>
                  </a:lnTo>
                  <a:lnTo>
                    <a:pt x="3380714" y="93687"/>
                  </a:lnTo>
                  <a:lnTo>
                    <a:pt x="3349357" y="66136"/>
                  </a:lnTo>
                  <a:lnTo>
                    <a:pt x="3314522" y="42837"/>
                  </a:lnTo>
                  <a:lnTo>
                    <a:pt x="3276734" y="24297"/>
                  </a:lnTo>
                  <a:lnTo>
                    <a:pt x="3237123" y="10888"/>
                  </a:lnTo>
                  <a:lnTo>
                    <a:pt x="3196162" y="2744"/>
                  </a:lnTo>
                  <a:lnTo>
                    <a:pt x="31543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53280" y="2331364"/>
              <a:ext cx="3474720" cy="1920239"/>
            </a:xfrm>
            <a:custGeom>
              <a:avLst/>
              <a:gdLst/>
              <a:ahLst/>
              <a:cxnLst/>
              <a:rect l="l" t="t" r="r" b="b"/>
              <a:pathLst>
                <a:path w="3474720" h="1920239">
                  <a:moveTo>
                    <a:pt x="0" y="320039"/>
                  </a:moveTo>
                  <a:lnTo>
                    <a:pt x="2744" y="278201"/>
                  </a:lnTo>
                  <a:lnTo>
                    <a:pt x="10888" y="237239"/>
                  </a:lnTo>
                  <a:lnTo>
                    <a:pt x="24297" y="197624"/>
                  </a:lnTo>
                  <a:lnTo>
                    <a:pt x="42837" y="159829"/>
                  </a:lnTo>
                  <a:lnTo>
                    <a:pt x="66136" y="124999"/>
                  </a:lnTo>
                  <a:lnTo>
                    <a:pt x="93687" y="93641"/>
                  </a:lnTo>
                  <a:lnTo>
                    <a:pt x="125154" y="66130"/>
                  </a:lnTo>
                  <a:lnTo>
                    <a:pt x="160197" y="42837"/>
                  </a:lnTo>
                  <a:lnTo>
                    <a:pt x="197780" y="24297"/>
                  </a:lnTo>
                  <a:lnTo>
                    <a:pt x="237285" y="10888"/>
                  </a:lnTo>
                  <a:lnTo>
                    <a:pt x="278207" y="2744"/>
                  </a:lnTo>
                  <a:lnTo>
                    <a:pt x="320039" y="0"/>
                  </a:lnTo>
                  <a:lnTo>
                    <a:pt x="3154324" y="0"/>
                  </a:lnTo>
                  <a:lnTo>
                    <a:pt x="3196162" y="2744"/>
                  </a:lnTo>
                  <a:lnTo>
                    <a:pt x="3237123" y="10888"/>
                  </a:lnTo>
                  <a:lnTo>
                    <a:pt x="3276734" y="24297"/>
                  </a:lnTo>
                  <a:lnTo>
                    <a:pt x="3314522" y="42837"/>
                  </a:lnTo>
                  <a:lnTo>
                    <a:pt x="3349357" y="66136"/>
                  </a:lnTo>
                  <a:lnTo>
                    <a:pt x="3380714" y="93687"/>
                  </a:lnTo>
                  <a:lnTo>
                    <a:pt x="3408223" y="125154"/>
                  </a:lnTo>
                  <a:lnTo>
                    <a:pt x="3431514" y="160197"/>
                  </a:lnTo>
                  <a:lnTo>
                    <a:pt x="3450056" y="197780"/>
                  </a:lnTo>
                  <a:lnTo>
                    <a:pt x="3463469" y="237285"/>
                  </a:lnTo>
                  <a:lnTo>
                    <a:pt x="3471617" y="278207"/>
                  </a:lnTo>
                  <a:lnTo>
                    <a:pt x="3474364" y="320039"/>
                  </a:lnTo>
                  <a:lnTo>
                    <a:pt x="3474719" y="1599831"/>
                  </a:lnTo>
                  <a:lnTo>
                    <a:pt x="3471975" y="1641670"/>
                  </a:lnTo>
                  <a:lnTo>
                    <a:pt x="3463831" y="1682630"/>
                  </a:lnTo>
                  <a:lnTo>
                    <a:pt x="3450422" y="1722241"/>
                  </a:lnTo>
                  <a:lnTo>
                    <a:pt x="3431882" y="1760029"/>
                  </a:lnTo>
                  <a:lnTo>
                    <a:pt x="3408583" y="1794867"/>
                  </a:lnTo>
                  <a:lnTo>
                    <a:pt x="3381032" y="1826228"/>
                  </a:lnTo>
                  <a:lnTo>
                    <a:pt x="3349565" y="1853741"/>
                  </a:lnTo>
                  <a:lnTo>
                    <a:pt x="3314522" y="1877034"/>
                  </a:lnTo>
                  <a:lnTo>
                    <a:pt x="3276939" y="1895574"/>
                  </a:lnTo>
                  <a:lnTo>
                    <a:pt x="3237434" y="1908983"/>
                  </a:lnTo>
                  <a:lnTo>
                    <a:pt x="3196512" y="1917127"/>
                  </a:lnTo>
                  <a:lnTo>
                    <a:pt x="3154680" y="1919871"/>
                  </a:lnTo>
                  <a:lnTo>
                    <a:pt x="320039" y="1920239"/>
                  </a:lnTo>
                  <a:lnTo>
                    <a:pt x="278201" y="1917493"/>
                  </a:lnTo>
                  <a:lnTo>
                    <a:pt x="237240" y="1909344"/>
                  </a:lnTo>
                  <a:lnTo>
                    <a:pt x="197630" y="1895931"/>
                  </a:lnTo>
                  <a:lnTo>
                    <a:pt x="159842" y="1877390"/>
                  </a:lnTo>
                  <a:lnTo>
                    <a:pt x="125004" y="1854093"/>
                  </a:lnTo>
                  <a:lnTo>
                    <a:pt x="93643" y="1826544"/>
                  </a:lnTo>
                  <a:lnTo>
                    <a:pt x="66130" y="1795078"/>
                  </a:lnTo>
                  <a:lnTo>
                    <a:pt x="42837" y="1760029"/>
                  </a:lnTo>
                  <a:lnTo>
                    <a:pt x="24297" y="1722454"/>
                  </a:lnTo>
                  <a:lnTo>
                    <a:pt x="10888" y="1682953"/>
                  </a:lnTo>
                  <a:lnTo>
                    <a:pt x="2744" y="1642032"/>
                  </a:lnTo>
                  <a:lnTo>
                    <a:pt x="0" y="1600200"/>
                  </a:lnTo>
                  <a:lnTo>
                    <a:pt x="0" y="320039"/>
                  </a:lnTo>
                  <a:close/>
                </a:path>
              </a:pathLst>
            </a:custGeom>
            <a:ln w="25559">
              <a:solidFill>
                <a:srgbClr val="C1400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851456" y="2292304"/>
            <a:ext cx="2920365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lang="ru-RU" sz="2000" dirty="0">
                <a:solidFill>
                  <a:srgbClr val="1E2836"/>
                </a:solidFill>
                <a:latin typeface="Segoe UI"/>
                <a:cs typeface="Segoe UI"/>
              </a:rPr>
              <a:t>Ансамбль </a:t>
            </a:r>
            <a:r>
              <a:rPr lang="en-US" sz="2000" dirty="0">
                <a:solidFill>
                  <a:srgbClr val="1E2836"/>
                </a:solidFill>
                <a:latin typeface="Segoe UI"/>
                <a:cs typeface="Segoe UI"/>
              </a:rPr>
              <a:t>U-Net ResNet34</a:t>
            </a:r>
            <a:br>
              <a:rPr lang="en-US" sz="2000" dirty="0">
                <a:solidFill>
                  <a:srgbClr val="1E2836"/>
                </a:solidFill>
                <a:latin typeface="Segoe UI"/>
                <a:cs typeface="Segoe UI"/>
              </a:rPr>
            </a:br>
            <a:r>
              <a:rPr lang="en-US" sz="2000" dirty="0" err="1">
                <a:solidFill>
                  <a:srgbClr val="1E2836"/>
                </a:solidFill>
                <a:latin typeface="Segoe UI"/>
                <a:cs typeface="Segoe UI"/>
              </a:rPr>
              <a:t>LightGBM</a:t>
            </a:r>
            <a:r>
              <a:rPr lang="en-US" sz="2000" dirty="0">
                <a:solidFill>
                  <a:srgbClr val="1E2836"/>
                </a:solidFill>
                <a:latin typeface="Segoe UI"/>
                <a:cs typeface="Segoe UI"/>
              </a:rPr>
              <a:t>-</a:t>
            </a:r>
            <a:r>
              <a:rPr lang="ru-RU" sz="2000" dirty="0" err="1">
                <a:solidFill>
                  <a:srgbClr val="1E2836"/>
                </a:solidFill>
                <a:latin typeface="Segoe UI"/>
                <a:cs typeface="Segoe UI"/>
              </a:rPr>
              <a:t>стекинг</a:t>
            </a:r>
            <a:r>
              <a:rPr lang="ru-RU" sz="2000" dirty="0">
                <a:solidFill>
                  <a:srgbClr val="1E2836"/>
                </a:solidFill>
                <a:latin typeface="Segoe UI"/>
                <a:cs typeface="Segoe UI"/>
              </a:rPr>
              <a:t/>
            </a:r>
            <a:br>
              <a:rPr lang="ru-RU" sz="2000" dirty="0">
                <a:solidFill>
                  <a:srgbClr val="1E2836"/>
                </a:solidFill>
                <a:latin typeface="Segoe UI"/>
                <a:cs typeface="Segoe UI"/>
              </a:rPr>
            </a:br>
            <a:r>
              <a:rPr lang="ru-RU" sz="2000" dirty="0">
                <a:solidFill>
                  <a:srgbClr val="1E2836"/>
                </a:solidFill>
                <a:latin typeface="Segoe UI"/>
                <a:cs typeface="Segoe UI"/>
              </a:rPr>
              <a:t>Постобработка масок</a:t>
            </a:r>
            <a:endParaRPr sz="2000" dirty="0">
              <a:solidFill>
                <a:srgbClr val="1E2836"/>
              </a:solidFill>
              <a:latin typeface="Segoe UI"/>
              <a:cs typeface="Segoe U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194947" y="3997947"/>
            <a:ext cx="221678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dirty="0">
                <a:solidFill>
                  <a:srgbClr val="C1400B"/>
                </a:solidFill>
                <a:latin typeface="Segoe UI"/>
                <a:cs typeface="Segoe UI"/>
              </a:rPr>
              <a:t>IoU</a:t>
            </a:r>
            <a:r>
              <a:rPr sz="4400" b="1" spc="-90" dirty="0">
                <a:solidFill>
                  <a:srgbClr val="C1400B"/>
                </a:solidFill>
                <a:latin typeface="Segoe UI"/>
                <a:cs typeface="Segoe UI"/>
              </a:rPr>
              <a:t> </a:t>
            </a:r>
            <a:r>
              <a:rPr sz="4400" b="1" spc="-20" dirty="0">
                <a:solidFill>
                  <a:srgbClr val="C1400B"/>
                </a:solidFill>
                <a:latin typeface="Segoe UI"/>
                <a:cs typeface="Segoe UI"/>
              </a:rPr>
              <a:t>0.76</a:t>
            </a:r>
            <a:endParaRPr sz="4400" dirty="0">
              <a:latin typeface="Segoe UI"/>
              <a:cs typeface="Segoe U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8073973" y="1905000"/>
            <a:ext cx="3888104" cy="2025650"/>
            <a:chOff x="8061121" y="2301468"/>
            <a:chExt cx="3888104" cy="2025650"/>
          </a:xfrm>
        </p:grpSpPr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61121" y="3091675"/>
              <a:ext cx="326885" cy="445325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8101076" y="3108604"/>
              <a:ext cx="247015" cy="365760"/>
            </a:xfrm>
            <a:custGeom>
              <a:avLst/>
              <a:gdLst/>
              <a:ahLst/>
              <a:cxnLst/>
              <a:rect l="l" t="t" r="r" b="b"/>
              <a:pathLst>
                <a:path w="247015" h="365760">
                  <a:moveTo>
                    <a:pt x="123482" y="0"/>
                  </a:moveTo>
                  <a:lnTo>
                    <a:pt x="123482" y="91439"/>
                  </a:lnTo>
                  <a:lnTo>
                    <a:pt x="0" y="91439"/>
                  </a:lnTo>
                  <a:lnTo>
                    <a:pt x="0" y="274320"/>
                  </a:lnTo>
                  <a:lnTo>
                    <a:pt x="123482" y="274320"/>
                  </a:lnTo>
                  <a:lnTo>
                    <a:pt x="123482" y="365760"/>
                  </a:lnTo>
                  <a:lnTo>
                    <a:pt x="246964" y="182880"/>
                  </a:lnTo>
                  <a:lnTo>
                    <a:pt x="123482" y="0"/>
                  </a:lnTo>
                  <a:close/>
                </a:path>
              </a:pathLst>
            </a:custGeom>
            <a:solidFill>
              <a:srgbClr val="C1400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68195" y="2301468"/>
              <a:ext cx="3580561" cy="2025370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8421116" y="2331364"/>
              <a:ext cx="3474720" cy="1920239"/>
            </a:xfrm>
            <a:custGeom>
              <a:avLst/>
              <a:gdLst/>
              <a:ahLst/>
              <a:cxnLst/>
              <a:rect l="l" t="t" r="r" b="b"/>
              <a:pathLst>
                <a:path w="3474720" h="1920239">
                  <a:moveTo>
                    <a:pt x="3154324" y="0"/>
                  </a:moveTo>
                  <a:lnTo>
                    <a:pt x="320039" y="0"/>
                  </a:lnTo>
                  <a:lnTo>
                    <a:pt x="278207" y="2744"/>
                  </a:lnTo>
                  <a:lnTo>
                    <a:pt x="237285" y="10888"/>
                  </a:lnTo>
                  <a:lnTo>
                    <a:pt x="197780" y="24297"/>
                  </a:lnTo>
                  <a:lnTo>
                    <a:pt x="160197" y="42837"/>
                  </a:lnTo>
                  <a:lnTo>
                    <a:pt x="125149" y="66136"/>
                  </a:lnTo>
                  <a:lnTo>
                    <a:pt x="93653" y="93687"/>
                  </a:lnTo>
                  <a:lnTo>
                    <a:pt x="66146" y="124999"/>
                  </a:lnTo>
                  <a:lnTo>
                    <a:pt x="42849" y="159829"/>
                  </a:lnTo>
                  <a:lnTo>
                    <a:pt x="24308" y="197624"/>
                  </a:lnTo>
                  <a:lnTo>
                    <a:pt x="10885" y="237285"/>
                  </a:lnTo>
                  <a:lnTo>
                    <a:pt x="2746" y="278207"/>
                  </a:lnTo>
                  <a:lnTo>
                    <a:pt x="0" y="320039"/>
                  </a:lnTo>
                  <a:lnTo>
                    <a:pt x="0" y="1600200"/>
                  </a:lnTo>
                  <a:lnTo>
                    <a:pt x="2722" y="1641670"/>
                  </a:lnTo>
                  <a:lnTo>
                    <a:pt x="2746" y="1642032"/>
                  </a:lnTo>
                  <a:lnTo>
                    <a:pt x="10830" y="1682630"/>
                  </a:lnTo>
                  <a:lnTo>
                    <a:pt x="10895" y="1682953"/>
                  </a:lnTo>
                  <a:lnTo>
                    <a:pt x="24236" y="1722241"/>
                  </a:lnTo>
                  <a:lnTo>
                    <a:pt x="42849" y="1760029"/>
                  </a:lnTo>
                  <a:lnTo>
                    <a:pt x="66141" y="1795078"/>
                  </a:lnTo>
                  <a:lnTo>
                    <a:pt x="93649" y="1826544"/>
                  </a:lnTo>
                  <a:lnTo>
                    <a:pt x="125006" y="1854093"/>
                  </a:lnTo>
                  <a:lnTo>
                    <a:pt x="159842" y="1877390"/>
                  </a:lnTo>
                  <a:lnTo>
                    <a:pt x="197630" y="1895931"/>
                  </a:lnTo>
                  <a:lnTo>
                    <a:pt x="237240" y="1909344"/>
                  </a:lnTo>
                  <a:lnTo>
                    <a:pt x="278201" y="1917493"/>
                  </a:lnTo>
                  <a:lnTo>
                    <a:pt x="320039" y="1920239"/>
                  </a:lnTo>
                  <a:lnTo>
                    <a:pt x="3154679" y="1919871"/>
                  </a:lnTo>
                  <a:lnTo>
                    <a:pt x="3196512" y="1917127"/>
                  </a:lnTo>
                  <a:lnTo>
                    <a:pt x="3237434" y="1908983"/>
                  </a:lnTo>
                  <a:lnTo>
                    <a:pt x="3276939" y="1895574"/>
                  </a:lnTo>
                  <a:lnTo>
                    <a:pt x="3314522" y="1877034"/>
                  </a:lnTo>
                  <a:lnTo>
                    <a:pt x="3349565" y="1853741"/>
                  </a:lnTo>
                  <a:lnTo>
                    <a:pt x="3381032" y="1826228"/>
                  </a:lnTo>
                  <a:lnTo>
                    <a:pt x="3408583" y="1794867"/>
                  </a:lnTo>
                  <a:lnTo>
                    <a:pt x="3431882" y="1760029"/>
                  </a:lnTo>
                  <a:lnTo>
                    <a:pt x="3450317" y="1722454"/>
                  </a:lnTo>
                  <a:lnTo>
                    <a:pt x="3463722" y="1682953"/>
                  </a:lnTo>
                  <a:lnTo>
                    <a:pt x="3471903" y="1642032"/>
                  </a:lnTo>
                  <a:lnTo>
                    <a:pt x="3474695" y="1600200"/>
                  </a:lnTo>
                  <a:lnTo>
                    <a:pt x="3474719" y="1599831"/>
                  </a:lnTo>
                  <a:lnTo>
                    <a:pt x="3474364" y="320039"/>
                  </a:lnTo>
                  <a:lnTo>
                    <a:pt x="3471619" y="278207"/>
                  </a:lnTo>
                  <a:lnTo>
                    <a:pt x="3463475" y="237285"/>
                  </a:lnTo>
                  <a:lnTo>
                    <a:pt x="3450066" y="197780"/>
                  </a:lnTo>
                  <a:lnTo>
                    <a:pt x="3431527" y="160197"/>
                  </a:lnTo>
                  <a:lnTo>
                    <a:pt x="3408233" y="125154"/>
                  </a:lnTo>
                  <a:lnTo>
                    <a:pt x="3380720" y="93687"/>
                  </a:lnTo>
                  <a:lnTo>
                    <a:pt x="3349359" y="66136"/>
                  </a:lnTo>
                  <a:lnTo>
                    <a:pt x="3314522" y="42837"/>
                  </a:lnTo>
                  <a:lnTo>
                    <a:pt x="3276734" y="24297"/>
                  </a:lnTo>
                  <a:lnTo>
                    <a:pt x="3237123" y="10888"/>
                  </a:lnTo>
                  <a:lnTo>
                    <a:pt x="3196162" y="2744"/>
                  </a:lnTo>
                  <a:lnTo>
                    <a:pt x="31543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421116" y="2331364"/>
              <a:ext cx="3474720" cy="1920239"/>
            </a:xfrm>
            <a:custGeom>
              <a:avLst/>
              <a:gdLst/>
              <a:ahLst/>
              <a:cxnLst/>
              <a:rect l="l" t="t" r="r" b="b"/>
              <a:pathLst>
                <a:path w="3474720" h="1920239">
                  <a:moveTo>
                    <a:pt x="0" y="320039"/>
                  </a:moveTo>
                  <a:lnTo>
                    <a:pt x="2746" y="278201"/>
                  </a:lnTo>
                  <a:lnTo>
                    <a:pt x="10895" y="237239"/>
                  </a:lnTo>
                  <a:lnTo>
                    <a:pt x="24308" y="197624"/>
                  </a:lnTo>
                  <a:lnTo>
                    <a:pt x="42849" y="159829"/>
                  </a:lnTo>
                  <a:lnTo>
                    <a:pt x="66146" y="124999"/>
                  </a:lnTo>
                  <a:lnTo>
                    <a:pt x="93694" y="93641"/>
                  </a:lnTo>
                  <a:lnTo>
                    <a:pt x="125156" y="66130"/>
                  </a:lnTo>
                  <a:lnTo>
                    <a:pt x="160197" y="42837"/>
                  </a:lnTo>
                  <a:lnTo>
                    <a:pt x="197780" y="24297"/>
                  </a:lnTo>
                  <a:lnTo>
                    <a:pt x="237285" y="10888"/>
                  </a:lnTo>
                  <a:lnTo>
                    <a:pt x="278207" y="2744"/>
                  </a:lnTo>
                  <a:lnTo>
                    <a:pt x="320039" y="0"/>
                  </a:lnTo>
                  <a:lnTo>
                    <a:pt x="3154324" y="0"/>
                  </a:lnTo>
                  <a:lnTo>
                    <a:pt x="3196162" y="2744"/>
                  </a:lnTo>
                  <a:lnTo>
                    <a:pt x="3237123" y="10888"/>
                  </a:lnTo>
                  <a:lnTo>
                    <a:pt x="3276734" y="24297"/>
                  </a:lnTo>
                  <a:lnTo>
                    <a:pt x="3314522" y="42837"/>
                  </a:lnTo>
                  <a:lnTo>
                    <a:pt x="3349359" y="66136"/>
                  </a:lnTo>
                  <a:lnTo>
                    <a:pt x="3380720" y="93687"/>
                  </a:lnTo>
                  <a:lnTo>
                    <a:pt x="3408233" y="125154"/>
                  </a:lnTo>
                  <a:lnTo>
                    <a:pt x="3431527" y="160197"/>
                  </a:lnTo>
                  <a:lnTo>
                    <a:pt x="3450066" y="197780"/>
                  </a:lnTo>
                  <a:lnTo>
                    <a:pt x="3463475" y="237285"/>
                  </a:lnTo>
                  <a:lnTo>
                    <a:pt x="3471619" y="278207"/>
                  </a:lnTo>
                  <a:lnTo>
                    <a:pt x="3474364" y="320039"/>
                  </a:lnTo>
                  <a:lnTo>
                    <a:pt x="3474719" y="1599831"/>
                  </a:lnTo>
                  <a:lnTo>
                    <a:pt x="3471975" y="1641670"/>
                  </a:lnTo>
                  <a:lnTo>
                    <a:pt x="3463831" y="1682630"/>
                  </a:lnTo>
                  <a:lnTo>
                    <a:pt x="3450422" y="1722241"/>
                  </a:lnTo>
                  <a:lnTo>
                    <a:pt x="3431882" y="1760029"/>
                  </a:lnTo>
                  <a:lnTo>
                    <a:pt x="3408583" y="1794867"/>
                  </a:lnTo>
                  <a:lnTo>
                    <a:pt x="3381032" y="1826228"/>
                  </a:lnTo>
                  <a:lnTo>
                    <a:pt x="3349565" y="1853741"/>
                  </a:lnTo>
                  <a:lnTo>
                    <a:pt x="3314522" y="1877034"/>
                  </a:lnTo>
                  <a:lnTo>
                    <a:pt x="3276939" y="1895574"/>
                  </a:lnTo>
                  <a:lnTo>
                    <a:pt x="3237434" y="1908983"/>
                  </a:lnTo>
                  <a:lnTo>
                    <a:pt x="3196512" y="1917127"/>
                  </a:lnTo>
                  <a:lnTo>
                    <a:pt x="3154679" y="1919871"/>
                  </a:lnTo>
                  <a:lnTo>
                    <a:pt x="320039" y="1920239"/>
                  </a:lnTo>
                  <a:lnTo>
                    <a:pt x="278201" y="1917493"/>
                  </a:lnTo>
                  <a:lnTo>
                    <a:pt x="237240" y="1909344"/>
                  </a:lnTo>
                  <a:lnTo>
                    <a:pt x="197630" y="1895931"/>
                  </a:lnTo>
                  <a:lnTo>
                    <a:pt x="159842" y="1877390"/>
                  </a:lnTo>
                  <a:lnTo>
                    <a:pt x="125006" y="1854093"/>
                  </a:lnTo>
                  <a:lnTo>
                    <a:pt x="93649" y="1826544"/>
                  </a:lnTo>
                  <a:lnTo>
                    <a:pt x="66141" y="1795078"/>
                  </a:lnTo>
                  <a:lnTo>
                    <a:pt x="42849" y="1760029"/>
                  </a:lnTo>
                  <a:lnTo>
                    <a:pt x="24308" y="1722454"/>
                  </a:lnTo>
                  <a:lnTo>
                    <a:pt x="10895" y="1682953"/>
                  </a:lnTo>
                  <a:lnTo>
                    <a:pt x="2746" y="1642032"/>
                  </a:lnTo>
                  <a:lnTo>
                    <a:pt x="0" y="1600200"/>
                  </a:lnTo>
                  <a:lnTo>
                    <a:pt x="0" y="320039"/>
                  </a:lnTo>
                  <a:close/>
                </a:path>
              </a:pathLst>
            </a:custGeom>
            <a:ln w="25559">
              <a:solidFill>
                <a:srgbClr val="C1400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8724856" y="2292304"/>
            <a:ext cx="3010765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ru-RU" sz="2000" dirty="0">
                <a:solidFill>
                  <a:srgbClr val="1E2836"/>
                </a:solidFill>
                <a:latin typeface="Segoe UI"/>
                <a:cs typeface="Segoe UI"/>
              </a:rPr>
              <a:t>AF + BS за один запуск</a:t>
            </a:r>
            <a:br>
              <a:rPr lang="ru-RU" sz="2000" dirty="0">
                <a:solidFill>
                  <a:srgbClr val="1E2836"/>
                </a:solidFill>
                <a:latin typeface="Segoe UI"/>
                <a:cs typeface="Segoe UI"/>
              </a:rPr>
            </a:br>
            <a:r>
              <a:rPr lang="ru-RU" sz="2000" dirty="0">
                <a:solidFill>
                  <a:srgbClr val="1E2836"/>
                </a:solidFill>
                <a:latin typeface="Segoe UI"/>
                <a:cs typeface="Segoe UI"/>
              </a:rPr>
              <a:t>Воспроизводимый результат</a:t>
            </a:r>
            <a:br>
              <a:rPr lang="ru-RU" sz="2000" dirty="0">
                <a:solidFill>
                  <a:srgbClr val="1E2836"/>
                </a:solidFill>
                <a:latin typeface="Segoe UI"/>
                <a:cs typeface="Segoe UI"/>
              </a:rPr>
            </a:br>
            <a:r>
              <a:rPr lang="ru-RU" sz="2000" dirty="0" err="1">
                <a:solidFill>
                  <a:srgbClr val="1E2836"/>
                </a:solidFill>
                <a:latin typeface="Segoe UI"/>
                <a:cs typeface="Segoe UI"/>
              </a:rPr>
              <a:t>Инференс</a:t>
            </a:r>
            <a:r>
              <a:rPr lang="ru-RU" sz="2000" dirty="0">
                <a:solidFill>
                  <a:srgbClr val="1E2836"/>
                </a:solidFill>
                <a:latin typeface="Segoe UI"/>
                <a:cs typeface="Segoe UI"/>
              </a:rPr>
              <a:t> на GPU — 22 с</a:t>
            </a:r>
            <a:endParaRPr sz="2000" dirty="0">
              <a:solidFill>
                <a:srgbClr val="1E2836"/>
              </a:solidFill>
              <a:latin typeface="Segoe UI"/>
              <a:cs typeface="Segoe U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757513" y="3997947"/>
            <a:ext cx="2860852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400" b="1" spc="-20" dirty="0" smtClean="0">
                <a:solidFill>
                  <a:srgbClr val="C1400B"/>
                </a:solidFill>
                <a:latin typeface="Segoe UI"/>
                <a:cs typeface="Segoe UI"/>
              </a:rPr>
              <a:t>API </a:t>
            </a:r>
            <a:r>
              <a:rPr lang="en-US" sz="4400" b="1" spc="-20" dirty="0">
                <a:solidFill>
                  <a:srgbClr val="C1400B"/>
                </a:solidFill>
                <a:latin typeface="Segoe UI"/>
                <a:cs typeface="Segoe UI"/>
              </a:rPr>
              <a:t>≈ 5 </a:t>
            </a:r>
            <a:r>
              <a:rPr lang="ru-RU" sz="4400" b="1" spc="-20" dirty="0" err="1">
                <a:solidFill>
                  <a:srgbClr val="C1400B"/>
                </a:solidFill>
                <a:latin typeface="Segoe UI"/>
                <a:cs typeface="Segoe UI"/>
              </a:rPr>
              <a:t>мс</a:t>
            </a:r>
            <a:endParaRPr sz="4400" b="1" spc="-20" dirty="0">
              <a:solidFill>
                <a:srgbClr val="C1400B"/>
              </a:solidFill>
              <a:latin typeface="Segoe UI"/>
              <a:cs typeface="Segoe UI"/>
            </a:endParaRPr>
          </a:p>
        </p:txBody>
      </p:sp>
      <p:sp>
        <p:nvSpPr>
          <p:cNvPr id="33" name="Плюс 32"/>
          <p:cNvSpPr/>
          <p:nvPr/>
        </p:nvSpPr>
        <p:spPr>
          <a:xfrm>
            <a:off x="4181993" y="2695207"/>
            <a:ext cx="403760" cy="438124"/>
          </a:xfrm>
          <a:prstGeom prst="mathPlus">
            <a:avLst/>
          </a:prstGeom>
          <a:solidFill>
            <a:srgbClr val="C14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5375" y="416775"/>
            <a:ext cx="1058735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Public Score 0.8314 </a:t>
            </a:r>
            <a:r>
              <a:rPr lang="ru-RU" dirty="0"/>
              <a:t>против </a:t>
            </a:r>
            <a:r>
              <a:rPr lang="en-US" dirty="0"/>
              <a:t>baseline 0.31</a:t>
            </a:r>
            <a:endParaRPr spc="-10" dirty="0"/>
          </a:p>
        </p:txBody>
      </p:sp>
      <p:sp>
        <p:nvSpPr>
          <p:cNvPr id="6" name="object 6"/>
          <p:cNvSpPr txBox="1"/>
          <p:nvPr/>
        </p:nvSpPr>
        <p:spPr>
          <a:xfrm>
            <a:off x="828255" y="2108428"/>
            <a:ext cx="386143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600" b="1" spc="-10" dirty="0">
                <a:solidFill>
                  <a:srgbClr val="C1400B"/>
                </a:solidFill>
                <a:latin typeface="Segoe UI"/>
                <a:cs typeface="Segoe UI"/>
              </a:rPr>
              <a:t>0.8314</a:t>
            </a:r>
            <a:endParaRPr sz="9600">
              <a:latin typeface="Segoe UI"/>
              <a:cs typeface="Segoe U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086157" y="3679190"/>
            <a:ext cx="1360170" cy="1138555"/>
            <a:chOff x="6086157" y="3679190"/>
            <a:chExt cx="1360170" cy="113855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86157" y="3679190"/>
              <a:ext cx="1359725" cy="113797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126124" y="3696119"/>
              <a:ext cx="1280160" cy="1058545"/>
            </a:xfrm>
            <a:custGeom>
              <a:avLst/>
              <a:gdLst/>
              <a:ahLst/>
              <a:cxnLst/>
              <a:rect l="l" t="t" r="r" b="b"/>
              <a:pathLst>
                <a:path w="1280159" h="1058545">
                  <a:moveTo>
                    <a:pt x="1279791" y="0"/>
                  </a:moveTo>
                  <a:lnTo>
                    <a:pt x="0" y="0"/>
                  </a:lnTo>
                  <a:lnTo>
                    <a:pt x="0" y="1058405"/>
                  </a:lnTo>
                  <a:lnTo>
                    <a:pt x="640080" y="1058405"/>
                  </a:lnTo>
                  <a:lnTo>
                    <a:pt x="1279791" y="1058405"/>
                  </a:lnTo>
                  <a:lnTo>
                    <a:pt x="1279791" y="0"/>
                  </a:lnTo>
                  <a:close/>
                </a:path>
              </a:pathLst>
            </a:custGeom>
            <a:solidFill>
              <a:srgbClr val="F2AF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153022" y="4814900"/>
            <a:ext cx="12255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4A5462"/>
                </a:solidFill>
                <a:latin typeface="Segoe UI"/>
                <a:cs typeface="Segoe UI"/>
              </a:rPr>
              <a:t>правила</a:t>
            </a:r>
            <a:r>
              <a:rPr sz="1600" spc="-50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600" spc="-20" dirty="0">
                <a:solidFill>
                  <a:srgbClr val="4A5462"/>
                </a:solidFill>
                <a:latin typeface="Segoe UI"/>
                <a:cs typeface="Segoe UI"/>
              </a:rPr>
              <a:t>0.31</a:t>
            </a:r>
            <a:endParaRPr sz="1600">
              <a:latin typeface="Segoe UI"/>
              <a:cs typeface="Segoe U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503477" y="2688463"/>
            <a:ext cx="1360170" cy="2128520"/>
            <a:chOff x="7503477" y="2688463"/>
            <a:chExt cx="1360170" cy="2128520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03477" y="2688463"/>
              <a:ext cx="1359725" cy="212834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543444" y="2705404"/>
              <a:ext cx="1280160" cy="2049145"/>
            </a:xfrm>
            <a:custGeom>
              <a:avLst/>
              <a:gdLst/>
              <a:ahLst/>
              <a:cxnLst/>
              <a:rect l="l" t="t" r="r" b="b"/>
              <a:pathLst>
                <a:path w="1280159" h="2049145">
                  <a:moveTo>
                    <a:pt x="1279791" y="0"/>
                  </a:moveTo>
                  <a:lnTo>
                    <a:pt x="0" y="0"/>
                  </a:lnTo>
                  <a:lnTo>
                    <a:pt x="0" y="2048751"/>
                  </a:lnTo>
                  <a:lnTo>
                    <a:pt x="640079" y="2048751"/>
                  </a:lnTo>
                  <a:lnTo>
                    <a:pt x="1279791" y="2048751"/>
                  </a:lnTo>
                  <a:lnTo>
                    <a:pt x="1279791" y="0"/>
                  </a:lnTo>
                  <a:close/>
                </a:path>
              </a:pathLst>
            </a:custGeom>
            <a:solidFill>
              <a:srgbClr val="F2AF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593024" y="4814900"/>
            <a:ext cx="118046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03860" marR="5080" indent="-391795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4A5462"/>
                </a:solidFill>
                <a:latin typeface="Segoe UI"/>
                <a:cs typeface="Segoe UI"/>
              </a:rPr>
              <a:t>+</a:t>
            </a:r>
            <a:r>
              <a:rPr sz="1600" spc="-60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4A5462"/>
                </a:solidFill>
                <a:latin typeface="Segoe UI"/>
                <a:cs typeface="Segoe UI"/>
              </a:rPr>
              <a:t>модуль</a:t>
            </a:r>
            <a:r>
              <a:rPr sz="1600" spc="-55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600" spc="-25" dirty="0">
                <a:solidFill>
                  <a:srgbClr val="4A5462"/>
                </a:solidFill>
                <a:latin typeface="Segoe UI"/>
                <a:cs typeface="Segoe UI"/>
              </a:rPr>
              <a:t>AF </a:t>
            </a:r>
            <a:r>
              <a:rPr sz="1600" spc="-20" dirty="0">
                <a:solidFill>
                  <a:srgbClr val="4A5462"/>
                </a:solidFill>
                <a:latin typeface="Segoe UI"/>
                <a:cs typeface="Segoe UI"/>
              </a:rPr>
              <a:t>0.60</a:t>
            </a:r>
            <a:endParaRPr sz="1600">
              <a:latin typeface="Segoe UI"/>
              <a:cs typeface="Segoe U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920797" y="1902942"/>
            <a:ext cx="1360170" cy="2914015"/>
            <a:chOff x="8920797" y="1902942"/>
            <a:chExt cx="1360170" cy="2914015"/>
          </a:xfrm>
        </p:grpSpPr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920797" y="1902942"/>
              <a:ext cx="1359725" cy="2913862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960764" y="1919884"/>
              <a:ext cx="1280160" cy="2834640"/>
            </a:xfrm>
            <a:custGeom>
              <a:avLst/>
              <a:gdLst/>
              <a:ahLst/>
              <a:cxnLst/>
              <a:rect l="l" t="t" r="r" b="b"/>
              <a:pathLst>
                <a:path w="1280159" h="2834640">
                  <a:moveTo>
                    <a:pt x="1279791" y="0"/>
                  </a:moveTo>
                  <a:lnTo>
                    <a:pt x="0" y="0"/>
                  </a:lnTo>
                  <a:lnTo>
                    <a:pt x="0" y="2834271"/>
                  </a:lnTo>
                  <a:lnTo>
                    <a:pt x="640079" y="2834271"/>
                  </a:lnTo>
                  <a:lnTo>
                    <a:pt x="1279791" y="2834271"/>
                  </a:lnTo>
                  <a:lnTo>
                    <a:pt x="1279791" y="0"/>
                  </a:lnTo>
                  <a:close/>
                </a:path>
              </a:pathLst>
            </a:custGeom>
            <a:solidFill>
              <a:srgbClr val="F2AF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9013583" y="4814900"/>
            <a:ext cx="117411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00685" marR="5080" indent="-38862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4A5462"/>
                </a:solidFill>
                <a:latin typeface="Segoe UI"/>
                <a:cs typeface="Segoe UI"/>
              </a:rPr>
              <a:t>+</a:t>
            </a:r>
            <a:r>
              <a:rPr sz="1600" spc="-60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600" dirty="0">
                <a:solidFill>
                  <a:srgbClr val="4A5462"/>
                </a:solidFill>
                <a:latin typeface="Segoe UI"/>
                <a:cs typeface="Segoe UI"/>
              </a:rPr>
              <a:t>модуль</a:t>
            </a:r>
            <a:r>
              <a:rPr sz="1600" spc="-55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600" spc="-25" dirty="0">
                <a:solidFill>
                  <a:srgbClr val="4A5462"/>
                </a:solidFill>
                <a:latin typeface="Segoe UI"/>
                <a:cs typeface="Segoe UI"/>
              </a:rPr>
              <a:t>BS </a:t>
            </a:r>
            <a:r>
              <a:rPr sz="1600" spc="-20" dirty="0">
                <a:solidFill>
                  <a:srgbClr val="4A5462"/>
                </a:solidFill>
                <a:latin typeface="Segoe UI"/>
                <a:cs typeface="Segoe UI"/>
              </a:rPr>
              <a:t>0.83</a:t>
            </a:r>
            <a:endParaRPr sz="1600">
              <a:latin typeface="Segoe UI"/>
              <a:cs typeface="Segoe U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0338117" y="1902942"/>
            <a:ext cx="1360170" cy="2914015"/>
            <a:chOff x="10338117" y="1902942"/>
            <a:chExt cx="1360170" cy="2914015"/>
          </a:xfrm>
        </p:grpSpPr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338117" y="1902942"/>
              <a:ext cx="1359725" cy="2913862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0378084" y="1919884"/>
              <a:ext cx="1280160" cy="2834640"/>
            </a:xfrm>
            <a:custGeom>
              <a:avLst/>
              <a:gdLst/>
              <a:ahLst/>
              <a:cxnLst/>
              <a:rect l="l" t="t" r="r" b="b"/>
              <a:pathLst>
                <a:path w="1280159" h="2834640">
                  <a:moveTo>
                    <a:pt x="1279791" y="0"/>
                  </a:moveTo>
                  <a:lnTo>
                    <a:pt x="0" y="0"/>
                  </a:lnTo>
                  <a:lnTo>
                    <a:pt x="0" y="2834271"/>
                  </a:lnTo>
                  <a:lnTo>
                    <a:pt x="640079" y="2834271"/>
                  </a:lnTo>
                  <a:lnTo>
                    <a:pt x="1279791" y="2834271"/>
                  </a:lnTo>
                  <a:lnTo>
                    <a:pt x="1279791" y="0"/>
                  </a:lnTo>
                  <a:close/>
                </a:path>
              </a:pathLst>
            </a:custGeom>
            <a:solidFill>
              <a:srgbClr val="C1400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0500017" y="4814900"/>
            <a:ext cx="10356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4A5462"/>
                </a:solidFill>
                <a:latin typeface="Segoe UI"/>
                <a:cs typeface="Segoe UI"/>
              </a:rPr>
              <a:t>финал</a:t>
            </a:r>
            <a:r>
              <a:rPr sz="1600" spc="-60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600" spc="-20" dirty="0">
                <a:solidFill>
                  <a:srgbClr val="4A5462"/>
                </a:solidFill>
                <a:latin typeface="Segoe UI"/>
                <a:cs typeface="Segoe UI"/>
              </a:rPr>
              <a:t>0.83</a:t>
            </a:r>
            <a:endParaRPr sz="1600">
              <a:latin typeface="Segoe UI"/>
              <a:cs typeface="Segoe U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995085" y="4737938"/>
            <a:ext cx="5795010" cy="97790"/>
            <a:chOff x="5995085" y="4737938"/>
            <a:chExt cx="5795010" cy="97790"/>
          </a:xfrm>
        </p:grpSpPr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95085" y="4737938"/>
              <a:ext cx="5794565" cy="97586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035039" y="4754880"/>
              <a:ext cx="5715000" cy="18415"/>
            </a:xfrm>
            <a:custGeom>
              <a:avLst/>
              <a:gdLst/>
              <a:ahLst/>
              <a:cxnLst/>
              <a:rect l="l" t="t" r="r" b="b"/>
              <a:pathLst>
                <a:path w="5715000" h="18414">
                  <a:moveTo>
                    <a:pt x="5714644" y="0"/>
                  </a:moveTo>
                  <a:lnTo>
                    <a:pt x="0" y="0"/>
                  </a:lnTo>
                  <a:lnTo>
                    <a:pt x="0" y="17995"/>
                  </a:lnTo>
                  <a:lnTo>
                    <a:pt x="2857322" y="17995"/>
                  </a:lnTo>
                  <a:lnTo>
                    <a:pt x="5714644" y="17995"/>
                  </a:lnTo>
                  <a:lnTo>
                    <a:pt x="5714644" y="0"/>
                  </a:lnTo>
                  <a:close/>
                </a:path>
              </a:pathLst>
            </a:custGeom>
            <a:solidFill>
              <a:srgbClr val="9BA2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828255" y="5720295"/>
            <a:ext cx="9763545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ru-RU" sz="2200" b="1" dirty="0">
                <a:solidFill>
                  <a:srgbClr val="1E2836"/>
                </a:solidFill>
                <a:latin typeface="Segoe UI"/>
                <a:cs typeface="Segoe UI"/>
              </a:rPr>
              <a:t>Локальная </a:t>
            </a:r>
            <a:r>
              <a:rPr lang="ru-RU" sz="2200" b="1" dirty="0" err="1">
                <a:solidFill>
                  <a:srgbClr val="1E2836"/>
                </a:solidFill>
                <a:latin typeface="Segoe UI"/>
                <a:cs typeface="Segoe UI"/>
              </a:rPr>
              <a:t>валидация</a:t>
            </a:r>
            <a:r>
              <a:rPr lang="ru-RU" sz="2200" b="1" dirty="0">
                <a:solidFill>
                  <a:srgbClr val="1E2836"/>
                </a:solidFill>
                <a:latin typeface="Segoe UI"/>
                <a:cs typeface="Segoe UI"/>
              </a:rPr>
              <a:t>: 0.8353 · временной </a:t>
            </a:r>
            <a:r>
              <a:rPr lang="ru-RU" sz="2200" b="1" dirty="0" smtClean="0">
                <a:solidFill>
                  <a:srgbClr val="1E2836"/>
                </a:solidFill>
                <a:latin typeface="Segoe UI"/>
                <a:cs typeface="Segoe UI"/>
              </a:rPr>
              <a:t>прогон </a:t>
            </a:r>
            <a:r>
              <a:rPr lang="ru-RU" sz="2200" b="1" dirty="0">
                <a:solidFill>
                  <a:srgbClr val="1E2836"/>
                </a:solidFill>
                <a:latin typeface="Segoe UI"/>
                <a:cs typeface="Segoe UI"/>
              </a:rPr>
              <a:t>2024 года: 0.8478</a:t>
            </a:r>
            <a:endParaRPr sz="2200" b="1" dirty="0">
              <a:solidFill>
                <a:srgbClr val="1E2836"/>
              </a:solidFill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ru-RU" dirty="0" err="1"/>
              <a:t>Active</a:t>
            </a:r>
            <a:r>
              <a:rPr lang="ru-RU" dirty="0"/>
              <a:t> </a:t>
            </a:r>
            <a:r>
              <a:rPr lang="ru-RU" dirty="0" err="1"/>
              <a:t>Fire</a:t>
            </a:r>
            <a:r>
              <a:rPr lang="ru-RU" dirty="0"/>
              <a:t>: физика + контекст вместо одного порога</a:t>
            </a:r>
            <a:endParaRPr spc="-10" dirty="0"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0080" y="2590571"/>
            <a:ext cx="5760364" cy="2681274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6680886" y="2269070"/>
            <a:ext cx="153035" cy="948055"/>
            <a:chOff x="6680886" y="2269070"/>
            <a:chExt cx="153035" cy="948055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80886" y="2269070"/>
              <a:ext cx="152641" cy="94788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720840" y="2286000"/>
              <a:ext cx="73025" cy="868680"/>
            </a:xfrm>
            <a:custGeom>
              <a:avLst/>
              <a:gdLst/>
              <a:ahLst/>
              <a:cxnLst/>
              <a:rect l="l" t="t" r="r" b="b"/>
              <a:pathLst>
                <a:path w="73025" h="868680">
                  <a:moveTo>
                    <a:pt x="72720" y="0"/>
                  </a:moveTo>
                  <a:lnTo>
                    <a:pt x="0" y="0"/>
                  </a:lnTo>
                  <a:lnTo>
                    <a:pt x="0" y="868324"/>
                  </a:lnTo>
                  <a:lnTo>
                    <a:pt x="36360" y="868324"/>
                  </a:lnTo>
                  <a:lnTo>
                    <a:pt x="72720" y="868324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C1400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6680886" y="3457790"/>
            <a:ext cx="153035" cy="948055"/>
            <a:chOff x="6680886" y="3457790"/>
            <a:chExt cx="153035" cy="948055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80886" y="3457790"/>
              <a:ext cx="152641" cy="94788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720840" y="3474719"/>
              <a:ext cx="73025" cy="868680"/>
            </a:xfrm>
            <a:custGeom>
              <a:avLst/>
              <a:gdLst/>
              <a:ahLst/>
              <a:cxnLst/>
              <a:rect l="l" t="t" r="r" b="b"/>
              <a:pathLst>
                <a:path w="73025" h="868679">
                  <a:moveTo>
                    <a:pt x="72720" y="0"/>
                  </a:moveTo>
                  <a:lnTo>
                    <a:pt x="0" y="0"/>
                  </a:lnTo>
                  <a:lnTo>
                    <a:pt x="0" y="868324"/>
                  </a:lnTo>
                  <a:lnTo>
                    <a:pt x="36360" y="868324"/>
                  </a:lnTo>
                  <a:lnTo>
                    <a:pt x="72720" y="868324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C1400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6680886" y="4646510"/>
            <a:ext cx="153035" cy="948055"/>
            <a:chOff x="6680886" y="4646510"/>
            <a:chExt cx="153035" cy="948055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80886" y="4646510"/>
              <a:ext cx="152641" cy="94788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720840" y="4663440"/>
              <a:ext cx="73025" cy="868680"/>
            </a:xfrm>
            <a:custGeom>
              <a:avLst/>
              <a:gdLst/>
              <a:ahLst/>
              <a:cxnLst/>
              <a:rect l="l" t="t" r="r" b="b"/>
              <a:pathLst>
                <a:path w="73025" h="868679">
                  <a:moveTo>
                    <a:pt x="72720" y="0"/>
                  </a:moveTo>
                  <a:lnTo>
                    <a:pt x="0" y="0"/>
                  </a:lnTo>
                  <a:lnTo>
                    <a:pt x="0" y="868324"/>
                  </a:lnTo>
                  <a:lnTo>
                    <a:pt x="36360" y="868324"/>
                  </a:lnTo>
                  <a:lnTo>
                    <a:pt x="72720" y="868324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C1400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954735" y="2394978"/>
            <a:ext cx="4639310" cy="2690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 smtClean="0">
                <a:solidFill>
                  <a:srgbClr val="1E2836"/>
                </a:solidFill>
                <a:latin typeface="Segoe UI"/>
                <a:cs typeface="Segoe UI"/>
              </a:rPr>
              <a:t>86</a:t>
            </a:r>
            <a:r>
              <a:rPr sz="2200" spc="-45" dirty="0" smtClean="0">
                <a:solidFill>
                  <a:srgbClr val="1E2836"/>
                </a:solidFill>
                <a:latin typeface="Segoe UI"/>
                <a:cs typeface="Segoe UI"/>
              </a:rPr>
              <a:t> </a:t>
            </a:r>
            <a:r>
              <a:rPr sz="2200" dirty="0" smtClean="0">
                <a:solidFill>
                  <a:srgbClr val="1E2836"/>
                </a:solidFill>
                <a:latin typeface="Segoe UI"/>
                <a:cs typeface="Segoe UI"/>
              </a:rPr>
              <a:t>%</a:t>
            </a:r>
            <a:r>
              <a:rPr sz="2200" spc="-45" dirty="0" smtClean="0">
                <a:solidFill>
                  <a:srgbClr val="1E2836"/>
                </a:solidFill>
                <a:latin typeface="Segoe UI"/>
                <a:cs typeface="Segoe UI"/>
              </a:rPr>
              <a:t> </a:t>
            </a:r>
            <a:r>
              <a:rPr sz="2200" dirty="0" err="1" smtClean="0">
                <a:solidFill>
                  <a:srgbClr val="1E2836"/>
                </a:solidFill>
                <a:latin typeface="Segoe UI"/>
                <a:cs typeface="Segoe UI"/>
              </a:rPr>
              <a:t>ложных</a:t>
            </a:r>
            <a:r>
              <a:rPr sz="2200" spc="-50" dirty="0" smtClean="0">
                <a:solidFill>
                  <a:srgbClr val="1E2836"/>
                </a:solidFill>
                <a:latin typeface="Segoe UI"/>
                <a:cs typeface="Segoe UI"/>
              </a:rPr>
              <a:t> </a:t>
            </a:r>
            <a:r>
              <a:rPr sz="2200" spc="-10" dirty="0" err="1" smtClean="0">
                <a:solidFill>
                  <a:srgbClr val="1E2836"/>
                </a:solidFill>
                <a:latin typeface="Segoe UI"/>
                <a:cs typeface="Segoe UI"/>
              </a:rPr>
              <a:t>срабатываний</a:t>
            </a:r>
            <a:r>
              <a:rPr sz="2200" spc="-50" dirty="0" smtClean="0">
                <a:solidFill>
                  <a:srgbClr val="1E2836"/>
                </a:solidFill>
                <a:latin typeface="Segoe UI"/>
                <a:cs typeface="Segoe UI"/>
              </a:rPr>
              <a:t> </a:t>
            </a:r>
            <a:r>
              <a:rPr sz="2200" spc="-10" dirty="0" err="1" smtClean="0">
                <a:solidFill>
                  <a:srgbClr val="1E2836"/>
                </a:solidFill>
                <a:latin typeface="Segoe UI"/>
                <a:cs typeface="Segoe UI"/>
              </a:rPr>
              <a:t>порога</a:t>
            </a:r>
            <a:endParaRPr sz="2200" dirty="0" smtClean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2200" dirty="0" smtClean="0">
                <a:solidFill>
                  <a:srgbClr val="1E2836"/>
                </a:solidFill>
                <a:latin typeface="Segoe UI"/>
                <a:cs typeface="Segoe UI"/>
              </a:rPr>
              <a:t>—</a:t>
            </a:r>
            <a:r>
              <a:rPr sz="2200" spc="-55" dirty="0" smtClean="0">
                <a:solidFill>
                  <a:srgbClr val="1E2836"/>
                </a:solidFill>
                <a:latin typeface="Segoe UI"/>
                <a:cs typeface="Segoe UI"/>
              </a:rPr>
              <a:t> </a:t>
            </a:r>
            <a:r>
              <a:rPr sz="2200" dirty="0" err="1" smtClean="0">
                <a:solidFill>
                  <a:srgbClr val="1E2836"/>
                </a:solidFill>
                <a:latin typeface="Segoe UI"/>
                <a:cs typeface="Segoe UI"/>
              </a:rPr>
              <a:t>дневная</a:t>
            </a:r>
            <a:r>
              <a:rPr sz="2200" spc="-55" dirty="0" smtClean="0">
                <a:solidFill>
                  <a:srgbClr val="1E2836"/>
                </a:solidFill>
                <a:latin typeface="Segoe UI"/>
                <a:cs typeface="Segoe UI"/>
              </a:rPr>
              <a:t> </a:t>
            </a:r>
            <a:r>
              <a:rPr sz="2200" dirty="0" err="1" smtClean="0">
                <a:solidFill>
                  <a:srgbClr val="1E2836"/>
                </a:solidFill>
                <a:latin typeface="Segoe UI"/>
                <a:cs typeface="Segoe UI"/>
              </a:rPr>
              <a:t>пашня</a:t>
            </a:r>
            <a:r>
              <a:rPr sz="2200" spc="-55" dirty="0" smtClean="0">
                <a:solidFill>
                  <a:srgbClr val="1E2836"/>
                </a:solidFill>
                <a:latin typeface="Segoe UI"/>
                <a:cs typeface="Segoe UI"/>
              </a:rPr>
              <a:t> </a:t>
            </a:r>
            <a:r>
              <a:rPr sz="2200" dirty="0" smtClean="0">
                <a:solidFill>
                  <a:srgbClr val="1E2836"/>
                </a:solidFill>
                <a:latin typeface="Segoe UI"/>
                <a:cs typeface="Segoe UI"/>
              </a:rPr>
              <a:t>и</a:t>
            </a:r>
            <a:r>
              <a:rPr sz="2200" spc="-55" dirty="0" smtClean="0">
                <a:solidFill>
                  <a:srgbClr val="1E2836"/>
                </a:solidFill>
                <a:latin typeface="Segoe UI"/>
                <a:cs typeface="Segoe UI"/>
              </a:rPr>
              <a:t> </a:t>
            </a:r>
            <a:r>
              <a:rPr sz="2200" spc="-10" dirty="0" err="1" smtClean="0">
                <a:solidFill>
                  <a:srgbClr val="1E2836"/>
                </a:solidFill>
                <a:latin typeface="Segoe UI"/>
                <a:cs typeface="Segoe UI"/>
              </a:rPr>
              <a:t>степь</a:t>
            </a:r>
            <a:endParaRPr sz="2200" dirty="0" smtClean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2200" dirty="0" smtClean="0">
              <a:latin typeface="Segoe UI"/>
              <a:cs typeface="Segoe UI"/>
            </a:endParaRPr>
          </a:p>
          <a:p>
            <a:pPr marL="12700" marR="306705">
              <a:lnSpc>
                <a:spcPct val="100000"/>
              </a:lnSpc>
            </a:pPr>
            <a:r>
              <a:rPr sz="2200" dirty="0" smtClean="0">
                <a:solidFill>
                  <a:srgbClr val="1E2836"/>
                </a:solidFill>
                <a:latin typeface="Segoe UI"/>
                <a:cs typeface="Segoe UI"/>
              </a:rPr>
              <a:t>110</a:t>
            </a:r>
            <a:r>
              <a:rPr sz="2200" spc="-50" dirty="0" smtClean="0">
                <a:solidFill>
                  <a:srgbClr val="1E2836"/>
                </a:solidFill>
                <a:latin typeface="Segoe UI"/>
                <a:cs typeface="Segoe UI"/>
              </a:rPr>
              <a:t> </a:t>
            </a:r>
            <a:r>
              <a:rPr sz="2200" dirty="0">
                <a:solidFill>
                  <a:srgbClr val="1E2836"/>
                </a:solidFill>
                <a:latin typeface="Segoe UI"/>
                <a:cs typeface="Segoe UI"/>
              </a:rPr>
              <a:t>признаков:</a:t>
            </a:r>
            <a:r>
              <a:rPr sz="2200" spc="-45" dirty="0">
                <a:solidFill>
                  <a:srgbClr val="1E2836"/>
                </a:solidFill>
                <a:latin typeface="Segoe UI"/>
                <a:cs typeface="Segoe UI"/>
              </a:rPr>
              <a:t> </a:t>
            </a:r>
            <a:r>
              <a:rPr sz="2200" dirty="0">
                <a:solidFill>
                  <a:srgbClr val="1E2836"/>
                </a:solidFill>
                <a:latin typeface="Segoe UI"/>
                <a:cs typeface="Segoe UI"/>
              </a:rPr>
              <a:t>I4,</a:t>
            </a:r>
            <a:r>
              <a:rPr sz="2200" spc="-50" dirty="0">
                <a:solidFill>
                  <a:srgbClr val="1E2836"/>
                </a:solidFill>
                <a:latin typeface="Segoe UI"/>
                <a:cs typeface="Segoe UI"/>
              </a:rPr>
              <a:t> </a:t>
            </a:r>
            <a:r>
              <a:rPr sz="2200" dirty="0">
                <a:solidFill>
                  <a:srgbClr val="1E2836"/>
                </a:solidFill>
                <a:latin typeface="Segoe UI"/>
                <a:cs typeface="Segoe UI"/>
              </a:rPr>
              <a:t>I4−I5,</a:t>
            </a:r>
            <a:r>
              <a:rPr sz="2200" spc="-45" dirty="0">
                <a:solidFill>
                  <a:srgbClr val="1E2836"/>
                </a:solidFill>
                <a:latin typeface="Segoe UI"/>
                <a:cs typeface="Segoe UI"/>
              </a:rPr>
              <a:t> </a:t>
            </a:r>
            <a:r>
              <a:rPr sz="2200" dirty="0">
                <a:solidFill>
                  <a:srgbClr val="1E2836"/>
                </a:solidFill>
                <a:latin typeface="Segoe UI"/>
                <a:cs typeface="Segoe UI"/>
              </a:rPr>
              <a:t>фон</a:t>
            </a:r>
            <a:r>
              <a:rPr sz="2200" spc="-50" dirty="0">
                <a:solidFill>
                  <a:srgbClr val="1E2836"/>
                </a:solidFill>
                <a:latin typeface="Segoe UI"/>
                <a:cs typeface="Segoe UI"/>
              </a:rPr>
              <a:t> в </a:t>
            </a:r>
            <a:r>
              <a:rPr sz="2200" dirty="0">
                <a:solidFill>
                  <a:srgbClr val="1E2836"/>
                </a:solidFill>
                <a:latin typeface="Segoe UI"/>
                <a:cs typeface="Segoe UI"/>
              </a:rPr>
              <a:t>окнах</a:t>
            </a:r>
            <a:r>
              <a:rPr sz="2200" spc="-60" dirty="0">
                <a:solidFill>
                  <a:srgbClr val="1E2836"/>
                </a:solidFill>
                <a:latin typeface="Segoe UI"/>
                <a:cs typeface="Segoe UI"/>
              </a:rPr>
              <a:t> </a:t>
            </a:r>
            <a:r>
              <a:rPr sz="2200" spc="-25" dirty="0">
                <a:solidFill>
                  <a:srgbClr val="1E2836"/>
                </a:solidFill>
                <a:latin typeface="Segoe UI"/>
                <a:cs typeface="Segoe UI"/>
              </a:rPr>
              <a:t>5–</a:t>
            </a:r>
            <a:r>
              <a:rPr sz="2200" dirty="0">
                <a:solidFill>
                  <a:srgbClr val="1E2836"/>
                </a:solidFill>
                <a:latin typeface="Segoe UI"/>
                <a:cs typeface="Segoe UI"/>
              </a:rPr>
              <a:t>15</a:t>
            </a:r>
            <a:r>
              <a:rPr sz="2200" spc="-50" dirty="0">
                <a:solidFill>
                  <a:srgbClr val="1E2836"/>
                </a:solidFill>
                <a:latin typeface="Segoe UI"/>
                <a:cs typeface="Segoe UI"/>
              </a:rPr>
              <a:t> </a:t>
            </a:r>
            <a:r>
              <a:rPr sz="2200" dirty="0">
                <a:solidFill>
                  <a:srgbClr val="1E2836"/>
                </a:solidFill>
                <a:latin typeface="Segoe UI"/>
                <a:cs typeface="Segoe UI"/>
              </a:rPr>
              <a:t>px,</a:t>
            </a:r>
            <a:r>
              <a:rPr sz="2200" spc="-55" dirty="0">
                <a:solidFill>
                  <a:srgbClr val="1E2836"/>
                </a:solidFill>
                <a:latin typeface="Segoe UI"/>
                <a:cs typeface="Segoe UI"/>
              </a:rPr>
              <a:t> </a:t>
            </a:r>
            <a:r>
              <a:rPr sz="2200" dirty="0">
                <a:solidFill>
                  <a:srgbClr val="1E2836"/>
                </a:solidFill>
                <a:latin typeface="Segoe UI"/>
                <a:cs typeface="Segoe UI"/>
              </a:rPr>
              <a:t>день/ночь,</a:t>
            </a:r>
            <a:r>
              <a:rPr sz="2200" spc="-50" dirty="0">
                <a:solidFill>
                  <a:srgbClr val="1E2836"/>
                </a:solidFill>
                <a:latin typeface="Segoe UI"/>
                <a:cs typeface="Segoe UI"/>
              </a:rPr>
              <a:t> </a:t>
            </a:r>
            <a:r>
              <a:rPr sz="2200" spc="-10" dirty="0">
                <a:solidFill>
                  <a:srgbClr val="1E2836"/>
                </a:solidFill>
                <a:latin typeface="Segoe UI"/>
                <a:cs typeface="Segoe UI"/>
              </a:rPr>
              <a:t>покров</a:t>
            </a:r>
            <a:endParaRPr sz="22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155"/>
              </a:spcBef>
            </a:pPr>
            <a:endParaRPr sz="2200" dirty="0">
              <a:latin typeface="Segoe UI"/>
              <a:cs typeface="Segoe UI"/>
            </a:endParaRPr>
          </a:p>
          <a:p>
            <a:pPr marL="12700" marR="5080">
              <a:lnSpc>
                <a:spcPct val="100000"/>
              </a:lnSpc>
            </a:pPr>
            <a:r>
              <a:rPr lang="ru-RU" sz="2200" spc="-25" dirty="0">
                <a:solidFill>
                  <a:srgbClr val="1E2836"/>
                </a:solidFill>
                <a:latin typeface="Segoe UI"/>
                <a:cs typeface="Segoe UI"/>
              </a:rPr>
              <a:t>Ансамбль из 5 </a:t>
            </a:r>
            <a:r>
              <a:rPr lang="ru-RU" sz="2200" spc="-25" dirty="0" err="1">
                <a:solidFill>
                  <a:srgbClr val="1E2836"/>
                </a:solidFill>
                <a:latin typeface="Segoe UI"/>
                <a:cs typeface="Segoe UI"/>
              </a:rPr>
              <a:t>LightGBM</a:t>
            </a:r>
            <a:r>
              <a:rPr lang="ru-RU" sz="2200" spc="-25" dirty="0">
                <a:solidFill>
                  <a:srgbClr val="1E2836"/>
                </a:solidFill>
                <a:latin typeface="Segoe UI"/>
                <a:cs typeface="Segoe UI"/>
              </a:rPr>
              <a:t> · F1 0.968</a:t>
            </a:r>
            <a:endParaRPr sz="2200" spc="-25" dirty="0">
              <a:solidFill>
                <a:srgbClr val="1E2836"/>
              </a:solidFill>
              <a:latin typeface="Segoe UI"/>
              <a:cs typeface="Segoe UI"/>
            </a:endParaRPr>
          </a:p>
        </p:txBody>
      </p:sp>
      <p:sp>
        <p:nvSpPr>
          <p:cNvPr id="18" name="object 26"/>
          <p:cNvSpPr txBox="1"/>
          <p:nvPr/>
        </p:nvSpPr>
        <p:spPr>
          <a:xfrm>
            <a:off x="838200" y="5853891"/>
            <a:ext cx="9763545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ru-RU" sz="2200" b="1" dirty="0">
                <a:solidFill>
                  <a:srgbClr val="1E2836"/>
                </a:solidFill>
                <a:latin typeface="Segoe UI"/>
                <a:cs typeface="Segoe UI"/>
              </a:rPr>
              <a:t>Остаточные ошибки сосредоточены в основном на границах очагов</a:t>
            </a:r>
            <a:endParaRPr sz="2200" b="1" dirty="0">
              <a:solidFill>
                <a:srgbClr val="1E2836"/>
              </a:solidFill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ru-RU" dirty="0" smtClean="0"/>
              <a:t>Одинаковый </a:t>
            </a:r>
            <a:r>
              <a:rPr lang="ru-RU" dirty="0" err="1"/>
              <a:t>dNBR</a:t>
            </a:r>
            <a:r>
              <a:rPr lang="ru-RU" dirty="0"/>
              <a:t> означает разную степень для разных типов покрова</a:t>
            </a:r>
            <a:endParaRPr spc="-10" dirty="0"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9119" y="2102751"/>
            <a:ext cx="5282285" cy="3748684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6680886" y="2223350"/>
            <a:ext cx="153035" cy="1039494"/>
            <a:chOff x="6680886" y="2223350"/>
            <a:chExt cx="153035" cy="1039494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80886" y="2223350"/>
              <a:ext cx="152641" cy="103932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720840" y="2240280"/>
              <a:ext cx="73025" cy="960119"/>
            </a:xfrm>
            <a:custGeom>
              <a:avLst/>
              <a:gdLst/>
              <a:ahLst/>
              <a:cxnLst/>
              <a:rect l="l" t="t" r="r" b="b"/>
              <a:pathLst>
                <a:path w="73025" h="960119">
                  <a:moveTo>
                    <a:pt x="72720" y="0"/>
                  </a:moveTo>
                  <a:lnTo>
                    <a:pt x="0" y="0"/>
                  </a:lnTo>
                  <a:lnTo>
                    <a:pt x="0" y="959764"/>
                  </a:lnTo>
                  <a:lnTo>
                    <a:pt x="36360" y="959764"/>
                  </a:lnTo>
                  <a:lnTo>
                    <a:pt x="72720" y="959764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C1400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6680886" y="3485146"/>
            <a:ext cx="153035" cy="1039494"/>
            <a:chOff x="6680886" y="3485146"/>
            <a:chExt cx="153035" cy="1039494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80886" y="3485146"/>
              <a:ext cx="152641" cy="103932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720840" y="3502075"/>
              <a:ext cx="73025" cy="960119"/>
            </a:xfrm>
            <a:custGeom>
              <a:avLst/>
              <a:gdLst/>
              <a:ahLst/>
              <a:cxnLst/>
              <a:rect l="l" t="t" r="r" b="b"/>
              <a:pathLst>
                <a:path w="73025" h="960120">
                  <a:moveTo>
                    <a:pt x="72720" y="0"/>
                  </a:moveTo>
                  <a:lnTo>
                    <a:pt x="0" y="0"/>
                  </a:lnTo>
                  <a:lnTo>
                    <a:pt x="0" y="959764"/>
                  </a:lnTo>
                  <a:lnTo>
                    <a:pt x="36360" y="959764"/>
                  </a:lnTo>
                  <a:lnTo>
                    <a:pt x="72720" y="959764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C1400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6680886" y="4746942"/>
            <a:ext cx="153035" cy="1039494"/>
            <a:chOff x="6680886" y="4746942"/>
            <a:chExt cx="153035" cy="1039494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80886" y="4746942"/>
              <a:ext cx="152641" cy="103934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720840" y="4763884"/>
              <a:ext cx="73025" cy="960119"/>
            </a:xfrm>
            <a:custGeom>
              <a:avLst/>
              <a:gdLst/>
              <a:ahLst/>
              <a:cxnLst/>
              <a:rect l="l" t="t" r="r" b="b"/>
              <a:pathLst>
                <a:path w="73025" h="960120">
                  <a:moveTo>
                    <a:pt x="72720" y="0"/>
                  </a:moveTo>
                  <a:lnTo>
                    <a:pt x="0" y="0"/>
                  </a:lnTo>
                  <a:lnTo>
                    <a:pt x="0" y="959751"/>
                  </a:lnTo>
                  <a:lnTo>
                    <a:pt x="36360" y="959751"/>
                  </a:lnTo>
                  <a:lnTo>
                    <a:pt x="72720" y="959751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C1400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954735" y="2410091"/>
            <a:ext cx="4220210" cy="3189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4130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solidFill>
                  <a:srgbClr val="1E2836"/>
                </a:solidFill>
                <a:latin typeface="Segoe UI"/>
                <a:cs typeface="Segoe UI"/>
              </a:rPr>
              <a:t>пороги</a:t>
            </a:r>
            <a:r>
              <a:rPr sz="2100" spc="-45" dirty="0">
                <a:solidFill>
                  <a:srgbClr val="1E2836"/>
                </a:solidFill>
                <a:latin typeface="Segoe UI"/>
                <a:cs typeface="Segoe UI"/>
              </a:rPr>
              <a:t> </a:t>
            </a:r>
            <a:r>
              <a:rPr sz="2100" dirty="0">
                <a:solidFill>
                  <a:srgbClr val="1E2836"/>
                </a:solidFill>
                <a:latin typeface="Segoe UI"/>
                <a:cs typeface="Segoe UI"/>
              </a:rPr>
              <a:t>dNBR:</a:t>
            </a:r>
            <a:r>
              <a:rPr sz="2100" spc="-50" dirty="0">
                <a:solidFill>
                  <a:srgbClr val="1E2836"/>
                </a:solidFill>
                <a:latin typeface="Segoe UI"/>
                <a:cs typeface="Segoe UI"/>
              </a:rPr>
              <a:t> </a:t>
            </a:r>
            <a:r>
              <a:rPr sz="2100" dirty="0">
                <a:solidFill>
                  <a:srgbClr val="1E2836"/>
                </a:solidFill>
                <a:latin typeface="Segoe UI"/>
                <a:cs typeface="Segoe UI"/>
              </a:rPr>
              <a:t>лес</a:t>
            </a:r>
            <a:r>
              <a:rPr sz="2100" spc="-50" dirty="0">
                <a:solidFill>
                  <a:srgbClr val="1E2836"/>
                </a:solidFill>
                <a:latin typeface="Segoe UI"/>
                <a:cs typeface="Segoe UI"/>
              </a:rPr>
              <a:t> </a:t>
            </a:r>
            <a:r>
              <a:rPr sz="2100" spc="-10" dirty="0">
                <a:solidFill>
                  <a:srgbClr val="1E2836"/>
                </a:solidFill>
                <a:latin typeface="Segoe UI"/>
                <a:cs typeface="Segoe UI"/>
              </a:rPr>
              <a:t>0.16/0.32/0.60, </a:t>
            </a:r>
            <a:r>
              <a:rPr sz="2100" dirty="0">
                <a:solidFill>
                  <a:srgbClr val="1E2836"/>
                </a:solidFill>
                <a:latin typeface="Segoe UI"/>
                <a:cs typeface="Segoe UI"/>
              </a:rPr>
              <a:t>пашня</a:t>
            </a:r>
            <a:r>
              <a:rPr sz="2100" spc="-25" dirty="0">
                <a:solidFill>
                  <a:srgbClr val="1E2836"/>
                </a:solidFill>
                <a:latin typeface="Segoe UI"/>
                <a:cs typeface="Segoe UI"/>
              </a:rPr>
              <a:t> </a:t>
            </a:r>
            <a:r>
              <a:rPr sz="2100" spc="-10" dirty="0">
                <a:solidFill>
                  <a:srgbClr val="1E2836"/>
                </a:solidFill>
                <a:latin typeface="Segoe UI"/>
                <a:cs typeface="Segoe UI"/>
              </a:rPr>
              <a:t>0.08/0.18/0.38</a:t>
            </a:r>
            <a:endParaRPr sz="21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840"/>
              </a:spcBef>
            </a:pPr>
            <a:endParaRPr sz="2100">
              <a:latin typeface="Segoe UI"/>
              <a:cs typeface="Segoe UI"/>
            </a:endParaRPr>
          </a:p>
          <a:p>
            <a:pPr marL="12700" marR="72390">
              <a:lnSpc>
                <a:spcPct val="100000"/>
              </a:lnSpc>
            </a:pPr>
            <a:r>
              <a:rPr sz="2100" dirty="0">
                <a:solidFill>
                  <a:srgbClr val="1E2836"/>
                </a:solidFill>
                <a:latin typeface="Segoe UI"/>
                <a:cs typeface="Segoe UI"/>
              </a:rPr>
              <a:t>3</a:t>
            </a:r>
            <a:r>
              <a:rPr sz="2100" spc="-50" dirty="0">
                <a:solidFill>
                  <a:srgbClr val="1E2836"/>
                </a:solidFill>
                <a:latin typeface="Segoe UI"/>
                <a:cs typeface="Segoe UI"/>
              </a:rPr>
              <a:t> </a:t>
            </a:r>
            <a:r>
              <a:rPr sz="2100" dirty="0">
                <a:solidFill>
                  <a:srgbClr val="1E2836"/>
                </a:solidFill>
                <a:latin typeface="Segoe UI"/>
                <a:cs typeface="Segoe UI"/>
              </a:rPr>
              <a:t>UNet</a:t>
            </a:r>
            <a:r>
              <a:rPr sz="2100" spc="-45" dirty="0">
                <a:solidFill>
                  <a:srgbClr val="1E2836"/>
                </a:solidFill>
                <a:latin typeface="Segoe UI"/>
                <a:cs typeface="Segoe UI"/>
              </a:rPr>
              <a:t> </a:t>
            </a:r>
            <a:r>
              <a:rPr sz="2100" dirty="0">
                <a:solidFill>
                  <a:srgbClr val="1E2836"/>
                </a:solidFill>
                <a:latin typeface="Segoe UI"/>
                <a:cs typeface="Segoe UI"/>
              </a:rPr>
              <a:t>(один</a:t>
            </a:r>
            <a:r>
              <a:rPr sz="2100" spc="-40" dirty="0">
                <a:solidFill>
                  <a:srgbClr val="1E2836"/>
                </a:solidFill>
                <a:latin typeface="Segoe UI"/>
                <a:cs typeface="Segoe UI"/>
              </a:rPr>
              <a:t> </a:t>
            </a:r>
            <a:r>
              <a:rPr sz="2100" dirty="0">
                <a:solidFill>
                  <a:srgbClr val="1E2836"/>
                </a:solidFill>
                <a:latin typeface="Segoe UI"/>
                <a:cs typeface="Segoe UI"/>
              </a:rPr>
              <a:t>на</a:t>
            </a:r>
            <a:r>
              <a:rPr sz="2100" spc="-40" dirty="0">
                <a:solidFill>
                  <a:srgbClr val="1E2836"/>
                </a:solidFill>
                <a:latin typeface="Segoe UI"/>
                <a:cs typeface="Segoe UI"/>
              </a:rPr>
              <a:t> </a:t>
            </a:r>
            <a:r>
              <a:rPr sz="2100" dirty="0">
                <a:solidFill>
                  <a:srgbClr val="1E2836"/>
                </a:solidFill>
                <a:latin typeface="Segoe UI"/>
                <a:cs typeface="Segoe UI"/>
              </a:rPr>
              <a:t>масштабе</a:t>
            </a:r>
            <a:r>
              <a:rPr sz="2100" spc="-35" dirty="0">
                <a:solidFill>
                  <a:srgbClr val="1E2836"/>
                </a:solidFill>
                <a:latin typeface="Segoe UI"/>
                <a:cs typeface="Segoe UI"/>
              </a:rPr>
              <a:t> </a:t>
            </a:r>
            <a:r>
              <a:rPr sz="2100" dirty="0">
                <a:solidFill>
                  <a:srgbClr val="1E2836"/>
                </a:solidFill>
                <a:latin typeface="Segoe UI"/>
                <a:cs typeface="Segoe UI"/>
              </a:rPr>
              <a:t>0.75</a:t>
            </a:r>
            <a:r>
              <a:rPr sz="2100" spc="-45" dirty="0">
                <a:solidFill>
                  <a:srgbClr val="1E2836"/>
                </a:solidFill>
                <a:latin typeface="Segoe UI"/>
                <a:cs typeface="Segoe UI"/>
              </a:rPr>
              <a:t> </a:t>
            </a:r>
            <a:r>
              <a:rPr sz="2100" spc="-50" dirty="0">
                <a:solidFill>
                  <a:srgbClr val="1E2836"/>
                </a:solidFill>
                <a:latin typeface="Segoe UI"/>
                <a:cs typeface="Segoe UI"/>
              </a:rPr>
              <a:t>— </a:t>
            </a:r>
            <a:r>
              <a:rPr sz="2100" dirty="0">
                <a:solidFill>
                  <a:srgbClr val="1E2836"/>
                </a:solidFill>
                <a:latin typeface="Segoe UI"/>
                <a:cs typeface="Segoe UI"/>
              </a:rPr>
              <a:t>больше</a:t>
            </a:r>
            <a:r>
              <a:rPr sz="2100" spc="-65" dirty="0">
                <a:solidFill>
                  <a:srgbClr val="1E2836"/>
                </a:solidFill>
                <a:latin typeface="Segoe UI"/>
                <a:cs typeface="Segoe UI"/>
              </a:rPr>
              <a:t> </a:t>
            </a:r>
            <a:r>
              <a:rPr sz="2100" dirty="0">
                <a:solidFill>
                  <a:srgbClr val="1E2836"/>
                </a:solidFill>
                <a:latin typeface="Segoe UI"/>
                <a:cs typeface="Segoe UI"/>
              </a:rPr>
              <a:t>контекста)</a:t>
            </a:r>
            <a:r>
              <a:rPr sz="2100" spc="-65" dirty="0">
                <a:solidFill>
                  <a:srgbClr val="1E2836"/>
                </a:solidFill>
                <a:latin typeface="Segoe UI"/>
                <a:cs typeface="Segoe UI"/>
              </a:rPr>
              <a:t> </a:t>
            </a:r>
            <a:r>
              <a:rPr sz="2100" dirty="0">
                <a:solidFill>
                  <a:srgbClr val="1E2836"/>
                </a:solidFill>
                <a:latin typeface="Segoe UI"/>
                <a:cs typeface="Segoe UI"/>
              </a:rPr>
              <a:t>→</a:t>
            </a:r>
            <a:r>
              <a:rPr sz="2100" spc="-70" dirty="0">
                <a:solidFill>
                  <a:srgbClr val="1E2836"/>
                </a:solidFill>
                <a:latin typeface="Segoe UI"/>
                <a:cs typeface="Segoe UI"/>
              </a:rPr>
              <a:t> </a:t>
            </a:r>
            <a:r>
              <a:rPr sz="2100" dirty="0">
                <a:solidFill>
                  <a:srgbClr val="1E2836"/>
                </a:solidFill>
                <a:latin typeface="Segoe UI"/>
                <a:cs typeface="Segoe UI"/>
              </a:rPr>
              <a:t>бустинг</a:t>
            </a:r>
            <a:r>
              <a:rPr sz="2100" spc="-65" dirty="0">
                <a:solidFill>
                  <a:srgbClr val="1E2836"/>
                </a:solidFill>
                <a:latin typeface="Segoe UI"/>
                <a:cs typeface="Segoe UI"/>
              </a:rPr>
              <a:t> </a:t>
            </a:r>
            <a:r>
              <a:rPr sz="2100" spc="-25" dirty="0">
                <a:solidFill>
                  <a:srgbClr val="1E2836"/>
                </a:solidFill>
                <a:latin typeface="Segoe UI"/>
                <a:cs typeface="Segoe UI"/>
              </a:rPr>
              <a:t>по </a:t>
            </a:r>
            <a:r>
              <a:rPr sz="2100" dirty="0">
                <a:solidFill>
                  <a:srgbClr val="1E2836"/>
                </a:solidFill>
                <a:latin typeface="Segoe UI"/>
                <a:cs typeface="Segoe UI"/>
              </a:rPr>
              <a:t>пикселям</a:t>
            </a:r>
            <a:r>
              <a:rPr sz="2100" spc="-75" dirty="0">
                <a:solidFill>
                  <a:srgbClr val="1E2836"/>
                </a:solidFill>
                <a:latin typeface="Segoe UI"/>
                <a:cs typeface="Segoe UI"/>
              </a:rPr>
              <a:t> </a:t>
            </a:r>
            <a:r>
              <a:rPr sz="2100" dirty="0">
                <a:solidFill>
                  <a:srgbClr val="1E2836"/>
                </a:solidFill>
                <a:latin typeface="Segoe UI"/>
                <a:cs typeface="Segoe UI"/>
              </a:rPr>
              <a:t>→</a:t>
            </a:r>
            <a:r>
              <a:rPr sz="2100" spc="-75" dirty="0">
                <a:solidFill>
                  <a:srgbClr val="1E2836"/>
                </a:solidFill>
                <a:latin typeface="Segoe UI"/>
                <a:cs typeface="Segoe UI"/>
              </a:rPr>
              <a:t> </a:t>
            </a:r>
            <a:r>
              <a:rPr sz="2100" spc="-10" dirty="0">
                <a:solidFill>
                  <a:srgbClr val="1E2836"/>
                </a:solidFill>
                <a:latin typeface="Segoe UI"/>
                <a:cs typeface="Segoe UI"/>
              </a:rPr>
              <a:t>постобработка</a:t>
            </a:r>
            <a:endParaRPr sz="21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844"/>
              </a:spcBef>
            </a:pPr>
            <a:endParaRPr sz="2100">
              <a:latin typeface="Segoe UI"/>
              <a:cs typeface="Segoe UI"/>
            </a:endParaRPr>
          </a:p>
          <a:p>
            <a:pPr marL="12700" marR="5080">
              <a:lnSpc>
                <a:spcPct val="100000"/>
              </a:lnSpc>
            </a:pPr>
            <a:r>
              <a:rPr sz="2100" dirty="0">
                <a:solidFill>
                  <a:srgbClr val="1E2836"/>
                </a:solidFill>
                <a:latin typeface="Segoe UI"/>
                <a:cs typeface="Segoe UI"/>
              </a:rPr>
              <a:t>IoU</a:t>
            </a:r>
            <a:r>
              <a:rPr sz="2100" spc="-40" dirty="0">
                <a:solidFill>
                  <a:srgbClr val="1E2836"/>
                </a:solidFill>
                <a:latin typeface="Segoe UI"/>
                <a:cs typeface="Segoe UI"/>
              </a:rPr>
              <a:t> </a:t>
            </a:r>
            <a:r>
              <a:rPr sz="2100" dirty="0">
                <a:solidFill>
                  <a:srgbClr val="1E2836"/>
                </a:solidFill>
                <a:latin typeface="Segoe UI"/>
                <a:cs typeface="Segoe UI"/>
              </a:rPr>
              <a:t>контура</a:t>
            </a:r>
            <a:r>
              <a:rPr sz="2100" spc="-40" dirty="0">
                <a:solidFill>
                  <a:srgbClr val="1E2836"/>
                </a:solidFill>
                <a:latin typeface="Segoe UI"/>
                <a:cs typeface="Segoe UI"/>
              </a:rPr>
              <a:t> </a:t>
            </a:r>
            <a:r>
              <a:rPr sz="2100" dirty="0">
                <a:solidFill>
                  <a:srgbClr val="1E2836"/>
                </a:solidFill>
                <a:latin typeface="Segoe UI"/>
                <a:cs typeface="Segoe UI"/>
              </a:rPr>
              <a:t>0.765</a:t>
            </a:r>
            <a:r>
              <a:rPr sz="2100" spc="-35" dirty="0">
                <a:solidFill>
                  <a:srgbClr val="1E2836"/>
                </a:solidFill>
                <a:latin typeface="Segoe UI"/>
                <a:cs typeface="Segoe UI"/>
              </a:rPr>
              <a:t> </a:t>
            </a:r>
            <a:r>
              <a:rPr sz="2100" dirty="0">
                <a:solidFill>
                  <a:srgbClr val="1E2836"/>
                </a:solidFill>
                <a:latin typeface="Segoe UI"/>
                <a:cs typeface="Segoe UI"/>
              </a:rPr>
              <a:t>·</a:t>
            </a:r>
            <a:r>
              <a:rPr sz="2100" spc="-40" dirty="0">
                <a:solidFill>
                  <a:srgbClr val="1E2836"/>
                </a:solidFill>
                <a:latin typeface="Segoe UI"/>
                <a:cs typeface="Segoe UI"/>
              </a:rPr>
              <a:t> </a:t>
            </a:r>
            <a:r>
              <a:rPr sz="2100" dirty="0">
                <a:solidFill>
                  <a:srgbClr val="1E2836"/>
                </a:solidFill>
                <a:latin typeface="Segoe UI"/>
                <a:cs typeface="Segoe UI"/>
              </a:rPr>
              <a:t>mIoU</a:t>
            </a:r>
            <a:r>
              <a:rPr sz="2100" spc="-40" dirty="0">
                <a:solidFill>
                  <a:srgbClr val="1E2836"/>
                </a:solidFill>
                <a:latin typeface="Segoe UI"/>
                <a:cs typeface="Segoe UI"/>
              </a:rPr>
              <a:t> </a:t>
            </a:r>
            <a:r>
              <a:rPr sz="2100" spc="-10" dirty="0">
                <a:solidFill>
                  <a:srgbClr val="1E2836"/>
                </a:solidFill>
                <a:latin typeface="Segoe UI"/>
                <a:cs typeface="Segoe UI"/>
              </a:rPr>
              <a:t>степеней 0.763</a:t>
            </a:r>
            <a:endParaRPr sz="2100">
              <a:latin typeface="Segoe UI"/>
              <a:cs typeface="Segoe UI"/>
            </a:endParaRPr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0127" y="5851435"/>
            <a:ext cx="4826800" cy="386144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647" y="6114352"/>
            <a:ext cx="2568861" cy="390498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7206" y="5786284"/>
            <a:ext cx="3811449" cy="75357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5375" y="416775"/>
            <a:ext cx="1058735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134</a:t>
            </a:r>
            <a:r>
              <a:rPr spc="-95" dirty="0"/>
              <a:t> </a:t>
            </a:r>
            <a:r>
              <a:rPr spc="-10" dirty="0"/>
              <a:t>эксперимента,</a:t>
            </a:r>
            <a:r>
              <a:rPr spc="-95" dirty="0"/>
              <a:t> </a:t>
            </a:r>
            <a:r>
              <a:rPr lang="ru-RU" dirty="0"/>
              <a:t>7 ключевых решений</a:t>
            </a:r>
            <a:endParaRPr spc="-10" dirty="0"/>
          </a:p>
        </p:txBody>
      </p:sp>
      <p:grpSp>
        <p:nvGrpSpPr>
          <p:cNvPr id="6" name="object 6"/>
          <p:cNvGrpSpPr/>
          <p:nvPr/>
        </p:nvGrpSpPr>
        <p:grpSpPr>
          <a:xfrm>
            <a:off x="874077" y="2971431"/>
            <a:ext cx="10442575" cy="816610"/>
            <a:chOff x="874077" y="2971431"/>
            <a:chExt cx="10442575" cy="81661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4077" y="3535184"/>
              <a:ext cx="10442524" cy="10657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914044" y="3552113"/>
              <a:ext cx="10363200" cy="27305"/>
            </a:xfrm>
            <a:custGeom>
              <a:avLst/>
              <a:gdLst/>
              <a:ahLst/>
              <a:cxnLst/>
              <a:rect l="l" t="t" r="r" b="b"/>
              <a:pathLst>
                <a:path w="10363200" h="27304">
                  <a:moveTo>
                    <a:pt x="10362590" y="0"/>
                  </a:moveTo>
                  <a:lnTo>
                    <a:pt x="0" y="0"/>
                  </a:lnTo>
                  <a:lnTo>
                    <a:pt x="0" y="27000"/>
                  </a:lnTo>
                  <a:lnTo>
                    <a:pt x="5181473" y="27000"/>
                  </a:lnTo>
                  <a:lnTo>
                    <a:pt x="10362590" y="27000"/>
                  </a:lnTo>
                  <a:lnTo>
                    <a:pt x="10362590" y="0"/>
                  </a:lnTo>
                  <a:close/>
                </a:path>
              </a:pathLst>
            </a:custGeom>
            <a:solidFill>
              <a:srgbClr val="9BA2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8063" y="3500506"/>
              <a:ext cx="180690" cy="18001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71994" y="3511435"/>
              <a:ext cx="109804" cy="10944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88786" y="3500506"/>
              <a:ext cx="180690" cy="18001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22717" y="3511435"/>
              <a:ext cx="109804" cy="10944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14147" y="3500506"/>
              <a:ext cx="180690" cy="18001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48078" y="3511435"/>
              <a:ext cx="109804" cy="10944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39509" y="3500506"/>
              <a:ext cx="180690" cy="18001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73440" y="3511435"/>
              <a:ext cx="109804" cy="10944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89864" y="3500506"/>
              <a:ext cx="180690" cy="18001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23795" y="3511435"/>
              <a:ext cx="109804" cy="10944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15225" y="3500506"/>
              <a:ext cx="180690" cy="180013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49156" y="3511435"/>
              <a:ext cx="109804" cy="109448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40586" y="3500506"/>
              <a:ext cx="180690" cy="180013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74518" y="3511435"/>
              <a:ext cx="109804" cy="109448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65580" y="3500506"/>
              <a:ext cx="180690" cy="180013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99524" y="3511435"/>
              <a:ext cx="109791" cy="109448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90941" y="3500506"/>
              <a:ext cx="180690" cy="180013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224885" y="3511435"/>
              <a:ext cx="109791" cy="109448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16303" y="3500506"/>
              <a:ext cx="180690" cy="180013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50234" y="3511435"/>
              <a:ext cx="109804" cy="109448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67026" y="3500506"/>
              <a:ext cx="180690" cy="180013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00957" y="3511435"/>
              <a:ext cx="109804" cy="109448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92019" y="3500506"/>
              <a:ext cx="180690" cy="180013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125963" y="3511435"/>
              <a:ext cx="109791" cy="109448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17380" y="3500506"/>
              <a:ext cx="180690" cy="180013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51324" y="3511435"/>
              <a:ext cx="109791" cy="109448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42742" y="3500506"/>
              <a:ext cx="180690" cy="180013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76686" y="3511435"/>
              <a:ext cx="109791" cy="109448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8103" y="3500506"/>
              <a:ext cx="180690" cy="180013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02034" y="3511435"/>
              <a:ext cx="109804" cy="109448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93465" y="3500506"/>
              <a:ext cx="180690" cy="180013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27396" y="3511435"/>
              <a:ext cx="109804" cy="109448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43820" y="3500506"/>
              <a:ext cx="180690" cy="180013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477763" y="3511435"/>
              <a:ext cx="109791" cy="109448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69181" y="3500506"/>
              <a:ext cx="180690" cy="180013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703125" y="3511435"/>
              <a:ext cx="109791" cy="109448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94543" y="3500506"/>
              <a:ext cx="180690" cy="180013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28474" y="3511435"/>
              <a:ext cx="109804" cy="109448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19549" y="3500506"/>
              <a:ext cx="180690" cy="180013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53480" y="3511435"/>
              <a:ext cx="109804" cy="109448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44897" y="3500506"/>
              <a:ext cx="180690" cy="180013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78841" y="3511435"/>
              <a:ext cx="109804" cy="109448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95620" y="3500506"/>
              <a:ext cx="180690" cy="180013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29564" y="3511435"/>
              <a:ext cx="109791" cy="109448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20982" y="3500506"/>
              <a:ext cx="180690" cy="180013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054926" y="3511435"/>
              <a:ext cx="109791" cy="109448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45988" y="3500506"/>
              <a:ext cx="180690" cy="180013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79919" y="3511435"/>
              <a:ext cx="109804" cy="109448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71336" y="3500506"/>
              <a:ext cx="180690" cy="180013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05281" y="3511435"/>
              <a:ext cx="109804" cy="109448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96698" y="3500506"/>
              <a:ext cx="180690" cy="180013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730642" y="3511435"/>
              <a:ext cx="109791" cy="109448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47066" y="3500506"/>
              <a:ext cx="180690" cy="180013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80997" y="3511435"/>
              <a:ext cx="109804" cy="109448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72427" y="3500506"/>
              <a:ext cx="180690" cy="180013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06358" y="3511435"/>
              <a:ext cx="109804" cy="109448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97788" y="3500506"/>
              <a:ext cx="180690" cy="180013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631720" y="3511435"/>
              <a:ext cx="109804" cy="109448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23137" y="3500506"/>
              <a:ext cx="180690" cy="180013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857081" y="3511435"/>
              <a:ext cx="109804" cy="109448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48499" y="3500506"/>
              <a:ext cx="180690" cy="180013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082443" y="3511435"/>
              <a:ext cx="109791" cy="109448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73505" y="3500506"/>
              <a:ext cx="180690" cy="180013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07436" y="3511435"/>
              <a:ext cx="109804" cy="109448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98866" y="3500506"/>
              <a:ext cx="180690" cy="180013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532797" y="3511435"/>
              <a:ext cx="109804" cy="109448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24227" y="3500506"/>
              <a:ext cx="180690" cy="180013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758159" y="3511435"/>
              <a:ext cx="109804" cy="109448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949576" y="3500506"/>
              <a:ext cx="180690" cy="180013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983520" y="3511435"/>
              <a:ext cx="109804" cy="109448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174582" y="3500506"/>
              <a:ext cx="180690" cy="180013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208513" y="3511435"/>
              <a:ext cx="109804" cy="109448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25305" y="3500506"/>
              <a:ext cx="180690" cy="180013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659236" y="3511435"/>
              <a:ext cx="109804" cy="109448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50666" y="3500506"/>
              <a:ext cx="180690" cy="180013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884598" y="3511435"/>
              <a:ext cx="109804" cy="109448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076029" y="3500506"/>
              <a:ext cx="180690" cy="180013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109959" y="3511435"/>
              <a:ext cx="109804" cy="109448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26363" y="3390099"/>
              <a:ext cx="398157" cy="397814"/>
            </a:xfrm>
            <a:prstGeom prst="rect">
              <a:avLst/>
            </a:prstGeom>
          </p:spPr>
        </p:pic>
        <p:sp>
          <p:nvSpPr>
            <p:cNvPr id="88" name="object 88"/>
            <p:cNvSpPr/>
            <p:nvPr/>
          </p:nvSpPr>
          <p:spPr>
            <a:xfrm>
              <a:off x="1078915" y="3419995"/>
              <a:ext cx="292735" cy="292735"/>
            </a:xfrm>
            <a:custGeom>
              <a:avLst/>
              <a:gdLst/>
              <a:ahLst/>
              <a:cxnLst/>
              <a:rect l="l" t="t" r="r" b="b"/>
              <a:pathLst>
                <a:path w="292734" h="292735">
                  <a:moveTo>
                    <a:pt x="146519" y="0"/>
                  </a:moveTo>
                  <a:lnTo>
                    <a:pt x="108451" y="4864"/>
                  </a:lnTo>
                  <a:lnTo>
                    <a:pt x="73088" y="19443"/>
                  </a:lnTo>
                  <a:lnTo>
                    <a:pt x="42756" y="42756"/>
                  </a:lnTo>
                  <a:lnTo>
                    <a:pt x="19443" y="73088"/>
                  </a:lnTo>
                  <a:lnTo>
                    <a:pt x="4997" y="108407"/>
                  </a:lnTo>
                  <a:lnTo>
                    <a:pt x="0" y="146164"/>
                  </a:lnTo>
                  <a:lnTo>
                    <a:pt x="1266" y="165229"/>
                  </a:lnTo>
                  <a:lnTo>
                    <a:pt x="19443" y="219240"/>
                  </a:lnTo>
                  <a:lnTo>
                    <a:pt x="42756" y="249572"/>
                  </a:lnTo>
                  <a:lnTo>
                    <a:pt x="73088" y="272884"/>
                  </a:lnTo>
                  <a:lnTo>
                    <a:pt x="108451" y="287642"/>
                  </a:lnTo>
                  <a:lnTo>
                    <a:pt x="146519" y="292684"/>
                  </a:lnTo>
                  <a:lnTo>
                    <a:pt x="165585" y="291412"/>
                  </a:lnTo>
                  <a:lnTo>
                    <a:pt x="202364" y="281443"/>
                  </a:lnTo>
                  <a:lnTo>
                    <a:pt x="235580" y="262172"/>
                  </a:lnTo>
                  <a:lnTo>
                    <a:pt x="262533" y="235217"/>
                  </a:lnTo>
                  <a:lnTo>
                    <a:pt x="281593" y="202003"/>
                  </a:lnTo>
                  <a:lnTo>
                    <a:pt x="292684" y="146164"/>
                  </a:lnTo>
                  <a:lnTo>
                    <a:pt x="291417" y="127098"/>
                  </a:lnTo>
                  <a:lnTo>
                    <a:pt x="273240" y="73088"/>
                  </a:lnTo>
                  <a:lnTo>
                    <a:pt x="249934" y="42756"/>
                  </a:lnTo>
                  <a:lnTo>
                    <a:pt x="219608" y="19443"/>
                  </a:lnTo>
                  <a:lnTo>
                    <a:pt x="184278" y="4864"/>
                  </a:lnTo>
                  <a:lnTo>
                    <a:pt x="146519" y="0"/>
                  </a:lnTo>
                  <a:close/>
                </a:path>
              </a:pathLst>
            </a:custGeom>
            <a:solidFill>
              <a:srgbClr val="C1400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1078915" y="3419995"/>
              <a:ext cx="292735" cy="292735"/>
            </a:xfrm>
            <a:custGeom>
              <a:avLst/>
              <a:gdLst/>
              <a:ahLst/>
              <a:cxnLst/>
              <a:rect l="l" t="t" r="r" b="b"/>
              <a:pathLst>
                <a:path w="292734" h="292735">
                  <a:moveTo>
                    <a:pt x="0" y="146164"/>
                  </a:moveTo>
                  <a:lnTo>
                    <a:pt x="1266" y="127098"/>
                  </a:lnTo>
                  <a:lnTo>
                    <a:pt x="4997" y="108407"/>
                  </a:lnTo>
                  <a:lnTo>
                    <a:pt x="19443" y="73088"/>
                  </a:lnTo>
                  <a:lnTo>
                    <a:pt x="42756" y="42756"/>
                  </a:lnTo>
                  <a:lnTo>
                    <a:pt x="73088" y="19443"/>
                  </a:lnTo>
                  <a:lnTo>
                    <a:pt x="108451" y="4864"/>
                  </a:lnTo>
                  <a:lnTo>
                    <a:pt x="146519" y="0"/>
                  </a:lnTo>
                  <a:lnTo>
                    <a:pt x="202364" y="10940"/>
                  </a:lnTo>
                  <a:lnTo>
                    <a:pt x="235580" y="30156"/>
                  </a:lnTo>
                  <a:lnTo>
                    <a:pt x="262533" y="57110"/>
                  </a:lnTo>
                  <a:lnTo>
                    <a:pt x="281593" y="90325"/>
                  </a:lnTo>
                  <a:lnTo>
                    <a:pt x="292684" y="146164"/>
                  </a:lnTo>
                  <a:lnTo>
                    <a:pt x="291417" y="165229"/>
                  </a:lnTo>
                  <a:lnTo>
                    <a:pt x="287686" y="183921"/>
                  </a:lnTo>
                  <a:lnTo>
                    <a:pt x="273240" y="219240"/>
                  </a:lnTo>
                  <a:lnTo>
                    <a:pt x="249934" y="249572"/>
                  </a:lnTo>
                  <a:lnTo>
                    <a:pt x="219608" y="272884"/>
                  </a:lnTo>
                  <a:lnTo>
                    <a:pt x="184278" y="287642"/>
                  </a:lnTo>
                  <a:lnTo>
                    <a:pt x="146519" y="292684"/>
                  </a:lnTo>
                  <a:lnTo>
                    <a:pt x="108451" y="287642"/>
                  </a:lnTo>
                  <a:lnTo>
                    <a:pt x="73088" y="272884"/>
                  </a:lnTo>
                  <a:lnTo>
                    <a:pt x="42756" y="249572"/>
                  </a:lnTo>
                  <a:lnTo>
                    <a:pt x="19443" y="219240"/>
                  </a:lnTo>
                  <a:lnTo>
                    <a:pt x="4997" y="183921"/>
                  </a:lnTo>
                  <a:lnTo>
                    <a:pt x="1266" y="165229"/>
                  </a:lnTo>
                  <a:lnTo>
                    <a:pt x="0" y="146164"/>
                  </a:lnTo>
                  <a:close/>
                </a:path>
              </a:pathLst>
            </a:custGeom>
            <a:ln w="2555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0" name="object 9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177201" y="2971431"/>
              <a:ext cx="95758" cy="515886"/>
            </a:xfrm>
            <a:prstGeom prst="rect">
              <a:avLst/>
            </a:prstGeom>
          </p:spPr>
        </p:pic>
        <p:sp>
          <p:nvSpPr>
            <p:cNvPr id="91" name="object 91"/>
            <p:cNvSpPr/>
            <p:nvPr/>
          </p:nvSpPr>
          <p:spPr>
            <a:xfrm>
              <a:off x="1225080" y="2999155"/>
              <a:ext cx="0" cy="421005"/>
            </a:xfrm>
            <a:custGeom>
              <a:avLst/>
              <a:gdLst/>
              <a:ahLst/>
              <a:cxnLst/>
              <a:rect l="l" t="t" r="r" b="b"/>
              <a:pathLst>
                <a:path h="421004">
                  <a:moveTo>
                    <a:pt x="0" y="420484"/>
                  </a:moveTo>
                  <a:lnTo>
                    <a:pt x="0" y="0"/>
                  </a:lnTo>
                </a:path>
              </a:pathLst>
            </a:custGeom>
            <a:ln w="15839">
              <a:solidFill>
                <a:srgbClr val="C1400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2" name="object 92"/>
          <p:cNvSpPr txBox="1"/>
          <p:nvPr/>
        </p:nvSpPr>
        <p:spPr>
          <a:xfrm>
            <a:off x="903858" y="2391740"/>
            <a:ext cx="11169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0096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1E2836"/>
                </a:solidFill>
                <a:latin typeface="Segoe UI"/>
                <a:cs typeface="Segoe UI"/>
              </a:rPr>
              <a:t>правило день/ночь</a:t>
            </a:r>
            <a:endParaRPr sz="1800">
              <a:latin typeface="Segoe UI"/>
              <a:cs typeface="Segoe UI"/>
            </a:endParaRPr>
          </a:p>
        </p:txBody>
      </p:sp>
      <p:grpSp>
        <p:nvGrpSpPr>
          <p:cNvPr id="93" name="object 93"/>
          <p:cNvGrpSpPr/>
          <p:nvPr/>
        </p:nvGrpSpPr>
        <p:grpSpPr>
          <a:xfrm>
            <a:off x="1959114" y="3390100"/>
            <a:ext cx="398780" cy="810895"/>
            <a:chOff x="1959114" y="3390100"/>
            <a:chExt cx="398780" cy="810895"/>
          </a:xfrm>
        </p:grpSpPr>
        <p:pic>
          <p:nvPicPr>
            <p:cNvPr id="94" name="object 9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959114" y="3390100"/>
              <a:ext cx="398157" cy="397814"/>
            </a:xfrm>
            <a:prstGeom prst="rect">
              <a:avLst/>
            </a:prstGeom>
          </p:spPr>
        </p:pic>
        <p:sp>
          <p:nvSpPr>
            <p:cNvPr id="95" name="object 95"/>
            <p:cNvSpPr/>
            <p:nvPr/>
          </p:nvSpPr>
          <p:spPr>
            <a:xfrm>
              <a:off x="2011680" y="3419995"/>
              <a:ext cx="292735" cy="292735"/>
            </a:xfrm>
            <a:custGeom>
              <a:avLst/>
              <a:gdLst/>
              <a:ahLst/>
              <a:cxnLst/>
              <a:rect l="l" t="t" r="r" b="b"/>
              <a:pathLst>
                <a:path w="292735" h="292735">
                  <a:moveTo>
                    <a:pt x="146519" y="0"/>
                  </a:moveTo>
                  <a:lnTo>
                    <a:pt x="108450" y="4864"/>
                  </a:lnTo>
                  <a:lnTo>
                    <a:pt x="73075" y="19443"/>
                  </a:lnTo>
                  <a:lnTo>
                    <a:pt x="42749" y="42756"/>
                  </a:lnTo>
                  <a:lnTo>
                    <a:pt x="19443" y="73088"/>
                  </a:lnTo>
                  <a:lnTo>
                    <a:pt x="4997" y="108407"/>
                  </a:lnTo>
                  <a:lnTo>
                    <a:pt x="0" y="146164"/>
                  </a:lnTo>
                  <a:lnTo>
                    <a:pt x="1266" y="165229"/>
                  </a:lnTo>
                  <a:lnTo>
                    <a:pt x="19443" y="219240"/>
                  </a:lnTo>
                  <a:lnTo>
                    <a:pt x="42749" y="249572"/>
                  </a:lnTo>
                  <a:lnTo>
                    <a:pt x="73075" y="272884"/>
                  </a:lnTo>
                  <a:lnTo>
                    <a:pt x="108450" y="287642"/>
                  </a:lnTo>
                  <a:lnTo>
                    <a:pt x="146519" y="292684"/>
                  </a:lnTo>
                  <a:lnTo>
                    <a:pt x="165585" y="291412"/>
                  </a:lnTo>
                  <a:lnTo>
                    <a:pt x="202359" y="281443"/>
                  </a:lnTo>
                  <a:lnTo>
                    <a:pt x="235573" y="262172"/>
                  </a:lnTo>
                  <a:lnTo>
                    <a:pt x="262527" y="235217"/>
                  </a:lnTo>
                  <a:lnTo>
                    <a:pt x="281593" y="202003"/>
                  </a:lnTo>
                  <a:lnTo>
                    <a:pt x="292684" y="146164"/>
                  </a:lnTo>
                  <a:lnTo>
                    <a:pt x="291417" y="127098"/>
                  </a:lnTo>
                  <a:lnTo>
                    <a:pt x="273240" y="73088"/>
                  </a:lnTo>
                  <a:lnTo>
                    <a:pt x="249928" y="42756"/>
                  </a:lnTo>
                  <a:lnTo>
                    <a:pt x="219595" y="19443"/>
                  </a:lnTo>
                  <a:lnTo>
                    <a:pt x="184276" y="4864"/>
                  </a:lnTo>
                  <a:lnTo>
                    <a:pt x="146519" y="0"/>
                  </a:lnTo>
                  <a:close/>
                </a:path>
              </a:pathLst>
            </a:custGeom>
            <a:solidFill>
              <a:srgbClr val="C1400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2011680" y="3419995"/>
              <a:ext cx="292735" cy="292735"/>
            </a:xfrm>
            <a:custGeom>
              <a:avLst/>
              <a:gdLst/>
              <a:ahLst/>
              <a:cxnLst/>
              <a:rect l="l" t="t" r="r" b="b"/>
              <a:pathLst>
                <a:path w="292735" h="292735">
                  <a:moveTo>
                    <a:pt x="0" y="146164"/>
                  </a:moveTo>
                  <a:lnTo>
                    <a:pt x="1266" y="127098"/>
                  </a:lnTo>
                  <a:lnTo>
                    <a:pt x="4997" y="108407"/>
                  </a:lnTo>
                  <a:lnTo>
                    <a:pt x="19443" y="73088"/>
                  </a:lnTo>
                  <a:lnTo>
                    <a:pt x="42749" y="42756"/>
                  </a:lnTo>
                  <a:lnTo>
                    <a:pt x="73075" y="19443"/>
                  </a:lnTo>
                  <a:lnTo>
                    <a:pt x="108450" y="4864"/>
                  </a:lnTo>
                  <a:lnTo>
                    <a:pt x="146519" y="0"/>
                  </a:lnTo>
                  <a:lnTo>
                    <a:pt x="202359" y="10940"/>
                  </a:lnTo>
                  <a:lnTo>
                    <a:pt x="235573" y="30156"/>
                  </a:lnTo>
                  <a:lnTo>
                    <a:pt x="262527" y="57110"/>
                  </a:lnTo>
                  <a:lnTo>
                    <a:pt x="281593" y="90325"/>
                  </a:lnTo>
                  <a:lnTo>
                    <a:pt x="292684" y="146164"/>
                  </a:lnTo>
                  <a:lnTo>
                    <a:pt x="291417" y="165229"/>
                  </a:lnTo>
                  <a:lnTo>
                    <a:pt x="287686" y="183921"/>
                  </a:lnTo>
                  <a:lnTo>
                    <a:pt x="273240" y="219240"/>
                  </a:lnTo>
                  <a:lnTo>
                    <a:pt x="249928" y="249572"/>
                  </a:lnTo>
                  <a:lnTo>
                    <a:pt x="219595" y="272884"/>
                  </a:lnTo>
                  <a:lnTo>
                    <a:pt x="184276" y="287642"/>
                  </a:lnTo>
                  <a:lnTo>
                    <a:pt x="146519" y="292684"/>
                  </a:lnTo>
                  <a:lnTo>
                    <a:pt x="108450" y="287642"/>
                  </a:lnTo>
                  <a:lnTo>
                    <a:pt x="73075" y="272884"/>
                  </a:lnTo>
                  <a:lnTo>
                    <a:pt x="42749" y="249572"/>
                  </a:lnTo>
                  <a:lnTo>
                    <a:pt x="19443" y="219240"/>
                  </a:lnTo>
                  <a:lnTo>
                    <a:pt x="4997" y="183921"/>
                  </a:lnTo>
                  <a:lnTo>
                    <a:pt x="1266" y="165229"/>
                  </a:lnTo>
                  <a:lnTo>
                    <a:pt x="0" y="146164"/>
                  </a:lnTo>
                  <a:close/>
                </a:path>
              </a:pathLst>
            </a:custGeom>
            <a:ln w="2555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7" name="object 9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109965" y="3684587"/>
              <a:ext cx="95757" cy="515886"/>
            </a:xfrm>
            <a:prstGeom prst="rect">
              <a:avLst/>
            </a:prstGeom>
          </p:spPr>
        </p:pic>
        <p:sp>
          <p:nvSpPr>
            <p:cNvPr id="98" name="object 98"/>
            <p:cNvSpPr/>
            <p:nvPr/>
          </p:nvSpPr>
          <p:spPr>
            <a:xfrm>
              <a:off x="2157844" y="3712324"/>
              <a:ext cx="0" cy="421005"/>
            </a:xfrm>
            <a:custGeom>
              <a:avLst/>
              <a:gdLst/>
              <a:ahLst/>
              <a:cxnLst/>
              <a:rect l="l" t="t" r="r" b="b"/>
              <a:pathLst>
                <a:path h="421004">
                  <a:moveTo>
                    <a:pt x="0" y="0"/>
                  </a:moveTo>
                  <a:lnTo>
                    <a:pt x="0" y="420471"/>
                  </a:lnTo>
                </a:path>
              </a:pathLst>
            </a:custGeom>
            <a:ln w="15839">
              <a:solidFill>
                <a:srgbClr val="C1400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9" name="object 99"/>
          <p:cNvSpPr txBox="1"/>
          <p:nvPr/>
        </p:nvSpPr>
        <p:spPr>
          <a:xfrm>
            <a:off x="870737" y="4174820"/>
            <a:ext cx="25711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1E2836"/>
                </a:solidFill>
                <a:latin typeface="Segoe UI"/>
                <a:cs typeface="Segoe UI"/>
              </a:rPr>
              <a:t>LightGBM</a:t>
            </a:r>
            <a:r>
              <a:rPr sz="1800" spc="-45" dirty="0">
                <a:solidFill>
                  <a:srgbClr val="1E2836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1E2836"/>
                </a:solidFill>
                <a:latin typeface="Segoe UI"/>
                <a:cs typeface="Segoe UI"/>
              </a:rPr>
              <a:t>на</a:t>
            </a:r>
            <a:r>
              <a:rPr sz="1800" spc="-55" dirty="0">
                <a:solidFill>
                  <a:srgbClr val="1E2836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1E2836"/>
                </a:solidFill>
                <a:latin typeface="Segoe UI"/>
                <a:cs typeface="Segoe UI"/>
              </a:rPr>
              <a:t>кандидатах</a:t>
            </a:r>
            <a:endParaRPr sz="1800">
              <a:latin typeface="Segoe UI"/>
              <a:cs typeface="Segoe UI"/>
            </a:endParaRPr>
          </a:p>
        </p:txBody>
      </p:sp>
      <p:grpSp>
        <p:nvGrpSpPr>
          <p:cNvPr id="100" name="object 100"/>
          <p:cNvGrpSpPr/>
          <p:nvPr/>
        </p:nvGrpSpPr>
        <p:grpSpPr>
          <a:xfrm>
            <a:off x="3513594" y="2971431"/>
            <a:ext cx="398780" cy="816610"/>
            <a:chOff x="3513594" y="2971431"/>
            <a:chExt cx="398780" cy="816610"/>
          </a:xfrm>
        </p:grpSpPr>
        <p:pic>
          <p:nvPicPr>
            <p:cNvPr id="101" name="object 10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513594" y="3390099"/>
              <a:ext cx="398157" cy="397814"/>
            </a:xfrm>
            <a:prstGeom prst="rect">
              <a:avLst/>
            </a:prstGeom>
          </p:spPr>
        </p:pic>
        <p:sp>
          <p:nvSpPr>
            <p:cNvPr id="102" name="object 102"/>
            <p:cNvSpPr/>
            <p:nvPr/>
          </p:nvSpPr>
          <p:spPr>
            <a:xfrm>
              <a:off x="3566160" y="3419995"/>
              <a:ext cx="292735" cy="292735"/>
            </a:xfrm>
            <a:custGeom>
              <a:avLst/>
              <a:gdLst/>
              <a:ahLst/>
              <a:cxnLst/>
              <a:rect l="l" t="t" r="r" b="b"/>
              <a:pathLst>
                <a:path w="292735" h="292735">
                  <a:moveTo>
                    <a:pt x="146519" y="0"/>
                  </a:moveTo>
                  <a:lnTo>
                    <a:pt x="108450" y="4864"/>
                  </a:lnTo>
                  <a:lnTo>
                    <a:pt x="73075" y="19443"/>
                  </a:lnTo>
                  <a:lnTo>
                    <a:pt x="42749" y="42756"/>
                  </a:lnTo>
                  <a:lnTo>
                    <a:pt x="19443" y="73088"/>
                  </a:lnTo>
                  <a:lnTo>
                    <a:pt x="4997" y="108407"/>
                  </a:lnTo>
                  <a:lnTo>
                    <a:pt x="0" y="146164"/>
                  </a:lnTo>
                  <a:lnTo>
                    <a:pt x="1266" y="165229"/>
                  </a:lnTo>
                  <a:lnTo>
                    <a:pt x="19443" y="219240"/>
                  </a:lnTo>
                  <a:lnTo>
                    <a:pt x="42749" y="249572"/>
                  </a:lnTo>
                  <a:lnTo>
                    <a:pt x="73075" y="272884"/>
                  </a:lnTo>
                  <a:lnTo>
                    <a:pt x="108450" y="287642"/>
                  </a:lnTo>
                  <a:lnTo>
                    <a:pt x="146519" y="292684"/>
                  </a:lnTo>
                  <a:lnTo>
                    <a:pt x="165585" y="291412"/>
                  </a:lnTo>
                  <a:lnTo>
                    <a:pt x="202359" y="281443"/>
                  </a:lnTo>
                  <a:lnTo>
                    <a:pt x="235573" y="262172"/>
                  </a:lnTo>
                  <a:lnTo>
                    <a:pt x="262527" y="235217"/>
                  </a:lnTo>
                  <a:lnTo>
                    <a:pt x="281593" y="202003"/>
                  </a:lnTo>
                  <a:lnTo>
                    <a:pt x="292684" y="146164"/>
                  </a:lnTo>
                  <a:lnTo>
                    <a:pt x="291417" y="127098"/>
                  </a:lnTo>
                  <a:lnTo>
                    <a:pt x="273240" y="73088"/>
                  </a:lnTo>
                  <a:lnTo>
                    <a:pt x="249928" y="42756"/>
                  </a:lnTo>
                  <a:lnTo>
                    <a:pt x="219595" y="19443"/>
                  </a:lnTo>
                  <a:lnTo>
                    <a:pt x="184276" y="4864"/>
                  </a:lnTo>
                  <a:lnTo>
                    <a:pt x="146519" y="0"/>
                  </a:lnTo>
                  <a:close/>
                </a:path>
              </a:pathLst>
            </a:custGeom>
            <a:solidFill>
              <a:srgbClr val="C1400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3566160" y="3419995"/>
              <a:ext cx="292735" cy="292735"/>
            </a:xfrm>
            <a:custGeom>
              <a:avLst/>
              <a:gdLst/>
              <a:ahLst/>
              <a:cxnLst/>
              <a:rect l="l" t="t" r="r" b="b"/>
              <a:pathLst>
                <a:path w="292735" h="292735">
                  <a:moveTo>
                    <a:pt x="0" y="146164"/>
                  </a:moveTo>
                  <a:lnTo>
                    <a:pt x="1266" y="127098"/>
                  </a:lnTo>
                  <a:lnTo>
                    <a:pt x="4997" y="108407"/>
                  </a:lnTo>
                  <a:lnTo>
                    <a:pt x="19443" y="73088"/>
                  </a:lnTo>
                  <a:lnTo>
                    <a:pt x="42749" y="42756"/>
                  </a:lnTo>
                  <a:lnTo>
                    <a:pt x="73075" y="19443"/>
                  </a:lnTo>
                  <a:lnTo>
                    <a:pt x="108450" y="4864"/>
                  </a:lnTo>
                  <a:lnTo>
                    <a:pt x="146519" y="0"/>
                  </a:lnTo>
                  <a:lnTo>
                    <a:pt x="202359" y="10940"/>
                  </a:lnTo>
                  <a:lnTo>
                    <a:pt x="235573" y="30156"/>
                  </a:lnTo>
                  <a:lnTo>
                    <a:pt x="262527" y="57110"/>
                  </a:lnTo>
                  <a:lnTo>
                    <a:pt x="281593" y="90325"/>
                  </a:lnTo>
                  <a:lnTo>
                    <a:pt x="292684" y="146164"/>
                  </a:lnTo>
                  <a:lnTo>
                    <a:pt x="291417" y="165229"/>
                  </a:lnTo>
                  <a:lnTo>
                    <a:pt x="287686" y="183921"/>
                  </a:lnTo>
                  <a:lnTo>
                    <a:pt x="273240" y="219240"/>
                  </a:lnTo>
                  <a:lnTo>
                    <a:pt x="249928" y="249572"/>
                  </a:lnTo>
                  <a:lnTo>
                    <a:pt x="219595" y="272884"/>
                  </a:lnTo>
                  <a:lnTo>
                    <a:pt x="184276" y="287642"/>
                  </a:lnTo>
                  <a:lnTo>
                    <a:pt x="146519" y="292684"/>
                  </a:lnTo>
                  <a:lnTo>
                    <a:pt x="108450" y="287642"/>
                  </a:lnTo>
                  <a:lnTo>
                    <a:pt x="73075" y="272884"/>
                  </a:lnTo>
                  <a:lnTo>
                    <a:pt x="42749" y="249572"/>
                  </a:lnTo>
                  <a:lnTo>
                    <a:pt x="19443" y="219240"/>
                  </a:lnTo>
                  <a:lnTo>
                    <a:pt x="4997" y="183921"/>
                  </a:lnTo>
                  <a:lnTo>
                    <a:pt x="1266" y="165229"/>
                  </a:lnTo>
                  <a:lnTo>
                    <a:pt x="0" y="146164"/>
                  </a:lnTo>
                  <a:close/>
                </a:path>
              </a:pathLst>
            </a:custGeom>
            <a:ln w="2555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4" name="object 10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664445" y="2971431"/>
              <a:ext cx="95758" cy="515886"/>
            </a:xfrm>
            <a:prstGeom prst="rect">
              <a:avLst/>
            </a:prstGeom>
          </p:spPr>
        </p:pic>
        <p:sp>
          <p:nvSpPr>
            <p:cNvPr id="105" name="object 105"/>
            <p:cNvSpPr/>
            <p:nvPr/>
          </p:nvSpPr>
          <p:spPr>
            <a:xfrm>
              <a:off x="3712324" y="2999155"/>
              <a:ext cx="0" cy="421005"/>
            </a:xfrm>
            <a:custGeom>
              <a:avLst/>
              <a:gdLst/>
              <a:ahLst/>
              <a:cxnLst/>
              <a:rect l="l" t="t" r="r" b="b"/>
              <a:pathLst>
                <a:path h="421004">
                  <a:moveTo>
                    <a:pt x="0" y="420484"/>
                  </a:moveTo>
                  <a:lnTo>
                    <a:pt x="0" y="0"/>
                  </a:lnTo>
                </a:path>
              </a:pathLst>
            </a:custGeom>
            <a:ln w="15839">
              <a:solidFill>
                <a:srgbClr val="C1400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6" name="object 106"/>
          <p:cNvSpPr txBox="1"/>
          <p:nvPr/>
        </p:nvSpPr>
        <p:spPr>
          <a:xfrm>
            <a:off x="3157461" y="2391740"/>
            <a:ext cx="11080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3664" marR="5080" indent="-1016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1E2836"/>
                </a:solidFill>
                <a:latin typeface="Segoe UI"/>
                <a:cs typeface="Segoe UI"/>
              </a:rPr>
              <a:t>пороги</a:t>
            </a:r>
            <a:r>
              <a:rPr sz="1800" spc="-45" dirty="0">
                <a:solidFill>
                  <a:srgbClr val="1E2836"/>
                </a:solidFill>
                <a:latin typeface="Segoe UI"/>
                <a:cs typeface="Segoe UI"/>
              </a:rPr>
              <a:t> </a:t>
            </a:r>
            <a:r>
              <a:rPr sz="1800" spc="-25" dirty="0">
                <a:solidFill>
                  <a:srgbClr val="1E2836"/>
                </a:solidFill>
                <a:latin typeface="Segoe UI"/>
                <a:cs typeface="Segoe UI"/>
              </a:rPr>
              <a:t>по </a:t>
            </a:r>
            <a:r>
              <a:rPr sz="1800" spc="-10" dirty="0">
                <a:solidFill>
                  <a:srgbClr val="1E2836"/>
                </a:solidFill>
                <a:latin typeface="Segoe UI"/>
                <a:cs typeface="Segoe UI"/>
              </a:rPr>
              <a:t>покрову</a:t>
            </a:r>
            <a:endParaRPr sz="1800">
              <a:latin typeface="Segoe UI"/>
              <a:cs typeface="Segoe UI"/>
            </a:endParaRPr>
          </a:p>
        </p:txBody>
      </p:sp>
      <p:grpSp>
        <p:nvGrpSpPr>
          <p:cNvPr id="107" name="object 107"/>
          <p:cNvGrpSpPr/>
          <p:nvPr/>
        </p:nvGrpSpPr>
        <p:grpSpPr>
          <a:xfrm>
            <a:off x="5171757" y="3390100"/>
            <a:ext cx="398780" cy="810895"/>
            <a:chOff x="5171757" y="3390100"/>
            <a:chExt cx="398780" cy="810895"/>
          </a:xfrm>
        </p:grpSpPr>
        <p:pic>
          <p:nvPicPr>
            <p:cNvPr id="108" name="object 10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171757" y="3390100"/>
              <a:ext cx="398157" cy="397814"/>
            </a:xfrm>
            <a:prstGeom prst="rect">
              <a:avLst/>
            </a:prstGeom>
          </p:spPr>
        </p:pic>
        <p:sp>
          <p:nvSpPr>
            <p:cNvPr id="109" name="object 109"/>
            <p:cNvSpPr/>
            <p:nvPr/>
          </p:nvSpPr>
          <p:spPr>
            <a:xfrm>
              <a:off x="5224322" y="3419995"/>
              <a:ext cx="292735" cy="292735"/>
            </a:xfrm>
            <a:custGeom>
              <a:avLst/>
              <a:gdLst/>
              <a:ahLst/>
              <a:cxnLst/>
              <a:rect l="l" t="t" r="r" b="b"/>
              <a:pathLst>
                <a:path w="292735" h="292735">
                  <a:moveTo>
                    <a:pt x="146519" y="0"/>
                  </a:moveTo>
                  <a:lnTo>
                    <a:pt x="108450" y="4864"/>
                  </a:lnTo>
                  <a:lnTo>
                    <a:pt x="73075" y="19443"/>
                  </a:lnTo>
                  <a:lnTo>
                    <a:pt x="42748" y="42756"/>
                  </a:lnTo>
                  <a:lnTo>
                    <a:pt x="19431" y="73088"/>
                  </a:lnTo>
                  <a:lnTo>
                    <a:pt x="4991" y="108407"/>
                  </a:lnTo>
                  <a:lnTo>
                    <a:pt x="0" y="146164"/>
                  </a:lnTo>
                  <a:lnTo>
                    <a:pt x="1264" y="165229"/>
                  </a:lnTo>
                  <a:lnTo>
                    <a:pt x="19431" y="219240"/>
                  </a:lnTo>
                  <a:lnTo>
                    <a:pt x="42748" y="249572"/>
                  </a:lnTo>
                  <a:lnTo>
                    <a:pt x="73075" y="272884"/>
                  </a:lnTo>
                  <a:lnTo>
                    <a:pt x="108450" y="287642"/>
                  </a:lnTo>
                  <a:lnTo>
                    <a:pt x="146519" y="292684"/>
                  </a:lnTo>
                  <a:lnTo>
                    <a:pt x="165580" y="291412"/>
                  </a:lnTo>
                  <a:lnTo>
                    <a:pt x="202357" y="281443"/>
                  </a:lnTo>
                  <a:lnTo>
                    <a:pt x="235573" y="262172"/>
                  </a:lnTo>
                  <a:lnTo>
                    <a:pt x="262527" y="235217"/>
                  </a:lnTo>
                  <a:lnTo>
                    <a:pt x="281591" y="202003"/>
                  </a:lnTo>
                  <a:lnTo>
                    <a:pt x="292671" y="146164"/>
                  </a:lnTo>
                  <a:lnTo>
                    <a:pt x="291407" y="127098"/>
                  </a:lnTo>
                  <a:lnTo>
                    <a:pt x="273240" y="73088"/>
                  </a:lnTo>
                  <a:lnTo>
                    <a:pt x="249928" y="42756"/>
                  </a:lnTo>
                  <a:lnTo>
                    <a:pt x="219595" y="19443"/>
                  </a:lnTo>
                  <a:lnTo>
                    <a:pt x="184272" y="4864"/>
                  </a:lnTo>
                  <a:lnTo>
                    <a:pt x="146519" y="0"/>
                  </a:lnTo>
                  <a:close/>
                </a:path>
              </a:pathLst>
            </a:custGeom>
            <a:solidFill>
              <a:srgbClr val="C1400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5224322" y="3419995"/>
              <a:ext cx="292735" cy="292735"/>
            </a:xfrm>
            <a:custGeom>
              <a:avLst/>
              <a:gdLst/>
              <a:ahLst/>
              <a:cxnLst/>
              <a:rect l="l" t="t" r="r" b="b"/>
              <a:pathLst>
                <a:path w="292735" h="292735">
                  <a:moveTo>
                    <a:pt x="0" y="146164"/>
                  </a:moveTo>
                  <a:lnTo>
                    <a:pt x="1264" y="127098"/>
                  </a:lnTo>
                  <a:lnTo>
                    <a:pt x="4991" y="108407"/>
                  </a:lnTo>
                  <a:lnTo>
                    <a:pt x="19431" y="73088"/>
                  </a:lnTo>
                  <a:lnTo>
                    <a:pt x="42748" y="42756"/>
                  </a:lnTo>
                  <a:lnTo>
                    <a:pt x="73075" y="19443"/>
                  </a:lnTo>
                  <a:lnTo>
                    <a:pt x="108450" y="4864"/>
                  </a:lnTo>
                  <a:lnTo>
                    <a:pt x="146519" y="0"/>
                  </a:lnTo>
                  <a:lnTo>
                    <a:pt x="202357" y="10940"/>
                  </a:lnTo>
                  <a:lnTo>
                    <a:pt x="235573" y="30156"/>
                  </a:lnTo>
                  <a:lnTo>
                    <a:pt x="262527" y="57110"/>
                  </a:lnTo>
                  <a:lnTo>
                    <a:pt x="281591" y="90325"/>
                  </a:lnTo>
                  <a:lnTo>
                    <a:pt x="292671" y="146164"/>
                  </a:lnTo>
                  <a:lnTo>
                    <a:pt x="291407" y="165229"/>
                  </a:lnTo>
                  <a:lnTo>
                    <a:pt x="287680" y="183921"/>
                  </a:lnTo>
                  <a:lnTo>
                    <a:pt x="273240" y="219240"/>
                  </a:lnTo>
                  <a:lnTo>
                    <a:pt x="249928" y="249572"/>
                  </a:lnTo>
                  <a:lnTo>
                    <a:pt x="219595" y="272884"/>
                  </a:lnTo>
                  <a:lnTo>
                    <a:pt x="184272" y="287642"/>
                  </a:lnTo>
                  <a:lnTo>
                    <a:pt x="146519" y="292684"/>
                  </a:lnTo>
                  <a:lnTo>
                    <a:pt x="108450" y="287642"/>
                  </a:lnTo>
                  <a:lnTo>
                    <a:pt x="73075" y="272884"/>
                  </a:lnTo>
                  <a:lnTo>
                    <a:pt x="42748" y="249572"/>
                  </a:lnTo>
                  <a:lnTo>
                    <a:pt x="19431" y="219240"/>
                  </a:lnTo>
                  <a:lnTo>
                    <a:pt x="4991" y="183921"/>
                  </a:lnTo>
                  <a:lnTo>
                    <a:pt x="1264" y="165229"/>
                  </a:lnTo>
                  <a:lnTo>
                    <a:pt x="0" y="146164"/>
                  </a:lnTo>
                  <a:close/>
                </a:path>
              </a:pathLst>
            </a:custGeom>
            <a:ln w="2555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1" name="object 11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322239" y="3684587"/>
              <a:ext cx="95758" cy="515886"/>
            </a:xfrm>
            <a:prstGeom prst="rect">
              <a:avLst/>
            </a:prstGeom>
          </p:spPr>
        </p:pic>
        <p:sp>
          <p:nvSpPr>
            <p:cNvPr id="112" name="object 112"/>
            <p:cNvSpPr/>
            <p:nvPr/>
          </p:nvSpPr>
          <p:spPr>
            <a:xfrm>
              <a:off x="5370118" y="3712324"/>
              <a:ext cx="0" cy="421005"/>
            </a:xfrm>
            <a:custGeom>
              <a:avLst/>
              <a:gdLst/>
              <a:ahLst/>
              <a:cxnLst/>
              <a:rect l="l" t="t" r="r" b="b"/>
              <a:pathLst>
                <a:path h="421004">
                  <a:moveTo>
                    <a:pt x="0" y="0"/>
                  </a:moveTo>
                  <a:lnTo>
                    <a:pt x="0" y="420471"/>
                  </a:lnTo>
                </a:path>
              </a:pathLst>
            </a:custGeom>
            <a:ln w="15839">
              <a:solidFill>
                <a:srgbClr val="C1400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4" name="object 114"/>
          <p:cNvGrpSpPr/>
          <p:nvPr/>
        </p:nvGrpSpPr>
        <p:grpSpPr>
          <a:xfrm>
            <a:off x="6415201" y="2971431"/>
            <a:ext cx="398780" cy="816610"/>
            <a:chOff x="6415201" y="2971431"/>
            <a:chExt cx="398780" cy="816610"/>
          </a:xfrm>
        </p:grpSpPr>
        <p:pic>
          <p:nvPicPr>
            <p:cNvPr id="115" name="object 11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415201" y="3390099"/>
              <a:ext cx="398157" cy="397814"/>
            </a:xfrm>
            <a:prstGeom prst="rect">
              <a:avLst/>
            </a:prstGeom>
          </p:spPr>
        </p:pic>
        <p:sp>
          <p:nvSpPr>
            <p:cNvPr id="116" name="object 116"/>
            <p:cNvSpPr/>
            <p:nvPr/>
          </p:nvSpPr>
          <p:spPr>
            <a:xfrm>
              <a:off x="6467754" y="3419995"/>
              <a:ext cx="292735" cy="292735"/>
            </a:xfrm>
            <a:custGeom>
              <a:avLst/>
              <a:gdLst/>
              <a:ahLst/>
              <a:cxnLst/>
              <a:rect l="l" t="t" r="r" b="b"/>
              <a:pathLst>
                <a:path w="292734" h="292735">
                  <a:moveTo>
                    <a:pt x="146519" y="0"/>
                  </a:moveTo>
                  <a:lnTo>
                    <a:pt x="108456" y="4864"/>
                  </a:lnTo>
                  <a:lnTo>
                    <a:pt x="73088" y="19443"/>
                  </a:lnTo>
                  <a:lnTo>
                    <a:pt x="42756" y="42756"/>
                  </a:lnTo>
                  <a:lnTo>
                    <a:pt x="19443" y="73088"/>
                  </a:lnTo>
                  <a:lnTo>
                    <a:pt x="4997" y="108407"/>
                  </a:lnTo>
                  <a:lnTo>
                    <a:pt x="0" y="146164"/>
                  </a:lnTo>
                  <a:lnTo>
                    <a:pt x="1266" y="165229"/>
                  </a:lnTo>
                  <a:lnTo>
                    <a:pt x="19443" y="219240"/>
                  </a:lnTo>
                  <a:lnTo>
                    <a:pt x="42756" y="249572"/>
                  </a:lnTo>
                  <a:lnTo>
                    <a:pt x="73088" y="272884"/>
                  </a:lnTo>
                  <a:lnTo>
                    <a:pt x="108456" y="287642"/>
                  </a:lnTo>
                  <a:lnTo>
                    <a:pt x="146519" y="292684"/>
                  </a:lnTo>
                  <a:lnTo>
                    <a:pt x="165585" y="291412"/>
                  </a:lnTo>
                  <a:lnTo>
                    <a:pt x="202364" y="281443"/>
                  </a:lnTo>
                  <a:lnTo>
                    <a:pt x="235580" y="262172"/>
                  </a:lnTo>
                  <a:lnTo>
                    <a:pt x="262533" y="235217"/>
                  </a:lnTo>
                  <a:lnTo>
                    <a:pt x="281598" y="202003"/>
                  </a:lnTo>
                  <a:lnTo>
                    <a:pt x="292684" y="146164"/>
                  </a:lnTo>
                  <a:lnTo>
                    <a:pt x="291419" y="127098"/>
                  </a:lnTo>
                  <a:lnTo>
                    <a:pt x="273240" y="73088"/>
                  </a:lnTo>
                  <a:lnTo>
                    <a:pt x="249934" y="42756"/>
                  </a:lnTo>
                  <a:lnTo>
                    <a:pt x="219608" y="19443"/>
                  </a:lnTo>
                  <a:lnTo>
                    <a:pt x="184278" y="4864"/>
                  </a:lnTo>
                  <a:lnTo>
                    <a:pt x="146519" y="0"/>
                  </a:lnTo>
                  <a:close/>
                </a:path>
              </a:pathLst>
            </a:custGeom>
            <a:solidFill>
              <a:srgbClr val="C1400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6467754" y="3419995"/>
              <a:ext cx="292735" cy="292735"/>
            </a:xfrm>
            <a:custGeom>
              <a:avLst/>
              <a:gdLst/>
              <a:ahLst/>
              <a:cxnLst/>
              <a:rect l="l" t="t" r="r" b="b"/>
              <a:pathLst>
                <a:path w="292734" h="292735">
                  <a:moveTo>
                    <a:pt x="0" y="146164"/>
                  </a:moveTo>
                  <a:lnTo>
                    <a:pt x="1266" y="127098"/>
                  </a:lnTo>
                  <a:lnTo>
                    <a:pt x="4997" y="108407"/>
                  </a:lnTo>
                  <a:lnTo>
                    <a:pt x="19443" y="73088"/>
                  </a:lnTo>
                  <a:lnTo>
                    <a:pt x="42756" y="42756"/>
                  </a:lnTo>
                  <a:lnTo>
                    <a:pt x="73088" y="19443"/>
                  </a:lnTo>
                  <a:lnTo>
                    <a:pt x="108456" y="4864"/>
                  </a:lnTo>
                  <a:lnTo>
                    <a:pt x="146519" y="0"/>
                  </a:lnTo>
                  <a:lnTo>
                    <a:pt x="202364" y="10940"/>
                  </a:lnTo>
                  <a:lnTo>
                    <a:pt x="235580" y="30156"/>
                  </a:lnTo>
                  <a:lnTo>
                    <a:pt x="262533" y="57110"/>
                  </a:lnTo>
                  <a:lnTo>
                    <a:pt x="281598" y="90325"/>
                  </a:lnTo>
                  <a:lnTo>
                    <a:pt x="292684" y="146164"/>
                  </a:lnTo>
                  <a:lnTo>
                    <a:pt x="291419" y="165229"/>
                  </a:lnTo>
                  <a:lnTo>
                    <a:pt x="287691" y="183921"/>
                  </a:lnTo>
                  <a:lnTo>
                    <a:pt x="273240" y="219240"/>
                  </a:lnTo>
                  <a:lnTo>
                    <a:pt x="249934" y="249572"/>
                  </a:lnTo>
                  <a:lnTo>
                    <a:pt x="219608" y="272884"/>
                  </a:lnTo>
                  <a:lnTo>
                    <a:pt x="184278" y="287642"/>
                  </a:lnTo>
                  <a:lnTo>
                    <a:pt x="146519" y="292684"/>
                  </a:lnTo>
                  <a:lnTo>
                    <a:pt x="108456" y="287642"/>
                  </a:lnTo>
                  <a:lnTo>
                    <a:pt x="73088" y="272884"/>
                  </a:lnTo>
                  <a:lnTo>
                    <a:pt x="42756" y="249572"/>
                  </a:lnTo>
                  <a:lnTo>
                    <a:pt x="19443" y="219240"/>
                  </a:lnTo>
                  <a:lnTo>
                    <a:pt x="4997" y="183921"/>
                  </a:lnTo>
                  <a:lnTo>
                    <a:pt x="1266" y="165229"/>
                  </a:lnTo>
                  <a:lnTo>
                    <a:pt x="0" y="146164"/>
                  </a:lnTo>
                  <a:close/>
                </a:path>
              </a:pathLst>
            </a:custGeom>
            <a:ln w="2555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8" name="object 11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566039" y="2971431"/>
              <a:ext cx="95757" cy="515886"/>
            </a:xfrm>
            <a:prstGeom prst="rect">
              <a:avLst/>
            </a:prstGeom>
          </p:spPr>
        </p:pic>
        <p:sp>
          <p:nvSpPr>
            <p:cNvPr id="119" name="object 119"/>
            <p:cNvSpPr/>
            <p:nvPr/>
          </p:nvSpPr>
          <p:spPr>
            <a:xfrm>
              <a:off x="6613918" y="2999155"/>
              <a:ext cx="0" cy="421005"/>
            </a:xfrm>
            <a:custGeom>
              <a:avLst/>
              <a:gdLst/>
              <a:ahLst/>
              <a:cxnLst/>
              <a:rect l="l" t="t" r="r" b="b"/>
              <a:pathLst>
                <a:path h="421004">
                  <a:moveTo>
                    <a:pt x="0" y="420484"/>
                  </a:moveTo>
                  <a:lnTo>
                    <a:pt x="0" y="0"/>
                  </a:lnTo>
                </a:path>
              </a:pathLst>
            </a:custGeom>
            <a:ln w="15839">
              <a:solidFill>
                <a:srgbClr val="C1400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0" name="object 120"/>
          <p:cNvSpPr txBox="1"/>
          <p:nvPr/>
        </p:nvSpPr>
        <p:spPr>
          <a:xfrm>
            <a:off x="5813894" y="2666060"/>
            <a:ext cx="15982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1E2836"/>
                </a:solidFill>
                <a:latin typeface="Segoe UI"/>
                <a:cs typeface="Segoe UI"/>
              </a:rPr>
              <a:t>постобработка</a:t>
            </a:r>
            <a:endParaRPr sz="1800" dirty="0">
              <a:latin typeface="Segoe UI"/>
              <a:cs typeface="Segoe UI"/>
            </a:endParaRPr>
          </a:p>
        </p:txBody>
      </p:sp>
      <p:grpSp>
        <p:nvGrpSpPr>
          <p:cNvPr id="121" name="object 121"/>
          <p:cNvGrpSpPr/>
          <p:nvPr/>
        </p:nvGrpSpPr>
        <p:grpSpPr>
          <a:xfrm>
            <a:off x="7762316" y="3390100"/>
            <a:ext cx="398780" cy="810895"/>
            <a:chOff x="7762316" y="3390100"/>
            <a:chExt cx="398780" cy="810895"/>
          </a:xfrm>
        </p:grpSpPr>
        <p:pic>
          <p:nvPicPr>
            <p:cNvPr id="122" name="object 12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762316" y="3390100"/>
              <a:ext cx="398157" cy="397814"/>
            </a:xfrm>
            <a:prstGeom prst="rect">
              <a:avLst/>
            </a:prstGeom>
          </p:spPr>
        </p:pic>
        <p:sp>
          <p:nvSpPr>
            <p:cNvPr id="123" name="object 123"/>
            <p:cNvSpPr/>
            <p:nvPr/>
          </p:nvSpPr>
          <p:spPr>
            <a:xfrm>
              <a:off x="7814881" y="3419995"/>
              <a:ext cx="292735" cy="292735"/>
            </a:xfrm>
            <a:custGeom>
              <a:avLst/>
              <a:gdLst/>
              <a:ahLst/>
              <a:cxnLst/>
              <a:rect l="l" t="t" r="r" b="b"/>
              <a:pathLst>
                <a:path w="292734" h="292735">
                  <a:moveTo>
                    <a:pt x="146519" y="0"/>
                  </a:moveTo>
                  <a:lnTo>
                    <a:pt x="108450" y="4864"/>
                  </a:lnTo>
                  <a:lnTo>
                    <a:pt x="73075" y="19443"/>
                  </a:lnTo>
                  <a:lnTo>
                    <a:pt x="42749" y="42756"/>
                  </a:lnTo>
                  <a:lnTo>
                    <a:pt x="19443" y="73088"/>
                  </a:lnTo>
                  <a:lnTo>
                    <a:pt x="4992" y="108407"/>
                  </a:lnTo>
                  <a:lnTo>
                    <a:pt x="0" y="146164"/>
                  </a:lnTo>
                  <a:lnTo>
                    <a:pt x="1264" y="165229"/>
                  </a:lnTo>
                  <a:lnTo>
                    <a:pt x="19443" y="219240"/>
                  </a:lnTo>
                  <a:lnTo>
                    <a:pt x="42749" y="249572"/>
                  </a:lnTo>
                  <a:lnTo>
                    <a:pt x="73075" y="272884"/>
                  </a:lnTo>
                  <a:lnTo>
                    <a:pt x="108450" y="287642"/>
                  </a:lnTo>
                  <a:lnTo>
                    <a:pt x="146519" y="292684"/>
                  </a:lnTo>
                  <a:lnTo>
                    <a:pt x="165580" y="291412"/>
                  </a:lnTo>
                  <a:lnTo>
                    <a:pt x="202357" y="281443"/>
                  </a:lnTo>
                  <a:lnTo>
                    <a:pt x="235573" y="262172"/>
                  </a:lnTo>
                  <a:lnTo>
                    <a:pt x="262527" y="235217"/>
                  </a:lnTo>
                  <a:lnTo>
                    <a:pt x="281593" y="202003"/>
                  </a:lnTo>
                  <a:lnTo>
                    <a:pt x="292684" y="146164"/>
                  </a:lnTo>
                  <a:lnTo>
                    <a:pt x="291417" y="127098"/>
                  </a:lnTo>
                  <a:lnTo>
                    <a:pt x="273240" y="73088"/>
                  </a:lnTo>
                  <a:lnTo>
                    <a:pt x="249928" y="42756"/>
                  </a:lnTo>
                  <a:lnTo>
                    <a:pt x="219595" y="19443"/>
                  </a:lnTo>
                  <a:lnTo>
                    <a:pt x="184272" y="4864"/>
                  </a:lnTo>
                  <a:lnTo>
                    <a:pt x="146519" y="0"/>
                  </a:lnTo>
                  <a:close/>
                </a:path>
              </a:pathLst>
            </a:custGeom>
            <a:solidFill>
              <a:srgbClr val="C1400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7814881" y="3419995"/>
              <a:ext cx="292735" cy="292735"/>
            </a:xfrm>
            <a:custGeom>
              <a:avLst/>
              <a:gdLst/>
              <a:ahLst/>
              <a:cxnLst/>
              <a:rect l="l" t="t" r="r" b="b"/>
              <a:pathLst>
                <a:path w="292734" h="292735">
                  <a:moveTo>
                    <a:pt x="0" y="146164"/>
                  </a:moveTo>
                  <a:lnTo>
                    <a:pt x="1264" y="127098"/>
                  </a:lnTo>
                  <a:lnTo>
                    <a:pt x="4992" y="108407"/>
                  </a:lnTo>
                  <a:lnTo>
                    <a:pt x="19443" y="73088"/>
                  </a:lnTo>
                  <a:lnTo>
                    <a:pt x="42749" y="42756"/>
                  </a:lnTo>
                  <a:lnTo>
                    <a:pt x="73075" y="19443"/>
                  </a:lnTo>
                  <a:lnTo>
                    <a:pt x="108450" y="4864"/>
                  </a:lnTo>
                  <a:lnTo>
                    <a:pt x="146519" y="0"/>
                  </a:lnTo>
                  <a:lnTo>
                    <a:pt x="202357" y="10940"/>
                  </a:lnTo>
                  <a:lnTo>
                    <a:pt x="235573" y="30156"/>
                  </a:lnTo>
                  <a:lnTo>
                    <a:pt x="262527" y="57110"/>
                  </a:lnTo>
                  <a:lnTo>
                    <a:pt x="281593" y="90325"/>
                  </a:lnTo>
                  <a:lnTo>
                    <a:pt x="292684" y="146164"/>
                  </a:lnTo>
                  <a:lnTo>
                    <a:pt x="291417" y="165229"/>
                  </a:lnTo>
                  <a:lnTo>
                    <a:pt x="287686" y="183921"/>
                  </a:lnTo>
                  <a:lnTo>
                    <a:pt x="273240" y="219240"/>
                  </a:lnTo>
                  <a:lnTo>
                    <a:pt x="249928" y="249572"/>
                  </a:lnTo>
                  <a:lnTo>
                    <a:pt x="219595" y="272884"/>
                  </a:lnTo>
                  <a:lnTo>
                    <a:pt x="184272" y="287642"/>
                  </a:lnTo>
                  <a:lnTo>
                    <a:pt x="146519" y="292684"/>
                  </a:lnTo>
                  <a:lnTo>
                    <a:pt x="108450" y="287642"/>
                  </a:lnTo>
                  <a:lnTo>
                    <a:pt x="73075" y="272884"/>
                  </a:lnTo>
                  <a:lnTo>
                    <a:pt x="42749" y="249572"/>
                  </a:lnTo>
                  <a:lnTo>
                    <a:pt x="19443" y="219240"/>
                  </a:lnTo>
                  <a:lnTo>
                    <a:pt x="4992" y="183921"/>
                  </a:lnTo>
                  <a:lnTo>
                    <a:pt x="1264" y="165229"/>
                  </a:lnTo>
                  <a:lnTo>
                    <a:pt x="0" y="146164"/>
                  </a:lnTo>
                  <a:close/>
                </a:path>
              </a:pathLst>
            </a:custGeom>
            <a:ln w="2555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5" name="object 12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913154" y="3684587"/>
              <a:ext cx="95757" cy="515886"/>
            </a:xfrm>
            <a:prstGeom prst="rect">
              <a:avLst/>
            </a:prstGeom>
          </p:spPr>
        </p:pic>
        <p:sp>
          <p:nvSpPr>
            <p:cNvPr id="126" name="object 126"/>
            <p:cNvSpPr/>
            <p:nvPr/>
          </p:nvSpPr>
          <p:spPr>
            <a:xfrm>
              <a:off x="7961045" y="3712324"/>
              <a:ext cx="0" cy="421005"/>
            </a:xfrm>
            <a:custGeom>
              <a:avLst/>
              <a:gdLst/>
              <a:ahLst/>
              <a:cxnLst/>
              <a:rect l="l" t="t" r="r" b="b"/>
              <a:pathLst>
                <a:path h="421004">
                  <a:moveTo>
                    <a:pt x="0" y="0"/>
                  </a:moveTo>
                  <a:lnTo>
                    <a:pt x="0" y="420471"/>
                  </a:lnTo>
                </a:path>
              </a:pathLst>
            </a:custGeom>
            <a:ln w="15839">
              <a:solidFill>
                <a:srgbClr val="C1400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7" name="object 127"/>
          <p:cNvSpPr txBox="1"/>
          <p:nvPr/>
        </p:nvSpPr>
        <p:spPr>
          <a:xfrm>
            <a:off x="7242378" y="4174820"/>
            <a:ext cx="1949856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pc="-10" dirty="0">
                <a:solidFill>
                  <a:srgbClr val="1E2836"/>
                </a:solidFill>
                <a:latin typeface="Segoe UI"/>
                <a:cs typeface="Segoe UI"/>
              </a:rPr>
              <a:t>воспроизводимый</a:t>
            </a:r>
            <a:r>
              <a:rPr lang="ru-RU" dirty="0" smtClean="0"/>
              <a:t> </a:t>
            </a:r>
            <a:r>
              <a:rPr lang="ru-RU" spc="-10" dirty="0" err="1">
                <a:solidFill>
                  <a:srgbClr val="1E2836"/>
                </a:solidFill>
                <a:latin typeface="Segoe UI"/>
                <a:cs typeface="Segoe UI"/>
              </a:rPr>
              <a:t>инференс</a:t>
            </a:r>
            <a:endParaRPr spc="-10" dirty="0">
              <a:solidFill>
                <a:srgbClr val="1E2836"/>
              </a:solidFill>
              <a:latin typeface="Segoe UI"/>
              <a:cs typeface="Segoe UI"/>
            </a:endParaRPr>
          </a:p>
        </p:txBody>
      </p:sp>
      <p:grpSp>
        <p:nvGrpSpPr>
          <p:cNvPr id="128" name="object 128"/>
          <p:cNvGrpSpPr/>
          <p:nvPr/>
        </p:nvGrpSpPr>
        <p:grpSpPr>
          <a:xfrm>
            <a:off x="10352875" y="2971431"/>
            <a:ext cx="398780" cy="816610"/>
            <a:chOff x="10352875" y="2971431"/>
            <a:chExt cx="398780" cy="816610"/>
          </a:xfrm>
        </p:grpSpPr>
        <p:pic>
          <p:nvPicPr>
            <p:cNvPr id="129" name="object 1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352875" y="3390099"/>
              <a:ext cx="398157" cy="397814"/>
            </a:xfrm>
            <a:prstGeom prst="rect">
              <a:avLst/>
            </a:prstGeom>
          </p:spPr>
        </p:pic>
        <p:sp>
          <p:nvSpPr>
            <p:cNvPr id="130" name="object 130"/>
            <p:cNvSpPr/>
            <p:nvPr/>
          </p:nvSpPr>
          <p:spPr>
            <a:xfrm>
              <a:off x="10405440" y="3419995"/>
              <a:ext cx="292735" cy="292735"/>
            </a:xfrm>
            <a:custGeom>
              <a:avLst/>
              <a:gdLst/>
              <a:ahLst/>
              <a:cxnLst/>
              <a:rect l="l" t="t" r="r" b="b"/>
              <a:pathLst>
                <a:path w="292734" h="292735">
                  <a:moveTo>
                    <a:pt x="146519" y="0"/>
                  </a:moveTo>
                  <a:lnTo>
                    <a:pt x="108450" y="4864"/>
                  </a:lnTo>
                  <a:lnTo>
                    <a:pt x="73075" y="19443"/>
                  </a:lnTo>
                  <a:lnTo>
                    <a:pt x="42749" y="42756"/>
                  </a:lnTo>
                  <a:lnTo>
                    <a:pt x="19443" y="73088"/>
                  </a:lnTo>
                  <a:lnTo>
                    <a:pt x="4997" y="108407"/>
                  </a:lnTo>
                  <a:lnTo>
                    <a:pt x="0" y="146164"/>
                  </a:lnTo>
                  <a:lnTo>
                    <a:pt x="1266" y="165229"/>
                  </a:lnTo>
                  <a:lnTo>
                    <a:pt x="19443" y="219240"/>
                  </a:lnTo>
                  <a:lnTo>
                    <a:pt x="42749" y="249572"/>
                  </a:lnTo>
                  <a:lnTo>
                    <a:pt x="73075" y="272884"/>
                  </a:lnTo>
                  <a:lnTo>
                    <a:pt x="108450" y="287642"/>
                  </a:lnTo>
                  <a:lnTo>
                    <a:pt x="146519" y="292684"/>
                  </a:lnTo>
                  <a:lnTo>
                    <a:pt x="165585" y="291412"/>
                  </a:lnTo>
                  <a:lnTo>
                    <a:pt x="202359" y="281443"/>
                  </a:lnTo>
                  <a:lnTo>
                    <a:pt x="235573" y="262172"/>
                  </a:lnTo>
                  <a:lnTo>
                    <a:pt x="262527" y="235217"/>
                  </a:lnTo>
                  <a:lnTo>
                    <a:pt x="281593" y="202003"/>
                  </a:lnTo>
                  <a:lnTo>
                    <a:pt x="292684" y="146164"/>
                  </a:lnTo>
                  <a:lnTo>
                    <a:pt x="291417" y="127098"/>
                  </a:lnTo>
                  <a:lnTo>
                    <a:pt x="273240" y="73088"/>
                  </a:lnTo>
                  <a:lnTo>
                    <a:pt x="249928" y="42756"/>
                  </a:lnTo>
                  <a:lnTo>
                    <a:pt x="219595" y="19443"/>
                  </a:lnTo>
                  <a:lnTo>
                    <a:pt x="184276" y="4864"/>
                  </a:lnTo>
                  <a:lnTo>
                    <a:pt x="146519" y="0"/>
                  </a:lnTo>
                  <a:close/>
                </a:path>
              </a:pathLst>
            </a:custGeom>
            <a:solidFill>
              <a:srgbClr val="C1400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10405440" y="3419995"/>
              <a:ext cx="292735" cy="292735"/>
            </a:xfrm>
            <a:custGeom>
              <a:avLst/>
              <a:gdLst/>
              <a:ahLst/>
              <a:cxnLst/>
              <a:rect l="l" t="t" r="r" b="b"/>
              <a:pathLst>
                <a:path w="292734" h="292735">
                  <a:moveTo>
                    <a:pt x="0" y="146164"/>
                  </a:moveTo>
                  <a:lnTo>
                    <a:pt x="1266" y="127098"/>
                  </a:lnTo>
                  <a:lnTo>
                    <a:pt x="4997" y="108407"/>
                  </a:lnTo>
                  <a:lnTo>
                    <a:pt x="19443" y="73088"/>
                  </a:lnTo>
                  <a:lnTo>
                    <a:pt x="42749" y="42756"/>
                  </a:lnTo>
                  <a:lnTo>
                    <a:pt x="73075" y="19443"/>
                  </a:lnTo>
                  <a:lnTo>
                    <a:pt x="108450" y="4864"/>
                  </a:lnTo>
                  <a:lnTo>
                    <a:pt x="146519" y="0"/>
                  </a:lnTo>
                  <a:lnTo>
                    <a:pt x="202359" y="10940"/>
                  </a:lnTo>
                  <a:lnTo>
                    <a:pt x="235573" y="30156"/>
                  </a:lnTo>
                  <a:lnTo>
                    <a:pt x="262527" y="57110"/>
                  </a:lnTo>
                  <a:lnTo>
                    <a:pt x="281593" y="90325"/>
                  </a:lnTo>
                  <a:lnTo>
                    <a:pt x="292684" y="146164"/>
                  </a:lnTo>
                  <a:lnTo>
                    <a:pt x="291417" y="165229"/>
                  </a:lnTo>
                  <a:lnTo>
                    <a:pt x="287686" y="183921"/>
                  </a:lnTo>
                  <a:lnTo>
                    <a:pt x="273240" y="219240"/>
                  </a:lnTo>
                  <a:lnTo>
                    <a:pt x="249928" y="249572"/>
                  </a:lnTo>
                  <a:lnTo>
                    <a:pt x="219595" y="272884"/>
                  </a:lnTo>
                  <a:lnTo>
                    <a:pt x="184276" y="287642"/>
                  </a:lnTo>
                  <a:lnTo>
                    <a:pt x="146519" y="292684"/>
                  </a:lnTo>
                  <a:lnTo>
                    <a:pt x="108450" y="287642"/>
                  </a:lnTo>
                  <a:lnTo>
                    <a:pt x="73075" y="272884"/>
                  </a:lnTo>
                  <a:lnTo>
                    <a:pt x="42749" y="249572"/>
                  </a:lnTo>
                  <a:lnTo>
                    <a:pt x="19443" y="219240"/>
                  </a:lnTo>
                  <a:lnTo>
                    <a:pt x="4997" y="183921"/>
                  </a:lnTo>
                  <a:lnTo>
                    <a:pt x="1266" y="165229"/>
                  </a:lnTo>
                  <a:lnTo>
                    <a:pt x="0" y="146164"/>
                  </a:lnTo>
                  <a:close/>
                </a:path>
              </a:pathLst>
            </a:custGeom>
            <a:ln w="2555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2" name="object 13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503725" y="2971431"/>
              <a:ext cx="95757" cy="515886"/>
            </a:xfrm>
            <a:prstGeom prst="rect">
              <a:avLst/>
            </a:prstGeom>
          </p:spPr>
        </p:pic>
        <p:sp>
          <p:nvSpPr>
            <p:cNvPr id="133" name="object 133"/>
            <p:cNvSpPr/>
            <p:nvPr/>
          </p:nvSpPr>
          <p:spPr>
            <a:xfrm>
              <a:off x="10551604" y="2999155"/>
              <a:ext cx="0" cy="421005"/>
            </a:xfrm>
            <a:custGeom>
              <a:avLst/>
              <a:gdLst/>
              <a:ahLst/>
              <a:cxnLst/>
              <a:rect l="l" t="t" r="r" b="b"/>
              <a:pathLst>
                <a:path h="421004">
                  <a:moveTo>
                    <a:pt x="0" y="420484"/>
                  </a:moveTo>
                  <a:lnTo>
                    <a:pt x="0" y="0"/>
                  </a:lnTo>
                </a:path>
              </a:pathLst>
            </a:custGeom>
            <a:ln w="15839">
              <a:solidFill>
                <a:srgbClr val="C1400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4" name="object 134"/>
          <p:cNvSpPr txBox="1"/>
          <p:nvPr/>
        </p:nvSpPr>
        <p:spPr>
          <a:xfrm>
            <a:off x="9313824" y="2391740"/>
            <a:ext cx="20066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3555" marR="5080" indent="-49149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1E2836"/>
                </a:solidFill>
                <a:latin typeface="Segoe UI"/>
                <a:cs typeface="Segoe UI"/>
              </a:rPr>
              <a:t>многомасштабный ансамбль</a:t>
            </a:r>
            <a:endParaRPr sz="1800" dirty="0">
              <a:latin typeface="Segoe UI"/>
              <a:cs typeface="Segoe UI"/>
            </a:endParaRPr>
          </a:p>
        </p:txBody>
      </p:sp>
      <p:sp>
        <p:nvSpPr>
          <p:cNvPr id="135" name="object 135"/>
          <p:cNvSpPr txBox="1"/>
          <p:nvPr/>
        </p:nvSpPr>
        <p:spPr>
          <a:xfrm>
            <a:off x="828254" y="5583135"/>
            <a:ext cx="1029694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ru-RU" sz="2200" b="1" dirty="0">
                <a:solidFill>
                  <a:srgbClr val="1E2836"/>
                </a:solidFill>
                <a:latin typeface="Segoe UI"/>
                <a:cs typeface="Segoe UI"/>
              </a:rPr>
              <a:t>Изменения модели проверяли на территориальном и временном сплитах; инженерные изменения — по скорости и </a:t>
            </a:r>
            <a:r>
              <a:rPr lang="ru-RU" sz="2200" b="1" dirty="0" err="1">
                <a:solidFill>
                  <a:srgbClr val="1E2836"/>
                </a:solidFill>
                <a:latin typeface="Segoe UI"/>
                <a:cs typeface="Segoe UI"/>
              </a:rPr>
              <a:t>воспроизводимости</a:t>
            </a:r>
            <a:endParaRPr sz="2200" b="1" dirty="0">
              <a:solidFill>
                <a:srgbClr val="1E2836"/>
              </a:solidFill>
              <a:latin typeface="Segoe UI"/>
              <a:cs typeface="Segoe UI"/>
            </a:endParaRPr>
          </a:p>
        </p:txBody>
      </p:sp>
      <p:sp>
        <p:nvSpPr>
          <p:cNvPr id="137" name="object 120"/>
          <p:cNvSpPr txBox="1"/>
          <p:nvPr/>
        </p:nvSpPr>
        <p:spPr>
          <a:xfrm>
            <a:off x="4500186" y="4180449"/>
            <a:ext cx="1955952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 dirty="0">
                <a:solidFill>
                  <a:srgbClr val="1E2836"/>
                </a:solidFill>
                <a:latin typeface="Segoe UI"/>
                <a:cs typeface="Segoe UI"/>
              </a:rPr>
              <a:t>U-Net + </a:t>
            </a:r>
            <a:r>
              <a:rPr lang="en-US" spc="-10" dirty="0" err="1">
                <a:solidFill>
                  <a:srgbClr val="1E2836"/>
                </a:solidFill>
                <a:latin typeface="Segoe UI"/>
                <a:cs typeface="Segoe UI"/>
              </a:rPr>
              <a:t>LightGBM</a:t>
            </a:r>
            <a:r>
              <a:rPr lang="en-US" spc="-10" dirty="0">
                <a:solidFill>
                  <a:srgbClr val="1E2836"/>
                </a:solidFill>
                <a:latin typeface="Segoe UI"/>
                <a:cs typeface="Segoe UI"/>
              </a:rPr>
              <a:t>-</a:t>
            </a:r>
            <a:r>
              <a:rPr lang="ru-RU" spc="-10" dirty="0" err="1">
                <a:solidFill>
                  <a:srgbClr val="1E2836"/>
                </a:solidFill>
                <a:latin typeface="Segoe UI"/>
                <a:cs typeface="Segoe UI"/>
              </a:rPr>
              <a:t>стекинг</a:t>
            </a:r>
            <a:endParaRPr spc="-10" dirty="0">
              <a:solidFill>
                <a:srgbClr val="1E2836"/>
              </a:solidFill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Нарисовал</a:t>
            </a:r>
            <a:r>
              <a:rPr spc="-110" dirty="0"/>
              <a:t> </a:t>
            </a:r>
            <a:r>
              <a:rPr dirty="0"/>
              <a:t>зону</a:t>
            </a:r>
            <a:r>
              <a:rPr spc="-114" dirty="0"/>
              <a:t> </a:t>
            </a:r>
            <a:r>
              <a:rPr dirty="0"/>
              <a:t>—</a:t>
            </a:r>
            <a:r>
              <a:rPr spc="-114" dirty="0"/>
              <a:t> </a:t>
            </a:r>
            <a:r>
              <a:rPr dirty="0"/>
              <a:t>получил</a:t>
            </a:r>
            <a:r>
              <a:rPr spc="-110" dirty="0"/>
              <a:t> </a:t>
            </a:r>
            <a:r>
              <a:rPr dirty="0"/>
              <a:t>площади,</a:t>
            </a:r>
            <a:r>
              <a:rPr spc="-120" dirty="0"/>
              <a:t> </a:t>
            </a:r>
            <a:r>
              <a:rPr spc="-10" dirty="0"/>
              <a:t>векторы </a:t>
            </a:r>
            <a:r>
              <a:rPr dirty="0"/>
              <a:t>и</a:t>
            </a:r>
            <a:r>
              <a:rPr spc="-30" dirty="0"/>
              <a:t> </a:t>
            </a:r>
            <a:r>
              <a:rPr spc="-25" dirty="0"/>
              <a:t>API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594004" y="2089785"/>
            <a:ext cx="7819390" cy="4003675"/>
            <a:chOff x="594004" y="2089785"/>
            <a:chExt cx="7819390" cy="400367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0079" y="2112848"/>
              <a:ext cx="7726324" cy="391139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4004" y="2089785"/>
              <a:ext cx="7818843" cy="400357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40079" y="2112835"/>
              <a:ext cx="7726680" cy="3911600"/>
            </a:xfrm>
            <a:custGeom>
              <a:avLst/>
              <a:gdLst/>
              <a:ahLst/>
              <a:cxnLst/>
              <a:rect l="l" t="t" r="r" b="b"/>
              <a:pathLst>
                <a:path w="7726680" h="3911600">
                  <a:moveTo>
                    <a:pt x="3863162" y="3911409"/>
                  </a:moveTo>
                  <a:lnTo>
                    <a:pt x="0" y="3911409"/>
                  </a:lnTo>
                  <a:lnTo>
                    <a:pt x="0" y="0"/>
                  </a:lnTo>
                  <a:lnTo>
                    <a:pt x="7726324" y="0"/>
                  </a:lnTo>
                  <a:lnTo>
                    <a:pt x="7726324" y="3911409"/>
                  </a:lnTo>
                  <a:lnTo>
                    <a:pt x="3863162" y="3911409"/>
                  </a:lnTo>
                  <a:close/>
                </a:path>
              </a:pathLst>
            </a:custGeom>
            <a:ln w="12599">
              <a:solidFill>
                <a:srgbClr val="D5D2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8646376" y="1892712"/>
            <a:ext cx="3084195" cy="4526880"/>
          </a:xfrm>
          <a:prstGeom prst="rect">
            <a:avLst/>
          </a:prstGeom>
        </p:spPr>
        <p:txBody>
          <a:bodyPr vert="horz" wrap="square" lIns="0" tIns="182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lang="ru-RU" sz="4000" b="1" dirty="0" smtClean="0">
                <a:solidFill>
                  <a:srgbClr val="C1400B"/>
                </a:solidFill>
                <a:latin typeface="Segoe UI"/>
                <a:cs typeface="Segoe UI"/>
              </a:rPr>
              <a:t>≤ </a:t>
            </a:r>
            <a:r>
              <a:rPr sz="4000" b="1" dirty="0" smtClean="0">
                <a:solidFill>
                  <a:srgbClr val="C1400B"/>
                </a:solidFill>
                <a:latin typeface="Segoe UI"/>
                <a:cs typeface="Segoe UI"/>
              </a:rPr>
              <a:t>0.025</a:t>
            </a:r>
            <a:r>
              <a:rPr sz="4000" b="1" spc="-140" dirty="0" smtClean="0">
                <a:solidFill>
                  <a:srgbClr val="C1400B"/>
                </a:solidFill>
                <a:latin typeface="Segoe UI"/>
                <a:cs typeface="Segoe UI"/>
              </a:rPr>
              <a:t> </a:t>
            </a:r>
            <a:r>
              <a:rPr sz="4000" b="1" spc="-50" dirty="0">
                <a:solidFill>
                  <a:srgbClr val="C1400B"/>
                </a:solidFill>
                <a:latin typeface="Segoe UI"/>
                <a:cs typeface="Segoe UI"/>
              </a:rPr>
              <a:t>%</a:t>
            </a:r>
            <a:endParaRPr sz="400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lang="ru-RU" sz="2000" dirty="0">
                <a:solidFill>
                  <a:srgbClr val="4A5462"/>
                </a:solidFill>
                <a:latin typeface="Segoe UI"/>
                <a:cs typeface="Segoe UI"/>
              </a:rPr>
              <a:t>расхождение расчёта площади в UTM</a:t>
            </a:r>
            <a:endParaRPr sz="2000" dirty="0">
              <a:solidFill>
                <a:srgbClr val="4A5462"/>
              </a:solidFill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200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4000" b="1" dirty="0">
                <a:solidFill>
                  <a:srgbClr val="C1400B"/>
                </a:solidFill>
                <a:latin typeface="Segoe UI"/>
                <a:cs typeface="Segoe UI"/>
              </a:rPr>
              <a:t>4</a:t>
            </a:r>
            <a:r>
              <a:rPr sz="4000" b="1" spc="-5" dirty="0">
                <a:solidFill>
                  <a:srgbClr val="C1400B"/>
                </a:solidFill>
                <a:latin typeface="Segoe UI"/>
                <a:cs typeface="Segoe UI"/>
              </a:rPr>
              <a:t> </a:t>
            </a:r>
            <a:r>
              <a:rPr sz="4000" b="1" spc="-10" dirty="0">
                <a:solidFill>
                  <a:srgbClr val="C1400B"/>
                </a:solidFill>
                <a:latin typeface="Segoe UI"/>
                <a:cs typeface="Segoe UI"/>
              </a:rPr>
              <a:t>формата</a:t>
            </a:r>
            <a:endParaRPr sz="4000" dirty="0">
              <a:latin typeface="Segoe UI"/>
              <a:cs typeface="Segoe UI"/>
            </a:endParaRPr>
          </a:p>
          <a:p>
            <a:pPr marL="12700" marR="58419">
              <a:lnSpc>
                <a:spcPct val="100000"/>
              </a:lnSpc>
              <a:spcBef>
                <a:spcPts val="670"/>
              </a:spcBef>
            </a:pPr>
            <a:r>
              <a:rPr sz="2000" dirty="0">
                <a:solidFill>
                  <a:srgbClr val="4A5462"/>
                </a:solidFill>
                <a:latin typeface="Segoe UI"/>
                <a:cs typeface="Segoe UI"/>
              </a:rPr>
              <a:t>GeoJSON,</a:t>
            </a:r>
            <a:r>
              <a:rPr sz="2000" spc="-85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4A5462"/>
                </a:solidFill>
                <a:latin typeface="Segoe UI"/>
                <a:cs typeface="Segoe UI"/>
              </a:rPr>
              <a:t>Shapefile,</a:t>
            </a:r>
            <a:r>
              <a:rPr sz="2000" spc="-85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2000" spc="-20" dirty="0">
                <a:solidFill>
                  <a:srgbClr val="4A5462"/>
                </a:solidFill>
                <a:latin typeface="Segoe UI"/>
                <a:cs typeface="Segoe UI"/>
              </a:rPr>
              <a:t>JSON, </a:t>
            </a:r>
            <a:r>
              <a:rPr sz="2000" spc="-25" dirty="0">
                <a:solidFill>
                  <a:srgbClr val="4A5462"/>
                </a:solidFill>
                <a:latin typeface="Segoe UI"/>
                <a:cs typeface="Segoe UI"/>
              </a:rPr>
              <a:t>CSV</a:t>
            </a:r>
            <a:endParaRPr sz="200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4000" b="1" spc="-10" dirty="0">
                <a:solidFill>
                  <a:srgbClr val="C1400B"/>
                </a:solidFill>
                <a:latin typeface="Segoe UI"/>
                <a:cs typeface="Segoe UI"/>
              </a:rPr>
              <a:t>офлайн</a:t>
            </a:r>
            <a:endParaRPr sz="400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lang="ru-RU" sz="2000" dirty="0">
                <a:solidFill>
                  <a:srgbClr val="4A5462"/>
                </a:solidFill>
                <a:latin typeface="Segoe UI"/>
                <a:cs typeface="Segoe UI"/>
              </a:rPr>
              <a:t>сервис и API не зависят от облака</a:t>
            </a:r>
            <a:endParaRPr sz="2000" dirty="0">
              <a:solidFill>
                <a:srgbClr val="4A5462"/>
              </a:solidFill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ru-RU" dirty="0"/>
              <a:t>Воспроизводимый </a:t>
            </a:r>
            <a:r>
              <a:rPr lang="ru-RU" dirty="0" err="1"/>
              <a:t>инференс</a:t>
            </a:r>
            <a:r>
              <a:rPr lang="ru-RU" dirty="0"/>
              <a:t>: одна команда, </a:t>
            </a:r>
            <a:r>
              <a:rPr lang="ru-RU" dirty="0" smtClean="0"/>
              <a:t>170 </a:t>
            </a:r>
            <a:r>
              <a:rPr lang="ru-RU" dirty="0"/>
              <a:t>тестов</a:t>
            </a:r>
            <a:endParaRPr spc="-10" dirty="0"/>
          </a:p>
        </p:txBody>
      </p:sp>
      <p:grpSp>
        <p:nvGrpSpPr>
          <p:cNvPr id="6" name="object 6"/>
          <p:cNvGrpSpPr/>
          <p:nvPr/>
        </p:nvGrpSpPr>
        <p:grpSpPr>
          <a:xfrm>
            <a:off x="6013437" y="2222982"/>
            <a:ext cx="98425" cy="3645535"/>
            <a:chOff x="6013437" y="2222982"/>
            <a:chExt cx="98425" cy="364553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13437" y="2222982"/>
              <a:ext cx="97916" cy="364538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053404" y="2239924"/>
              <a:ext cx="18415" cy="3566160"/>
            </a:xfrm>
            <a:custGeom>
              <a:avLst/>
              <a:gdLst/>
              <a:ahLst/>
              <a:cxnLst/>
              <a:rect l="l" t="t" r="r" b="b"/>
              <a:pathLst>
                <a:path w="18414" h="3566160">
                  <a:moveTo>
                    <a:pt x="17995" y="0"/>
                  </a:moveTo>
                  <a:lnTo>
                    <a:pt x="0" y="0"/>
                  </a:lnTo>
                  <a:lnTo>
                    <a:pt x="0" y="3565791"/>
                  </a:lnTo>
                  <a:lnTo>
                    <a:pt x="8991" y="3565791"/>
                  </a:lnTo>
                  <a:lnTo>
                    <a:pt x="17995" y="3565791"/>
                  </a:lnTo>
                  <a:lnTo>
                    <a:pt x="17995" y="0"/>
                  </a:lnTo>
                  <a:close/>
                </a:path>
              </a:pathLst>
            </a:custGeom>
            <a:solidFill>
              <a:srgbClr val="9BA2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828255" y="2272944"/>
            <a:ext cx="4797425" cy="21185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2200" dirty="0">
                <a:solidFill>
                  <a:srgbClr val="1E2836"/>
                </a:solidFill>
                <a:latin typeface="Segoe UI"/>
                <a:cs typeface="Segoe UI"/>
              </a:rPr>
              <a:t>Windows GPU, Windows CPU </a:t>
            </a:r>
            <a:r>
              <a:rPr lang="ru-RU" sz="2200" dirty="0">
                <a:solidFill>
                  <a:srgbClr val="1E2836"/>
                </a:solidFill>
                <a:latin typeface="Segoe UI"/>
                <a:cs typeface="Segoe UI"/>
              </a:rPr>
              <a:t>и </a:t>
            </a:r>
            <a:r>
              <a:rPr lang="en-US" sz="2200" dirty="0">
                <a:solidFill>
                  <a:srgbClr val="1E2836"/>
                </a:solidFill>
                <a:latin typeface="Segoe UI"/>
                <a:cs typeface="Segoe UI"/>
              </a:rPr>
              <a:t>Docker Linux — </a:t>
            </a:r>
            <a:r>
              <a:rPr lang="ru-RU" sz="2200" dirty="0">
                <a:solidFill>
                  <a:srgbClr val="1E2836"/>
                </a:solidFill>
                <a:latin typeface="Segoe UI"/>
                <a:cs typeface="Segoe UI"/>
              </a:rPr>
              <a:t>идентичный </a:t>
            </a:r>
            <a:r>
              <a:rPr lang="en-US" sz="2200" dirty="0" smtClean="0">
                <a:solidFill>
                  <a:srgbClr val="1E2836"/>
                </a:solidFill>
                <a:latin typeface="Segoe UI"/>
                <a:cs typeface="Segoe UI"/>
              </a:rPr>
              <a:t>submission</a:t>
            </a:r>
            <a:r>
              <a:rPr lang="ru-RU" sz="2200" dirty="0" smtClean="0">
                <a:solidFill>
                  <a:srgbClr val="1E2836"/>
                </a:solidFill>
                <a:latin typeface="Segoe UI"/>
                <a:cs typeface="Segoe UI"/>
              </a:rPr>
              <a:t>. </a:t>
            </a:r>
            <a:r>
              <a:rPr lang="ru-RU" sz="2200" dirty="0" err="1">
                <a:solidFill>
                  <a:srgbClr val="1E2836"/>
                </a:solidFill>
                <a:latin typeface="Segoe UI"/>
                <a:cs typeface="Segoe UI"/>
              </a:rPr>
              <a:t>macOS</a:t>
            </a:r>
            <a:r>
              <a:rPr lang="ru-RU" sz="2200" dirty="0">
                <a:solidFill>
                  <a:srgbClr val="1E2836"/>
                </a:solidFill>
                <a:latin typeface="Segoe UI"/>
                <a:cs typeface="Segoe UI"/>
              </a:rPr>
              <a:t> M4 — расхождение в 1 пиксель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sz="2200" dirty="0" smtClean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2200" dirty="0" smtClean="0">
                <a:solidFill>
                  <a:srgbClr val="1E2836"/>
                </a:solidFill>
                <a:latin typeface="Segoe UI"/>
                <a:cs typeface="Segoe UI"/>
              </a:rPr>
              <a:t>22</a:t>
            </a:r>
            <a:r>
              <a:rPr sz="2200" spc="-30" dirty="0" smtClean="0">
                <a:solidFill>
                  <a:srgbClr val="1E2836"/>
                </a:solidFill>
                <a:latin typeface="Segoe UI"/>
                <a:cs typeface="Segoe UI"/>
              </a:rPr>
              <a:t> </a:t>
            </a:r>
            <a:r>
              <a:rPr sz="2200" dirty="0">
                <a:solidFill>
                  <a:srgbClr val="1E2836"/>
                </a:solidFill>
                <a:latin typeface="Segoe UI"/>
                <a:cs typeface="Segoe UI"/>
              </a:rPr>
              <a:t>с</a:t>
            </a:r>
            <a:r>
              <a:rPr sz="2200" spc="-25" dirty="0">
                <a:solidFill>
                  <a:srgbClr val="1E2836"/>
                </a:solidFill>
                <a:latin typeface="Segoe UI"/>
                <a:cs typeface="Segoe UI"/>
              </a:rPr>
              <a:t> </a:t>
            </a:r>
            <a:r>
              <a:rPr sz="2200" dirty="0">
                <a:solidFill>
                  <a:srgbClr val="1E2836"/>
                </a:solidFill>
                <a:latin typeface="Segoe UI"/>
                <a:cs typeface="Segoe UI"/>
              </a:rPr>
              <a:t>на</a:t>
            </a:r>
            <a:r>
              <a:rPr sz="2200" spc="-30" dirty="0">
                <a:solidFill>
                  <a:srgbClr val="1E2836"/>
                </a:solidFill>
                <a:latin typeface="Segoe UI"/>
                <a:cs typeface="Segoe UI"/>
              </a:rPr>
              <a:t> </a:t>
            </a:r>
            <a:r>
              <a:rPr sz="2200" dirty="0">
                <a:solidFill>
                  <a:srgbClr val="1E2836"/>
                </a:solidFill>
                <a:latin typeface="Segoe UI"/>
                <a:cs typeface="Segoe UI"/>
              </a:rPr>
              <a:t>GPU,</a:t>
            </a:r>
            <a:r>
              <a:rPr sz="2200" spc="-25" dirty="0">
                <a:solidFill>
                  <a:srgbClr val="1E2836"/>
                </a:solidFill>
                <a:latin typeface="Segoe UI"/>
                <a:cs typeface="Segoe UI"/>
              </a:rPr>
              <a:t> </a:t>
            </a:r>
            <a:r>
              <a:rPr sz="2200" dirty="0">
                <a:solidFill>
                  <a:srgbClr val="1E2836"/>
                </a:solidFill>
                <a:latin typeface="Segoe UI"/>
                <a:cs typeface="Segoe UI"/>
              </a:rPr>
              <a:t>57</a:t>
            </a:r>
            <a:r>
              <a:rPr sz="2200" spc="-30" dirty="0">
                <a:solidFill>
                  <a:srgbClr val="1E2836"/>
                </a:solidFill>
                <a:latin typeface="Segoe UI"/>
                <a:cs typeface="Segoe UI"/>
              </a:rPr>
              <a:t> </a:t>
            </a:r>
            <a:r>
              <a:rPr sz="2200" dirty="0">
                <a:solidFill>
                  <a:srgbClr val="1E2836"/>
                </a:solidFill>
                <a:latin typeface="Segoe UI"/>
                <a:cs typeface="Segoe UI"/>
              </a:rPr>
              <a:t>с</a:t>
            </a:r>
            <a:r>
              <a:rPr sz="2200" spc="-25" dirty="0">
                <a:solidFill>
                  <a:srgbClr val="1E2836"/>
                </a:solidFill>
                <a:latin typeface="Segoe UI"/>
                <a:cs typeface="Segoe UI"/>
              </a:rPr>
              <a:t> </a:t>
            </a:r>
            <a:r>
              <a:rPr sz="2200" dirty="0">
                <a:solidFill>
                  <a:srgbClr val="1E2836"/>
                </a:solidFill>
                <a:latin typeface="Segoe UI"/>
                <a:cs typeface="Segoe UI"/>
              </a:rPr>
              <a:t>на</a:t>
            </a:r>
            <a:r>
              <a:rPr sz="2200" spc="-25" dirty="0">
                <a:solidFill>
                  <a:srgbClr val="1E2836"/>
                </a:solidFill>
                <a:latin typeface="Segoe UI"/>
                <a:cs typeface="Segoe UI"/>
              </a:rPr>
              <a:t> CPU</a:t>
            </a:r>
            <a:endParaRPr sz="2200" dirty="0">
              <a:latin typeface="Segoe UI"/>
              <a:cs typeface="Segoe U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28255" y="5022253"/>
            <a:ext cx="360934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1E2836"/>
                </a:solidFill>
                <a:latin typeface="Segoe UI"/>
                <a:cs typeface="Segoe UI"/>
              </a:rPr>
              <a:t>170</a:t>
            </a:r>
            <a:r>
              <a:rPr sz="2200" spc="-55" dirty="0">
                <a:solidFill>
                  <a:srgbClr val="1E2836"/>
                </a:solidFill>
                <a:latin typeface="Segoe UI"/>
                <a:cs typeface="Segoe UI"/>
              </a:rPr>
              <a:t> </a:t>
            </a:r>
            <a:r>
              <a:rPr sz="2200" dirty="0">
                <a:solidFill>
                  <a:srgbClr val="1E2836"/>
                </a:solidFill>
                <a:latin typeface="Segoe UI"/>
                <a:cs typeface="Segoe UI"/>
              </a:rPr>
              <a:t>тестов,</a:t>
            </a:r>
            <a:r>
              <a:rPr sz="2200" spc="-55" dirty="0">
                <a:solidFill>
                  <a:srgbClr val="1E2836"/>
                </a:solidFill>
                <a:latin typeface="Segoe UI"/>
                <a:cs typeface="Segoe UI"/>
              </a:rPr>
              <a:t> </a:t>
            </a:r>
            <a:r>
              <a:rPr sz="2200" dirty="0">
                <a:solidFill>
                  <a:srgbClr val="1E2836"/>
                </a:solidFill>
                <a:latin typeface="Segoe UI"/>
                <a:cs typeface="Segoe UI"/>
              </a:rPr>
              <a:t>Python</a:t>
            </a:r>
            <a:r>
              <a:rPr sz="2200" spc="-55" dirty="0">
                <a:solidFill>
                  <a:srgbClr val="1E2836"/>
                </a:solidFill>
                <a:latin typeface="Segoe UI"/>
                <a:cs typeface="Segoe UI"/>
              </a:rPr>
              <a:t> </a:t>
            </a:r>
            <a:r>
              <a:rPr sz="2200" spc="-10" dirty="0">
                <a:solidFill>
                  <a:srgbClr val="1E2836"/>
                </a:solidFill>
                <a:latin typeface="Segoe UI"/>
                <a:cs typeface="Segoe UI"/>
              </a:rPr>
              <a:t>3.10–</a:t>
            </a:r>
            <a:r>
              <a:rPr sz="2200" spc="-20" dirty="0">
                <a:solidFill>
                  <a:srgbClr val="1E2836"/>
                </a:solidFill>
                <a:latin typeface="Segoe UI"/>
                <a:cs typeface="Segoe UI"/>
              </a:rPr>
              <a:t>3.12</a:t>
            </a:r>
            <a:endParaRPr sz="2200">
              <a:latin typeface="Segoe UI"/>
              <a:cs typeface="Segoe U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60375" y="2425573"/>
            <a:ext cx="4560570" cy="1767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ru-RU" sz="2400" b="1" dirty="0" smtClean="0"/>
              <a:t>Главное ограничение — локализация события</a:t>
            </a:r>
            <a:r>
              <a:rPr lang="ru-RU" sz="2400" dirty="0" smtClean="0"/>
              <a:t/>
            </a:r>
            <a:br>
              <a:rPr lang="ru-RU" sz="2400" dirty="0" smtClean="0"/>
            </a:br>
            <a:r>
              <a:rPr lang="ru-RU" sz="2200" dirty="0">
                <a:solidFill>
                  <a:srgbClr val="1E2836"/>
                </a:solidFill>
                <a:latin typeface="Segoe UI"/>
                <a:cs typeface="Segoe UI"/>
              </a:rPr>
              <a:t>В тесте не виден центр пожара, относительно которого сформирован эталонный контур</a:t>
            </a:r>
            <a:endParaRPr sz="2200" dirty="0">
              <a:solidFill>
                <a:srgbClr val="1E2836"/>
              </a:solidFill>
              <a:latin typeface="Segoe UI"/>
              <a:cs typeface="Segoe U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60375" y="4635258"/>
            <a:ext cx="4968875" cy="10284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lang="ru-RU" sz="2200" b="1" dirty="0">
                <a:solidFill>
                  <a:srgbClr val="C1400B"/>
                </a:solidFill>
                <a:latin typeface="Segoe UI"/>
                <a:cs typeface="Segoe UI"/>
              </a:rPr>
              <a:t>В рабочем сервисе центр события задаётся результатом модуля </a:t>
            </a:r>
            <a:r>
              <a:rPr lang="ru-RU" sz="2200" b="1" dirty="0" err="1">
                <a:solidFill>
                  <a:srgbClr val="C1400B"/>
                </a:solidFill>
                <a:latin typeface="Segoe UI"/>
                <a:cs typeface="Segoe UI"/>
              </a:rPr>
              <a:t>Active</a:t>
            </a:r>
            <a:r>
              <a:rPr lang="ru-RU" sz="2200" b="1" dirty="0">
                <a:solidFill>
                  <a:srgbClr val="C1400B"/>
                </a:solidFill>
                <a:latin typeface="Segoe UI"/>
                <a:cs typeface="Segoe UI"/>
              </a:rPr>
              <a:t> </a:t>
            </a:r>
            <a:r>
              <a:rPr lang="ru-RU" sz="2200" b="1" dirty="0" err="1">
                <a:solidFill>
                  <a:srgbClr val="C1400B"/>
                </a:solidFill>
                <a:latin typeface="Segoe UI"/>
                <a:cs typeface="Segoe UI"/>
              </a:rPr>
              <a:t>Fire</a:t>
            </a:r>
            <a:endParaRPr sz="2200" b="1" dirty="0">
              <a:solidFill>
                <a:srgbClr val="C1400B"/>
              </a:solidFill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479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75"/>
              </a:spcBef>
              <a:tabLst>
                <a:tab pos="4392930" algn="l"/>
              </a:tabLst>
            </a:pPr>
            <a:r>
              <a:rPr sz="8000" spc="-10" dirty="0">
                <a:solidFill>
                  <a:srgbClr val="FA913B"/>
                </a:solidFill>
              </a:rPr>
              <a:t>0.8314</a:t>
            </a:r>
            <a:r>
              <a:rPr sz="8000" dirty="0">
                <a:solidFill>
                  <a:srgbClr val="FA913B"/>
                </a:solidFill>
              </a:rPr>
              <a:t>	22</a:t>
            </a:r>
            <a:r>
              <a:rPr sz="8000" spc="-25" dirty="0">
                <a:solidFill>
                  <a:srgbClr val="FA913B"/>
                </a:solidFill>
              </a:rPr>
              <a:t> </a:t>
            </a:r>
            <a:r>
              <a:rPr sz="8000" spc="-50" dirty="0">
                <a:solidFill>
                  <a:srgbClr val="FA913B"/>
                </a:solidFill>
              </a:rPr>
              <a:t>с</a:t>
            </a:r>
            <a:endParaRPr sz="8000"/>
          </a:p>
          <a:p>
            <a:pPr marL="857885">
              <a:lnSpc>
                <a:spcPct val="100000"/>
              </a:lnSpc>
              <a:spcBef>
                <a:spcPts val="1010"/>
              </a:spcBef>
              <a:tabLst>
                <a:tab pos="4196715" algn="l"/>
              </a:tabLst>
            </a:pPr>
            <a:r>
              <a:rPr sz="2200" b="0" dirty="0">
                <a:solidFill>
                  <a:srgbClr val="D0D4DA"/>
                </a:solidFill>
                <a:latin typeface="Segoe UI"/>
                <a:cs typeface="Segoe UI"/>
              </a:rPr>
              <a:t>public</a:t>
            </a:r>
            <a:r>
              <a:rPr sz="2200" b="0" spc="-35" dirty="0">
                <a:solidFill>
                  <a:srgbClr val="D0D4DA"/>
                </a:solidFill>
                <a:latin typeface="Segoe UI"/>
                <a:cs typeface="Segoe UI"/>
              </a:rPr>
              <a:t> </a:t>
            </a:r>
            <a:r>
              <a:rPr sz="2200" b="0" spc="-20" dirty="0">
                <a:solidFill>
                  <a:srgbClr val="D0D4DA"/>
                </a:solidFill>
                <a:latin typeface="Segoe UI"/>
                <a:cs typeface="Segoe UI"/>
              </a:rPr>
              <a:t>Score</a:t>
            </a:r>
            <a:r>
              <a:rPr sz="2200" b="0" dirty="0">
                <a:solidFill>
                  <a:srgbClr val="D0D4DA"/>
                </a:solidFill>
                <a:latin typeface="Segoe UI"/>
                <a:cs typeface="Segoe UI"/>
              </a:rPr>
              <a:t>	полный</a:t>
            </a:r>
            <a:r>
              <a:rPr sz="2200" b="0" spc="-70" dirty="0">
                <a:solidFill>
                  <a:srgbClr val="D0D4DA"/>
                </a:solidFill>
                <a:latin typeface="Segoe UI"/>
                <a:cs typeface="Segoe UI"/>
              </a:rPr>
              <a:t> </a:t>
            </a:r>
            <a:r>
              <a:rPr sz="2200" b="0" spc="-10" dirty="0">
                <a:solidFill>
                  <a:srgbClr val="D0D4DA"/>
                </a:solidFill>
                <a:latin typeface="Segoe UI"/>
                <a:cs typeface="Segoe UI"/>
              </a:rPr>
              <a:t>инференс</a:t>
            </a:r>
            <a:endParaRPr sz="2200">
              <a:latin typeface="Segoe UI"/>
              <a:cs typeface="Segoe U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265503" y="2509842"/>
            <a:ext cx="3401060" cy="1331595"/>
          </a:xfrm>
          <a:prstGeom prst="rect">
            <a:avLst/>
          </a:prstGeom>
        </p:spPr>
        <p:txBody>
          <a:bodyPr vert="horz" wrap="square" lIns="0" tIns="2451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930"/>
              </a:spcBef>
            </a:pPr>
            <a:r>
              <a:rPr sz="4000" b="1" dirty="0">
                <a:solidFill>
                  <a:srgbClr val="FA913B"/>
                </a:solidFill>
                <a:latin typeface="Segoe UI"/>
                <a:cs typeface="Segoe UI"/>
              </a:rPr>
              <a:t>4</a:t>
            </a:r>
            <a:r>
              <a:rPr sz="4000" b="1" spc="-5" dirty="0">
                <a:solidFill>
                  <a:srgbClr val="FA913B"/>
                </a:solidFill>
                <a:latin typeface="Segoe UI"/>
                <a:cs typeface="Segoe UI"/>
              </a:rPr>
              <a:t> </a:t>
            </a:r>
            <a:r>
              <a:rPr sz="4000" b="1" spc="-10" dirty="0">
                <a:solidFill>
                  <a:srgbClr val="FA913B"/>
                </a:solidFill>
                <a:latin typeface="Segoe UI"/>
                <a:cs typeface="Segoe UI"/>
              </a:rPr>
              <a:t>платформы</a:t>
            </a:r>
            <a:endParaRPr sz="4000">
              <a:latin typeface="Segoe UI"/>
              <a:cs typeface="Segoe UI"/>
            </a:endParaRPr>
          </a:p>
          <a:p>
            <a:pPr marL="635" algn="ctr">
              <a:lnSpc>
                <a:spcPct val="100000"/>
              </a:lnSpc>
              <a:spcBef>
                <a:spcPts val="1010"/>
              </a:spcBef>
            </a:pPr>
            <a:r>
              <a:rPr sz="2200" dirty="0">
                <a:solidFill>
                  <a:srgbClr val="D0D4DA"/>
                </a:solidFill>
                <a:latin typeface="Segoe UI"/>
                <a:cs typeface="Segoe UI"/>
              </a:rPr>
              <a:t>один</a:t>
            </a:r>
            <a:r>
              <a:rPr sz="2200" spc="-35" dirty="0">
                <a:solidFill>
                  <a:srgbClr val="D0D4DA"/>
                </a:solidFill>
                <a:latin typeface="Segoe UI"/>
                <a:cs typeface="Segoe UI"/>
              </a:rPr>
              <a:t> </a:t>
            </a:r>
            <a:r>
              <a:rPr sz="2200" spc="-10" dirty="0">
                <a:solidFill>
                  <a:srgbClr val="D0D4DA"/>
                </a:solidFill>
                <a:latin typeface="Segoe UI"/>
                <a:cs typeface="Segoe UI"/>
              </a:rPr>
              <a:t>результат</a:t>
            </a:r>
            <a:endParaRPr sz="2200">
              <a:latin typeface="Segoe UI"/>
              <a:cs typeface="Segoe U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83902" y="4988788"/>
            <a:ext cx="54229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Segoe UI"/>
                <a:cs typeface="Segoe UI"/>
              </a:rPr>
              <a:t>SAMARKAND</a:t>
            </a:r>
            <a:r>
              <a:rPr sz="2400" b="1" spc="-5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Segoe UI"/>
                <a:cs typeface="Segoe UI"/>
              </a:rPr>
              <a:t>·</a:t>
            </a:r>
            <a:r>
              <a:rPr sz="2400" b="1" spc="-4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Segoe UI"/>
                <a:cs typeface="Segoe UI"/>
              </a:rPr>
              <a:t>спасибо</a:t>
            </a:r>
            <a:r>
              <a:rPr sz="2400" b="1" spc="-5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Segoe UI"/>
                <a:cs typeface="Segoe UI"/>
              </a:rPr>
              <a:t>за</a:t>
            </a:r>
            <a:r>
              <a:rPr sz="2400" b="1" spc="-4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Segoe UI"/>
                <a:cs typeface="Segoe UI"/>
              </a:rPr>
              <a:t>внимание</a:t>
            </a:r>
            <a:endParaRPr sz="24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</TotalTime>
  <Words>1105</Words>
  <Application>Microsoft Office PowerPoint</Application>
  <PresentationFormat>Широкоэкранный</PresentationFormat>
  <Paragraphs>107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Arial</vt:lpstr>
      <vt:lpstr>Calibri</vt:lpstr>
      <vt:lpstr>Golos Text</vt:lpstr>
      <vt:lpstr>Manrope</vt:lpstr>
      <vt:lpstr>Segoe UI</vt:lpstr>
      <vt:lpstr>Office Theme</vt:lpstr>
      <vt:lpstr>Пожар виден из космоса. Мы убираем ложные тревоги и считаем площадь гари</vt:lpstr>
      <vt:lpstr>Презентация PowerPoint</vt:lpstr>
      <vt:lpstr>Где сегодня теряется время</vt:lpstr>
      <vt:lpstr>За счёт чего получили Public Score 0.8314</vt:lpstr>
      <vt:lpstr>Public Score 0.8314 против baseline 0.31</vt:lpstr>
      <vt:lpstr>Active Fire: физика + контекст вместо одного порога</vt:lpstr>
      <vt:lpstr>Одинаковый dNBR означает разную степень для разных типов покрова</vt:lpstr>
      <vt:lpstr>134 эксперимента, 7 ключевых решений</vt:lpstr>
      <vt:lpstr>Нарисовал зону — получил площади, векторы и API</vt:lpstr>
      <vt:lpstr>Воспроизводимый инференс: одна команда, 170 тестов</vt:lpstr>
      <vt:lpstr>0.8314 22 с public Score полный инференс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Пожар виден из космоса. Мы убираем ложные тревоги и считаем площадь гари</dc:title>
  <dc:creator>sl1m</dc:creator>
  <cp:lastModifiedBy>sl1m</cp:lastModifiedBy>
  <cp:revision>11</cp:revision>
  <dcterms:created xsi:type="dcterms:W3CDTF">2026-09-20T04:13:50Z</dcterms:created>
  <dcterms:modified xsi:type="dcterms:W3CDTF">2026-09-20T02:29:17Z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2026-09-19T00:00:00Z</vt:filetime>
  </property>
  <property fmtid="{D5CDD505-2E9C-101B-9397-08002B2CF9AE}" pid="4" name="Creator">
    <vt:lpwstr>Impress</vt:lpwstr>
  </property>
  <property fmtid="{D5CDD505-2E9C-101B-9397-08002B2CF9AE}" pid="5" name="Producer">
    <vt:lpwstr>LibreOffice 7.5</vt:lpwstr>
  </property>
  <property fmtid="{D5CDD505-2E9C-101B-9397-08002B2CF9AE}" pid="6" name="LastSaved">
    <vt:filetime>2026-09-19T00:00:00Z</vt:filetime>
  </property>
</Properties>
</file>