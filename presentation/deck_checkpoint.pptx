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Мусор в море виден из космоса полосами, и мы находим их и честно считаем штуки там, где их можно измерить. Мы команда SAMARKAND. Наша задача в кейсе — по снимкам Sentinel-2 найти скопления плавающего мусора, оценить, сколько там предметов, и показать это экологу так, чтобы он понимал, чему можно верить. За эти дни мы собрали три вещи. Детектор, который на отложенных сценах MARIDA отличает мусор от воды, судов и пены. Полевой счёт штук на квадратный километр с честным интервалом. И счётчик предметов на детальном фото. Главное, что мы узнали по дороге: снимок показывает, где мусор, но не сколько в нём штук. Мы проверили это на всех парах «снимок — полевой счёт», которые смогли найти, и поэтому число штук по снимку мы не выдаём за измерение. Дальше — команда, проблема и три ступени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Наша команда — пять человек: Матвей, Егор, Марк, Фёдор и Глеб. Мы делили работу на данные и поиск пар, модели, сервис и проверку. Каждое число в этой презентации взято из одного файла с источником и протоколом, и каждое решение записано до сравнения.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Спутник видит пиксель 10 м, а предмет — 2.5–50 см: прямого счёта штук по снимку не существует. Предмет в море — бутылка, пакет, обрывок сети — в сотни раз меньше пикселя Sentinel-2. В пикселе он занимает ничтожную долю, и спектр пикселя почти не меняется. Чтобы научить модель считать штуки, нужны пары: снимок и полевой счёт в то же время в том же месте. Мы прошли все 318 событий CSV организаторов: снимок рядом по времени есть у части, по метаданным остаётся 29, после масок облаков и блика — 12, а синхронных с учётом дрейфа — ноль. Отдельно мы нашли 66 пар по месту и времени в данных ADIS, но видимого сигнала мусора на снимке нет ни в одной. Это не недоработка поиска, а физика: спутник видит скопление, а не отдельный предмет. Поэтому решение устроено ступенями.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ступени: спутник находит зоны, поле даёт штуки на квадратный километр, детальное фото считает предметы. Первая ступень — детектор на спектрах Sentinel-2: он отвечает, где и когда есть полоса мусора; на отложенном тесте MARIDA у него F1 0.871. Вторая — полевой счёт: люди с судна считают предметы на полосе известной ширины, и мы делим число предметов на площадь; по отложенному рейсу это 53.9 штуки на квадратный километр с честным интервалом. Третья — детальное фото, где предмет виден целиком: модель считает предметы с ошибкой 0.59 штуки на кадр. У каждой ступени своя единица и своя проверка. Между ступенями мост возможен только через пары, а их нет, поэтому мы не переводим площадь полосы на снимке в штуки и прямо пишем это в интерфейсе.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LightGBM на спектрах бьёт U-Net и индекс FDI на отложенном тесте MARIDA. Мы сравнили четыре подхода на одних и тех же сценах, которые модель не видела при обучении и подборе порога. Градиентный бустинг по спектральным признакам даёт F1 0.871, случайный лес — 0.771, U-Net — 0.501, а классический индекс плавающего мусора FDI с порогом — 0.042. Почему бустинг, а не нейросеть: полосы мусора узкие, в несколько пикселей, и разметки мало, поэтому признаки пикселя и его соседей работают лучше, чем свёртки. Важно, что класс MARIDA — это любой плавающий мусор, а не только пластик, и оценка детектора — не вероятность. Поэтому в сервисе мы пишем «оценка детектора» и «плавающий материал», а не «пластик». Порог детектора мы выбирали только на валидационных сценах, а тест открыли один раз. Интервал F1 посчитан бутстрепом по сценам, поэтому он учитывает, что сцены сильно отличаются друг от друга.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отложенной сцене 14 находок совпали с полосами, проверенными людьми. Это сцена 30SXE у Альборана за 11.03.2021; модель её не видела. Детектор выделил 23 зон, и 14 из них совпадают с нитями мусора, которые авторы Cózar 2024 разметили вручную. Всего мы обработали 286 зон на сценах и оставили 77 находок: остальные отсеяны фильтрами судов и кильватера, пены, блика, облаков, или там ветер сильнее 5 метров в секунду, когда мусор уходит под воду и снимок не информативен. Каждая зона получает один из четырёх статусов: обнаружено, не обнаружено, недостаточно данных, анализ невозможен. Статус «подтверждено» ставит только человек. На снимке справа видны контуры зон поверх нитей мусора. Сцена не входила в обучение MARIDA, поэтому совпадения с ручной разметкой — независимая проверка, а не повторение обучающих данных. Совпадение с разметкой мы показываем в карточке отдельной строкой «Подтверждение», а не смешиваем со статусом. Если независимой разметки нет, карточка так и пишет.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отличаем мусор от судов, пены, бликов, облаков и берега. На этом слайде пять примеров прямо из сервиса, раздел «Проверка качества»: полоса, найденная верно; пропуск, когда детектор отметил только малую часть нити; судно с кильватером, которое спектрально похоже на мусор; пена, которую поймал фильтр; и снимок, где анализ невозможен из-за низкого солнца. Всего на тесте 75 ложных пикселей, и 64 процентов из них — суда и природная органика. Поэтому после детектора стоят фильтры: маска судов и кильватера, маска пены, блика и облаков по SCL, ветер по ERA5. Если снимок закрыт облаками или на нём блик, зона получает статус «анализ невозможен», а не «чисто». Это важно для эколога: отсутствие находки на плохом снимке ничего не говорит о воде. Для каждой причины ошибки у нас есть отдельный признак, который эколог видит в карточке: что исключено и что не проверяется. Например, водоросли и мутные речные шлейфы детектор не отличает надёжно, и мы пишем об этом прямо.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 полевым данным 53.9 штуки на квадратный километр, а на отложенном тесте простая медиана лучше модели, и мы показываем медиану. Считаем так: наблюдатели с судна считают предметы на полосе известной ширины; число предметов делим на площадь полосы. Интервал от 39.7 до 70.4 — бутстреп по дням рейса; он учитывает, что дни сильно отличаются друг от друга, и потому шире, чем интервал только по ошибке счёта. Мы пробовали предсказывать концентрацию моделью по месту и времени: на отложенном рейсе у модели средняя ошибка 30.0, а у медианы 25.2. Правило было записано заранее: модель берём, только если она лучше медианы. Она не лучше — значит, честный ответ сервиса по полю — медиана с интервалом. Поле — это не снимок. Полевое число мы показываем в отдельном слое «Полевые измерения», а в карточке спутниковой зоны пишем только расстояние до ближайшего полевого измерения, не выдавая чужое число за плотность этой зоны.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проверили связку снимок — штуки на всех найденных парах, и посчитанные предметы спутнику не видны. Главный источник — ADIS: 21 444 отрезков наблюдений с судов; из них 66 совпадают со снимком по месту и времени. В 6 таких парах в поле есть предметы, и ни в одной детектор не сработал на полосе наблюдения. Мы проверили итальянские трансекты ISPRA и нашли одну пару по месту и дню — ER604; на карте видно, что предметы, посчитанные людьми, не лежат рядом с пикселями, где сработал детектор. Проверили искусственные мишени проекта PLP: детектор видит пиксель, только когда мишень закрывает заметную долю пикселя. Вывод: одиночные предметы, которые считают люди, спутнику не видны, а плотные нити, которые видит спутник, никто не считал поштучно. Поэтому число штук по снимку в сервисе — только исследовательский сценарий с оговорками.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детальном фото модель считает предметы с ошибкой 0.59 штуки на кадр и определяет материал. Это третья ступень: фото с воды или с дрона, где предмет виден целиком. Мы обучили детектор объектов на открытом наборе FML и разбили его по сессиям съёмки, чтобы соседние кадры одной съёмки не попали и в обучение, и в тест. На отложенных кадрах ошибка счёта 0.59 предмета, а у бейзлайна «всегда медиана» — 2.86. На аэрофото берега Winans, где известна площадь кадра, наша ошибка 1.85 штуки против 2.29 у открытого DebrisScan, и правило замены было записано до сравнения. Материал модель называет по классам, но число по классам мы показываем только там, где есть разметка и матрица ошибок. Штуки на квадратный километр по фото мы считаем только там, где известна площадь кадра, как у Winans. Для кадров без площади единица — штуки на кадр. И это не спутник: Sentinel-2 так не считает.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Эколог сразу видит, что найдено, где, когда и насколько этому верить. Путь такой: глобус с районами, клик по району — сцена с контурами зон, клик по зоне — карточка. Первая строка карточки — что это: плавающий материал по классу MARIDA, пластик не подтверждён. Дальше статус — один из четырёх по постановке, и отдельной строкой подтверждение: совпадает ли зона с независимой разметкой. В блоке количества прямо написано: количество предметов по этому снимку не определено, а исследовательский сценарий свёрнут и подписан оговорками. Рядом — ближайшее полевое измерение, но не как плотность этой зоны. Всё, что отфильтровано, выгружается в GeoJSON и CSV, а запрос можно сохранить и повторить. Если источник данных недоступен, сервис пишет «данные недоступны», а не «ноль зон». Находки на снимках из обучения помечены и не считаются. Так эколог отличает отсутствие мусора от отсутствия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Одна команда воспроизводит все числа из чистой копии. Мы клонировали репозиторий на чистую машину: от клона до открытой карты и пересчитанных чисел — 7,5 минуты. В проекте 255 автотестов; отдельные тесты сверяют каждое число в документах и этой презентации с единым файлом итоговых чисел, где у каждого числа есть источник и протокол. Веса моделей лежат в репозитории, поэтому ничего не нужно обучать заново. Правила выбора моделей мы записывали до сравнения: например, модель поля берётся, только если она лучше медианы на отложенном рейсе. Это защищает от подгонки под тест. Файл итоговых чисел пересобирается одной командой после любого пересчёта, и документы с этой презентацией собираются из него скриптом. Если число в тексте разойдётся с файлом, тест упадёт. Поэтому то, что вы видите на слайдах, совпадает с тем, что считает код.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числа, которые стоит запомнить. Детектор находит полосы мусора с F1 0.871 на отложенном тесте. Поле даёт 53.9 штуки на квадратный километр с честным интервалом. И 66 пар «снимок — поле» мы проверили и показали, почему штуки по снимку пока не измеряются. Всего за эти дни мы проверили 71 гипотезу и эксперименты, и каждое решение записано до сравнения. Спасибо, готовы к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Приложение. Каждый слайд — одна гипотеза, как мы её проверили, число и решение.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 событий CSV организаторов синхронных пар «снимок → поле» — ноль. Гипотеза: среди событий CSV есть пары снимка и полевого счёта для обучения. Как проверили: для каждого события искали снимок S2/Landsat, отбирали по времени и облачности, маскам качества и дрейфу. Решение: пары из CSV не используем для перевода снимка в штуки; ищем другие источники.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каждой пары — уровень доказательности и маски качества. Гипотеза: отобранные по метаданным пары пригодны без проверки облаков и блика. Как проверили: маски SCL и блика в полосе обследования; отбраковано по блику 10, по облакам 6. Решение: реестр пар хранит уровень A–D и причину отказа для каждой строки.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ADIS: 66 пар по месту и времени, видимого сигнала — 0. Гипотеза: в пересечениях маршрутов ADIS со снимками детектор увидит посчитанные предметы. Как проверили: 21 444 отрезков ADIS сопоставлены со снимками в окне по времени; полоса наблюдения против пикселей детектора. Решение: пары ADIS — «по месту и времени», не калибровочные; доля покрытия пикселя 6.6·10⁻⁸ объясняет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Окна Cózar 2024 — только для проверки, не для обучения. Гипотеза: ручная разметка нитей Cózar 2024 годится как независимая проверка детектора. Как проверили: сопоставили находки с 14 374 окнами разметки; на демо-сцене — совпадения по зонам. Решение: используем только как «подтверждение» в карточке, в обучение не берём.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MARIDA: утечек между обучением и тестом нет. Гипотеза: одни и те же сцены или дубликаты могут попасть в обучение и тест. Как проверили: сверка по сценам, датам и содержимому; проверено 119 пар, исключено дубликатов 1. Решение: находку на снимке обучения MARIDA помечаем и не считаем находкой.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Детектор v2: 13 вариантов с новыми данными — ни один не прошёл правило. Гипотеза: новые размеченные данные (PLP, Floating Objects, суда) улучшат детектор. Как проверили: 13 вариантов × 3 seed против контрольного; правило записано до экспериментов. Решение: в сервисе остаётся прежний LightGBM.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U-Net проигрывает бустингу на узких полосах. Гипотеза: свёрточная сеть лучше признаков пикселя. Как проверили: U-Net на тех же сценах и том же пороговом протоколе; сравнение по сценам (15). Решение: U-Net — только как бейзлайн.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Слой нефти MADOS — только эксперимент. Гипотеза: голова для нефтяных пятен даст полезный слой. Как проверили: обучили на MADOS, проверили на отложенном тесте и на реальных L2A (Wakashio). Решение: на реальных сценах ложные срабатывания — слой выключен по умолчанию.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 ветре ≥ 5 м/с снимок не информативен. Гипотеза: детектор одинаково работает при любом ветре. Как проверили: ветер ERA5 для каждой зоны; правило из методики Cózar 2024. Решение: зоны с сильным ветром — «недостаточно данных», в знаменатель «обследовано» не входят.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Интервал поля: пуассоновский слишком узкий, бутстреп по дням — честный. Гипотеза: ошибка счёта (Пуассон) описывает неопределённость концентрации. Как проверили: сравнили охват отложенного рейса: пуассоновский интервал и кластерный бутстреп по дням рейса. Решение: показываем бутстреп; пуассоновский — только с подписью «только ошибка счёта».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Прогноз ADIS: модели не лучше медианы профиля. Гипотеза: модель по месту и времени предскажет концентрацию ADIS. Как проверили: кандидаты B1, M1, M2 против медианы на отложенных отрезках, правило на val. Решение: показываем медиану профиля.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Калибровка по ячейкам сетки — отказ. Гипотеза: климатология поля по ячейкам свяжется с сигналом снимков. Как проверили: 123 ячеек; ранговая корреляция с доверительным интервалом по дням судна. Решение: калибровки по ячейкам нет; в одном периоде общих дат поле × спутник — ноль.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Физика разрешения: при пикселе Sentinel-2 предметы поштучно не считаемы. Гипотеза: при достаточной модели штуки можно считать по пикселю Sentinel-2. Как проверили: распределение размеров предметов против размера пикселя разных спутников. Решение: на Sentinel-2 — только зоны скоплений; штуки — поле и детальное фото.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Снимков сверхвысокого разрешения в день наблюдений ADIS нет. Гипотеза: для пар ADIS найдутся снимки VHR, где предмет виден. Как проверили: поиск в открытых каталогах по отрезкам ADIS в тот же день. Решение: VHR — в плане развития (запросы операторам).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Искусственные мишени PLP: спектр пикселя не переводится в долю покрытия. Гипотеза: по спектру пикселя можно восстановить долю площади под пластиком. Как проверили: 63 пикселей мишеней, 5 дат; проверка с отложенной датой. Решение: перевод «спектр → покрытие» не подтверждён; сценарий по мишеням — только исследовательский.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Синтетические пары — отклонены. Гипотеза: синтетика (вставка предметов в снимок) заменит настоящие пары. Как проверили: проверка переносимости синтетики на природные сцены. Решение: не принята: на 11 датах мишеней A* (оставь-одну-дату) MAE 893.5 против 100.9 у плоской калибровки и 113.5 у ответа «0».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Оценщик «снимок → штуки»: плоская калибровка хуже ответа «0». Гипотеза: простая калибровка площади маски в штуки даёт полезную оценку. Как проверили: лидерборд методов на парах по месту и времени, общий протокол и метрика. Решение: в карточке — «количество не определено», сценарий свёрнут с оговорками.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ISPRA: все трансекты разобраны одним скриптом, пара по месту и дню — одна. Гипотеза: итальянские трансекты MSFD дадут пары со снимком. Как проверили: поиск снимков под каждую трансекту, маски, уровни A/C/D. Решение: ER604 — пара по месту и дню, не калибровочная: ни один предмет не рядом с пикселем детектора.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PLASTIC MONITOR: квадрат 1 м² не равен пикселю. Гипотеза: фото-учёт PLASTIC MONITOR даст пары со снимком. Как проверили: сопоставление площадки учёта с пикселем и пятном на снимке. Решение: уровень C: единица наблюдения несовместима с пикселем.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Архивы и приложения статей: кандидаты есть, пар нет. Гипотеза: в приложениях к статьям лежат пары «снимок — счёт». Как проверили: разбор архивов и приложений: координаты, время, площадь, счёт. Решение: запросы авторам — в плане развития.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FML: разбиение по сессиям съёмки убирает утечку соседних кадров. Гипотеза: случайное разбиение кадров честно оценивает счётчик. Как проверили: сравнили случайное разбиение и разбиение по сессиям съёмки. Решение: публикуем только метрику по сессиям.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Winans: плотность на кадре берега — при известной площади. Гипотеза: счётчик по фото даёт шт. на площадь, если известна площадь кадра. Как проверили: пространственное разбиение, 397 тестовых кадров по 164 м². Решение: подпись «шт. на кадр берега»; берег ≠ вода, Sentinel-2 так не считает.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Перенос счётчика на реку и дрон — не работает без дообучения. Гипотеза: счётчик FML переносится на другие съёмки. Как проверили: проверка на кадрах реки и дрона другого источника. Решение: без дообучения не переносится: AP50 0.914 на отложенном FML против дрон Maharjan 2022 0.01, камера над каналом TUD-GV 0.406, камера над рекой The Ocean Cleanup 0.001.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Материал на фото — только с матрицей ошибок. Гипотеза: модель различает материалы предметов на фото. Как проверили: матрица ошибок по классам материала на отложенном источнике. Решение: число по классам — только при разметке и матрице ошибок; иначе «состав не определён».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Внутренняя проверка глазами «жюри-человека» меняет подписи и статусы. Гипотеза: интерфейс и дека понятны без объяснений. Как проверили: независимый проверяющий внутри команды листает сервис и деку по чек-листу ТЗ и записывает, что понял неверно. Решение: подписи «оценка детектора», «пластик не подтверждён», статусы по постановке, «количество не определено».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Сколько гипотез мы проверили. Гипотеза: итог — это отбор из многих проверенных идей, а не первая удачная. Как проверили: подсчёт по журналу и конвейеру: гипотезы, эксперименты, решения. Решение: каждое решение записано до сравнения.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нужно для настоящих пар «снимок → штуки». Гипотеза: связка возможна, если считать предметы там, где их видит спутник. Как проверили: по итогам всех проверок: какие данные закрывают разрыв. Решение: запросы авторам полевых данных, VHR в день наблюдений, дроны над нитями, которые видит Sentinel-2.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itle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1417320"/>
            <a:ext cx="10515600" cy="2194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Segoe UI"/>
              </a:rPr>
              <a:t>Мусор в море виден из космоса полосами. Мы находим их и честно считаем штуки там, где их можно измерить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4069080"/>
            <a:ext cx="100584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E4E6EA"/>
                </a:solidFill>
                <a:latin typeface="Segoe UI"/>
              </a:rPr>
              <a:t>Команда SAMARKAND · РТУ МИРЭА · КосмоХакатон · кейс «Морской мусор»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" y="5852160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D0D4DA"/>
                </a:solidFill>
                <a:latin typeface="Segoe UI"/>
              </a:rPr>
              <a:t>Кашин Г., Закон М., Панин М., Ожигов Е., Ведерников Ф.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E2836"/>
                </a:solidFill>
                <a:latin typeface="Segoe UI"/>
              </a:rPr>
              <a:t>Наша команда</a:t>
            </a:r>
          </a:p>
        </p:txBody>
      </p:sp>
      <p:pic>
        <p:nvPicPr>
          <p:cNvPr id="3" name="Picture 2" descr="team_r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71028"/>
            <a:ext cx="11247120" cy="359026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9224" y="580644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Кашин Г. · Закон М. · Панин М. · Ожигов Е. · Ведерников Ф.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Спутник видит пиксель 10 м, а предмет — 2.5–50 см: прямого счёта штук по снимку не существует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318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событий в полевом CSV организаторов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0 %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51104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предметов считаемы поштучно при пикселе 10 м</a:t>
            </a:r>
          </a:p>
        </p:txBody>
      </p:sp>
      <p:pic>
        <p:nvPicPr>
          <p:cNvPr id="7" name="Picture 6" descr="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1139" y="1737360"/>
            <a:ext cx="6019800" cy="3611880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5440680"/>
            <a:ext cx="6400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Воронка по событиям CSV: 318 → снимок рядом по времени → отбор по метаданным 29 → маски качества 12 → синхронны при дрейфе 0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Независимо: ADIS 21 444 отрезков → 66 пар по месту и времени → видимый сигнал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5349240"/>
            <a:ext cx="429768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836"/>
                </a:solidFill>
                <a:latin typeface="Segoe UI"/>
              </a:rPr>
              <a:t>Поэтому считаем штуки там, где их можно измерить, — в поле и на детальном фото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Три ступени: спутник находит зоны, поле даёт шт./км², детальное фото считает предметы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352800" cy="76199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C1400B"/>
                </a:solidFill>
                <a:latin typeface="Segoe UI"/>
              </a:rPr>
              <a:t>F1 0.871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575560"/>
            <a:ext cx="3352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детектор зон на снимке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76344" y="1783080"/>
            <a:ext cx="335280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53.9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03776" y="2773680"/>
            <a:ext cx="3352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шт./км² по полевому счёту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3464" y="1783080"/>
            <a:ext cx="335280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0.59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30896" y="2773680"/>
            <a:ext cx="3352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шт. на кадр — ошибка счётчика по фото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3931920"/>
            <a:ext cx="10881360" cy="1371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Спутник Sentinel-2: где и когда есть полоса мусора (оценка детектора, не вероятность)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Поле: предметы, посчитанные с судна, делённые на обследованную площадь (C = N / A)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Детальное фото с воды или дрона: число предметов на кадре и материал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" y="5422392"/>
            <a:ext cx="10881360" cy="19050"/>
          </a:xfrm>
          <a:prstGeom prst="rect">
            <a:avLst/>
          </a:prstGeom>
          <a:solidFill>
            <a:srgbClr val="A7AD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5532120"/>
            <a:ext cx="1088136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E2836"/>
                </a:solidFill>
                <a:latin typeface="Segoe UI"/>
              </a:rPr>
              <a:t>Каждая ступень проверена на своём отложенном тесте; переход между ступенями без пар не заявляем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LightGBM на спектрах бьёт U-Net и индекс FDI на отложенном тесте MARIDA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023360" cy="76199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C1400B"/>
                </a:solidFill>
                <a:latin typeface="Segoe UI"/>
              </a:rPr>
              <a:t>F1 0.871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529840"/>
            <a:ext cx="4023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95 % ДИ [0.823; 0.920]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910638"/>
            <a:ext cx="2011679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836"/>
                </a:solidFill>
                <a:latin typeface="Segoe UI"/>
              </a:rPr>
              <a:t>LightGBM (наш)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0" y="1938985"/>
            <a:ext cx="3383279" cy="396849"/>
          </a:xfrm>
          <a:prstGeom prst="rect">
            <a:avLst/>
          </a:prstGeom>
          <a:solidFill>
            <a:srgbClr val="C14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0" y="1910638"/>
            <a:ext cx="914400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1400B"/>
                </a:solidFill>
                <a:latin typeface="Segoe UI"/>
              </a:rPr>
              <a:t>0.871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2619298"/>
            <a:ext cx="2011679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Random Forest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0" y="2647645"/>
            <a:ext cx="2994843" cy="396849"/>
          </a:xfrm>
          <a:prstGeom prst="rect">
            <a:avLst/>
          </a:prstGeom>
          <a:solidFill>
            <a:srgbClr val="B9BE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18603" y="2619298"/>
            <a:ext cx="914400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A5462"/>
                </a:solidFill>
                <a:latin typeface="Segoe UI"/>
              </a:rPr>
              <a:t>0.771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327958"/>
            <a:ext cx="2011679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U-Net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356305"/>
            <a:ext cx="1946065" cy="396849"/>
          </a:xfrm>
          <a:prstGeom prst="rect">
            <a:avLst/>
          </a:prstGeom>
          <a:solidFill>
            <a:srgbClr val="B9BE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69825" y="3327958"/>
            <a:ext cx="914400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A5462"/>
                </a:solidFill>
                <a:latin typeface="Segoe UI"/>
              </a:rPr>
              <a:t>0.501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4036618"/>
            <a:ext cx="2011679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Индекс FDI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0" y="4064965"/>
            <a:ext cx="163143" cy="396849"/>
          </a:xfrm>
          <a:prstGeom prst="rect">
            <a:avLst/>
          </a:prstGeom>
          <a:solidFill>
            <a:srgbClr val="B9BE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86903" y="4036618"/>
            <a:ext cx="914400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A5462"/>
                </a:solidFill>
                <a:latin typeface="Segoe UI"/>
              </a:rPr>
              <a:t>0.042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4800600"/>
            <a:ext cx="6492240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Отложенный тест: 15 сцен, пиксели класса «мусор» по разметке MARIDA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Лучше U-Net на 13 из 15 сцен; порог выбран только на val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Класс MARIDA Marine Debris — любой плавающий мусор, не только пластик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На отложенной сцене 14 находок совпали с полосами, проверенными людьми (Cózar 2024)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из 23 зон сцены 30SXE совпали с разметкой Cózar 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51104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находок из 286 обработанных зон</a:t>
            </a:r>
          </a:p>
        </p:txBody>
      </p:sp>
      <p:pic>
        <p:nvPicPr>
          <p:cNvPr id="7" name="Picture 6" descr="scene_zo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4343" y="1737360"/>
            <a:ext cx="4413392" cy="4206240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6035040"/>
            <a:ext cx="64008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Сцена 30SXE, 11.03.2021: не из обучения MARIDA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Зоны с судами и кильватером, пеной, бликом, облаками отфильтрованы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Ветер ≥ 5 м/с — «недостаточно данных» (правило Cózar 2024)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Мы отличаем мусор от судов, пены, бликов, облаков и берега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75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ложных пикселей на отложенном тесте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64 %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51104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из них — суда и органика</a:t>
            </a:r>
          </a:p>
        </p:txBody>
      </p:sp>
      <p:pic>
        <p:nvPicPr>
          <p:cNvPr id="7" name="Picture 6" descr="defe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137" y="1737360"/>
            <a:ext cx="5103805" cy="4206240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6035040"/>
            <a:ext cx="64008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Пять примеров из сервиса («Проверка качества»): верно · пропуск · судно · пена · «анализ невозможен»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E2836"/>
                </a:solidFill>
                <a:latin typeface="Segoe UI"/>
              </a:rPr>
              <a:t>По полевым данным 53.9 шт./км² [39.7–70.4]; на отложенном тесте простая медиана лучше модели — показываем её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02336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53.9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26080"/>
            <a:ext cx="4023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шт./км², 95 % [39.7–70.4] бутстреп по дням рейса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783080"/>
            <a:ext cx="649224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MAE на отложенном рейсе, шт./км² (меньше — лучше)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2338578"/>
            <a:ext cx="2011679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836"/>
                </a:solidFill>
                <a:latin typeface="Segoe UI"/>
              </a:rPr>
              <a:t>Медиана (показываем)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2370582"/>
            <a:ext cx="2841955" cy="448056"/>
          </a:xfrm>
          <a:prstGeom prst="rect">
            <a:avLst/>
          </a:prstGeom>
          <a:solidFill>
            <a:srgbClr val="C14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65715" y="2338578"/>
            <a:ext cx="914400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1400B"/>
                </a:solidFill>
                <a:latin typeface="Segoe UI"/>
              </a:rPr>
              <a:t>25.2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3138678"/>
            <a:ext cx="2011679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Модель ridge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3170682"/>
            <a:ext cx="3383279" cy="448056"/>
          </a:xfrm>
          <a:prstGeom prst="rect">
            <a:avLst/>
          </a:prstGeom>
          <a:solidFill>
            <a:srgbClr val="B9BE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0" y="3138678"/>
            <a:ext cx="914400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A5462"/>
                </a:solidFill>
                <a:latin typeface="Segoe UI"/>
              </a:rPr>
              <a:t>30.0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4114800"/>
            <a:ext cx="6492240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C = N / A: 697 предметов на 12.94 км² полосы обследования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Это полевое измерение, не снимок; в карточке зоны — «ближайшее полевое измерение»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Мы проверили связку снимок → штуки на всех найденных парах — посчитанные предметы спутнику не видны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66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пар ADIS по месту и времени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51104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пар с видимым сигналом на снимке</a:t>
            </a:r>
          </a:p>
        </p:txBody>
      </p:sp>
      <p:pic>
        <p:nvPicPr>
          <p:cNvPr id="7" name="Picture 6" descr="ispra_er604_201909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951061"/>
            <a:ext cx="6400799" cy="3184477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5440680"/>
            <a:ext cx="6400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ADIS: 21 444 отрезков → 66 пар; в 6 с предметами детектор сработал в 0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ISPRA: 167 трансект обработаны одним скриптом; на ER604 ни один предмет не ближе к пикселю детектора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Искусственные мишени: 19 дат со счётом — детектор видит пиксель только при большом покрытии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5349240"/>
            <a:ext cx="429768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836"/>
                </a:solidFill>
                <a:latin typeface="Segoe UI"/>
              </a:rPr>
              <a:t>Число штук по снимку — только исследовательский сценарий, не измерение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На детальном фото модель считает предметы с ошибкой 0.59 шт. на кадр и определяет материал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0.59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шт./кадр — ошибка на FML (медиана-бейзлайн 2.86)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1.85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51104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шт. на 164 м² кадра берега — Winans; DebrisScan 2.29</a:t>
            </a:r>
          </a:p>
        </p:txBody>
      </p:sp>
      <p:pic>
        <p:nvPicPr>
          <p:cNvPr id="7" name="Picture 6" descr="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041133"/>
            <a:ext cx="6400800" cy="3598692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6035040"/>
            <a:ext cx="64008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FML: 1 190 кадров, разбиение по сессиям съёмки; AP50 0.914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Фото с воды или дрона, не спутник; шт./км² — только где известна площадь кадра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Эколог сразу видит, что найдено, где, когда и насколько этому верить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статуса зоны по постановке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571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C1400B"/>
                </a:solidFill>
                <a:latin typeface="Segoe UI"/>
              </a:rPr>
              <a:t>GeoJSON · 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11480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выгрузка того, что отфильтровано</a:t>
            </a:r>
          </a:p>
        </p:txBody>
      </p:sp>
      <p:pic>
        <p:nvPicPr>
          <p:cNvPr id="7" name="Picture 6" descr="c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041133"/>
            <a:ext cx="6400800" cy="3598692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6035040"/>
            <a:ext cx="64008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Карточка: «Что это» · статус · подтверждение · «Количество предметов по этому снимку не определено»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Земля → сцена → зона → студия запросов → назад к карте; сохранённые запросы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Одна команда воспроизводит все числа из чистой копии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5166360" cy="104774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600" b="1">
                <a:solidFill>
                  <a:srgbClr val="C1400B"/>
                </a:solidFill>
                <a:latin typeface="Segoe UI"/>
              </a:rPr>
              <a:t>7,5 мин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872740"/>
            <a:ext cx="5166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чистый клон → карта и числа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9904" y="1783080"/>
            <a:ext cx="516636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255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17336" y="2971800"/>
            <a:ext cx="5166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автотестов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3931920"/>
            <a:ext cx="10881360" cy="1371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Установка 3 мин 17 с, карта открывается за 8,1 с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Веса моделей в репозитории; все числа — reports/final_numbers.json с источником и протоколом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Правила принятия решений записаны до сравнения (детектор, поле, счётчик)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" y="5422392"/>
            <a:ext cx="10881360" cy="19050"/>
          </a:xfrm>
          <a:prstGeom prst="rect">
            <a:avLst/>
          </a:prstGeom>
          <a:solidFill>
            <a:srgbClr val="A7AD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5532120"/>
            <a:ext cx="1088136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E2836"/>
                </a:solidFill>
                <a:latin typeface="Segoe UI"/>
              </a:rPr>
              <a:t>Любое число в презентации можно проверить по файлу и команде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2103120"/>
            <a:ext cx="3444240" cy="1270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8000" b="1">
                <a:solidFill>
                  <a:srgbClr val="FA913B"/>
                </a:solidFill>
                <a:latin typeface="Segoe UI"/>
              </a:rPr>
              <a:t>0.871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656" y="3423920"/>
            <a:ext cx="3444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D0D4DA"/>
                </a:solidFill>
                <a:latin typeface="Segoe UI"/>
              </a:rPr>
              <a:t>F1 детектора на отложенном тесте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76344" y="2103120"/>
            <a:ext cx="3444240" cy="1270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8000" b="1">
                <a:solidFill>
                  <a:srgbClr val="FA913B"/>
                </a:solidFill>
                <a:latin typeface="Segoe UI"/>
              </a:rPr>
              <a:t>53.9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03776" y="3423920"/>
            <a:ext cx="3444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D0D4DA"/>
                </a:solidFill>
                <a:latin typeface="Segoe UI"/>
              </a:rPr>
              <a:t>шт./км² по полю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3464" y="2103120"/>
            <a:ext cx="3444240" cy="1270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8000" b="1">
                <a:solidFill>
                  <a:srgbClr val="FA913B"/>
                </a:solidFill>
                <a:latin typeface="Segoe UI"/>
              </a:rPr>
              <a:t>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30896" y="3423920"/>
            <a:ext cx="3444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D0D4DA"/>
                </a:solidFill>
                <a:latin typeface="Segoe UI"/>
              </a:rPr>
              <a:t>проверенных гипотез и экспериментов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5029200"/>
            <a:ext cx="1088136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SAMARKAND · спасибо за внимание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2194560"/>
            <a:ext cx="105156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Segoe UI"/>
              </a:rPr>
              <a:t>Приложение. Исследование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3383280"/>
            <a:ext cx="1005840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D0D4DA"/>
                </a:solidFill>
                <a:latin typeface="Segoe UI"/>
              </a:rPr>
              <a:t>Каждый слайд — одна проверенная гипотеза: гипотеза → как проверили → результат → решение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3246120"/>
            <a:ext cx="2743200" cy="19050"/>
          </a:xfrm>
          <a:prstGeom prst="rect">
            <a:avLst/>
          </a:prstGeom>
          <a:solidFill>
            <a:srgbClr val="FA9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Из событий CSV организаторов синхронных пар «снимок → поле» — ноль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5120640" cy="85725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C1400B"/>
                </a:solidFill>
                <a:latin typeface="Segoe UI"/>
              </a:rPr>
              <a:t>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628900"/>
            <a:ext cx="51206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синхронных из 318 событий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246120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349300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Среди событий CSV есть пары снимка и полевого счёта для обучения.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4221480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446836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Для каждого события искали снимок S2/Landsat, отбирали по времени и облачности, маскам качества и дрейфу.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5196839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544372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Пары из CSV не используем для перевода снимка в штуки; ищем другие источники.</a:t>
            </a:r>
          </a:p>
        </p:txBody>
      </p:sp>
      <p:pic>
        <p:nvPicPr>
          <p:cNvPr id="11" name="Picture 10" descr="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240279"/>
            <a:ext cx="5486400" cy="3291840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15 / 41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У каждой пары — уровень доказательности и маски качества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из 29 прошли маски качества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Отобранные по метаданным пары пригодны без проверки облаков и блика.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Маски SCL и блика в полосе обследования; отбраковано по блику 10, по облакам 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Реестр пар хранит уровень A–D и причину отказа для каждой строки.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16 / 41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ADIS: 66 пар по месту и времени, видимого сигнала —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5120640" cy="85725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C1400B"/>
                </a:solidFill>
                <a:latin typeface="Segoe UI"/>
              </a:rPr>
              <a:t>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628900"/>
            <a:ext cx="51206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срабатываний в 6 парах с предметами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246120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349300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В пересечениях маршрутов ADIS со снимками детектор увидит посчитанные предметы.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4221480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446836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21 444 отрезков ADIS сопоставлены со снимками в окне по времени; полоса наблюдения против пикселей детектора.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5196839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544372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Пары ADIS — «по месту и времени», не калибровочные; доля покрытия пикселя 6.6·10⁻⁸ объясняет результат.</a:t>
            </a:r>
          </a:p>
        </p:txBody>
      </p:sp>
      <p:pic>
        <p:nvPicPr>
          <p:cNvPr id="11" name="Picture 10" descr="search_adis_pai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3205543"/>
            <a:ext cx="5486400" cy="1361313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17 / 41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Окна Cózar 2024 — только для проверки, не для обучения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14 374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окон разметки Cózar 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Ручная разметка нитей Cózar 2024 годится как независимая проверка детектора.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Сопоставили находки с 14 374 окнами разметки; на демо-сцене — совпадения по зонам.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Используем только как «подтверждение» в карточке, в обучение не берём.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18 / 41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MARIDA: утечек между обучением и тестом нет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пересечений train/test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Одни и те же сцены или дубликаты могут попасть в обучение и тест.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Сверка по сценам, датам и содержимому; проверено 119 пар, исключено дубликатов 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Находку на снимке обучения MARIDA помечаем и не считаем находкой.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19 / 41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Детектор v2: 13 вариантов с новыми данными — ни один не прошёл правило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принято из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Новые размеченные данные (PLP, Floating Objects, суда) улучшат детектор.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13 вариантов × 3 seed против контрольного; правило записано до экспериментов.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В сервисе остаётся прежний LightGBM.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20 / 41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U-Net проигрывает бустингу на узких полосах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0.501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F1 U-Net против 0.871 у LightGBM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Свёрточная сеть лучше признаков пикселя.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U-Net на тех же сценах и том же пороговом протоколе; сравнение по сценам (15).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U-Net — только как бейзлайн.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21 / 41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Слой нефти MADOS — только эксперимент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0.733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F1 на тесте MADOS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Голова для нефтяных пятен даст полезный слой.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Обучили на MADOS, проверили на отложенном тесте и на реальных L2A (Wakashio).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На реальных сценах ложные срабатывания — слой выключен по умолчанию.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22 / 41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При ветре ≥ 5 м/с снимок не информативен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5 м/с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порог ветра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Детектор одинаково работает при любом ветре.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Ветер ERA5 для каждой зоны; правило из методики Cózar 2024.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Зоны с сильным ветром — «недостаточно данных», в знаменатель «обследовано» не входят.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23 / 41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Интервал поля: пуассоновский слишком узкий, бутстреп по дням — честный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×3.8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шире интервал бутстрепа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Ошибка счёта (Пуассон) описывает неопределённость концентрации.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Сравнили охват отложенного рейса: пуассоновский интервал и кластерный бутстреп по дням рейса.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Показываем бутстреп; пуассоновский — только с подписью «только ошибка счёта».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24 / 41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Прогноз ADIS: модели не лучше медианы профиля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1.27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MAE медианы; лучший кандидат 1.28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Модель по месту и времени предскажет концентрацию ADIS.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Кандидаты B1, M1, M2 против медианы на отложенных отрезках, правило на val.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Показываем медиану профиля.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25 / 41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Калибровка по ячейкам сетки — отказ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0.18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ρ — связь слабая, интервал задевает ноль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Климатология поля по ячейкам свяжется с сигналом снимков.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123 ячеек; ранговая корреляция с доверительным интервалом по дням судна.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Калибровки по ячейкам нет; в одном периоде общих дат поле × спутник — ноль.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26 / 41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Физика разрешения: при пикселе Sentinel-2 предметы поштучно не считаемы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5120640" cy="85725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C1400B"/>
                </a:solidFill>
                <a:latin typeface="Segoe UI"/>
              </a:rPr>
              <a:t>25 %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628900"/>
            <a:ext cx="51206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предметов считаемы на пикселе 0.3 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246120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349300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При достаточной модели штуки можно считать по пикселю Sentinel-2.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4221480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446836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Распределение размеров предметов против размера пикселя разных спутников.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5196839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544372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На Sentinel-2 — только зоны скоплений; штуки — поле и детальное фото.</a:t>
            </a:r>
          </a:p>
        </p:txBody>
      </p:sp>
      <p:pic>
        <p:nvPicPr>
          <p:cNvPr id="11" name="Picture 10" descr="units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961232"/>
            <a:ext cx="5486400" cy="1849935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27 / 41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Снимков сверхвысокого разрешения в день наблюдений ADIS нет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VHR-снимков в тот же день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Для пар ADIS найдутся снимки VHR, где предмет виден.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Поиск в открытых каталогах по отрезкам ADIS в тот же день.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VHR — в плане развития (запросы операторам).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28 / 41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Искусственные мишени PLP: спектр пикселя не переводится в долю покрытия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0.09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ρ FDI с долей покрытия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По спектру пикселя можно восстановить долю площади под пластиком.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63 пикселей мишеней, 5 дат; проверка с отложенной датой.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Перевод «спектр → покрытие» не подтверждён; сценарий по мишеням — только исследовательский.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29 / 41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Синтетические пары — отклонены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2057400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Синтетика (вставка предметов в снимок) заменит настоящие пары.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10896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3383279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Проверка переносимости синтетики на природные сцены.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443484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4709159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Не принята: на 11 датах мишеней A* (оставь-одну-дату) MAE 893.5 против 100.9 у плоской калибровки и 113.5 у ответа «0».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30 / 41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Оценщик «снимок → штуки»: плоская калибровка хуже ответа «0»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методов на лидерборде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Простая калибровка площади маски в штуки даёт полезную оценку.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Лидерборд методов на парах по месту и времени, общий протокол и метрика.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В карточке — «количество не определено», сценарий свёрнут с оговорками.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31 / 41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ISPRA: все трансекты разобраны одним скриптом, пара по месту и дню — одна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5120640" cy="85725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C1400B"/>
                </a:solidFill>
                <a:latin typeface="Segoe U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628900"/>
            <a:ext cx="51206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пара уровня A (ER604)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246120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349300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Итальянские трансекты MSFD дадут пары со снимком.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4221480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446836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Поиск снимков под каждую трансекту, маски, уровни A/C/D.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5196839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544372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ER604 — пара по месту и дню, не калибровочная: ни один предмет не рядом с пикселем детектора.</a:t>
            </a:r>
          </a:p>
        </p:txBody>
      </p:sp>
      <p:pic>
        <p:nvPicPr>
          <p:cNvPr id="11" name="Picture 10" descr="ispra_er604_201909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521423"/>
            <a:ext cx="5486400" cy="2729552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32 / 41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PLASTIC MONITOR: квадрат 1 м² не равен пикселю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2057400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Фото-учёт PLASTIC MONITOR даст пары со снимком.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10896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3383279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Сопоставление площадки учёта с пикселем и пятном на снимке.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443484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4709159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Уровень C: единица наблюдения несовместима с пикселем.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33 / 41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Архивы и приложения статей: кандидаты есть, пар нет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файлов разобрано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В приложениях к статьям лежат пары «снимок — счёт».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Разбор архивов и приложений: координаты, время, площадь, счёт.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Запросы авторам — в плане развития.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34 / 41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FML: разбиение по сессиям съёмки убирает утечку соседних кадров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0.59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шт./кадр на отложенных сессиях, 95 % [0.54; 0.66]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Случайное разбиение кадров честно оценивает счётчик.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Сравнили случайное разбиение и разбиение по сессиям съёмки.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Публикуем только метрику по сессиям.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35 / 41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Winans: плотность на кадре берега — при известной площади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1.85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шт. на кадр берега — ошибка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Счётчик по фото даёт шт. на площадь, если известна площадь кадра.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Пространственное разбиение, 397 тестовых кадров по 164 м².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Подпись «шт. на кадр берега»; берег ≠ вода, Sentinel-2 так не считает.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36 / 41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Перенос счётчика на реку и дрон — не работает без дообучения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2057400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Счётчик FML переносится на другие съёмки.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10896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3383279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Проверка на кадрах реки и дрона другого источника.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443484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4709159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Без дообучения не переносится: AP50 0.914 на отложенном FML против дрон Maharjan 2022 0.01, камера над каналом TUD-GV 0.406, камера над рекой The Ocean Cleanup 0.001.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37 / 41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Материал на фото — только с матрицей ошибок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0.75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macro-F1 по материалам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Модель различает материалы предметов на фото.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Матрица ошибок по классам материала на отложенном источнике.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Число по классам — только при разметке и матрице ошибок; иначе «состав не определён».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38 / 41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Внутренняя проверка глазами «жюри-человека» меняет подписи и статусы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2057400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Интерфейс и дека понятны без объяснений.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10896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3383279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Независимый проверяющий внутри команды листает сервис и деку по чек-листу ТЗ и записывает, что понял неверно.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443484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4709159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Подписи «оценка детектора», «пластик не подтверждён», статусы по постановке, «количество не определено».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39 / 41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Сколько гипотез мы проверили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проверенных гипотез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Итог — это отбор из многих проверенных идей, а не первая удачная.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Подсчёт по журналу и конвейеру: гипотезы, эксперименты, решения.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Каждое решение записано до сравнения.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40 / 41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Что нужно для настоящих пар «снимок → штуки»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калибровочных пар сейчас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Связка возможна, если считать предметы там, где их видит спутник.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По итогам всех проверок: какие данные закрывают разрыв.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Запросы авторам полевых данных, VHR в день наблюдений, дроны над нитями, которые видит Sentinel-2.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41 / 41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