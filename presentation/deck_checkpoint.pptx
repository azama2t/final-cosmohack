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Мусор в море виден из космоса полосами. Мы находим их и честно считаем штуки там, где их можно измерить. Мы команда SAMARKAND. По снимкам Sentinel-2 мы находим скопления плавающего мусора, оцениваем, сколько там предметов, и показываем экологу, чему можно верить.</a:t>
            </a:r>
          </a:p>
          <a:p/>
          <a:p>
            <a:r>
              <a:t>[0:00–0:18]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Наша команда — Матвей, Егор, Марк, Фёдор и Глеб.</a:t>
            </a:r>
          </a:p>
          <a:p/>
          <a:p>
            <a:r>
              <a:t>[0:18–0:26]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Спутник видит пиксель 10 м, а предмет — 2.5–50 см: прямого счёта штук по снимку не существует. Предмет — бутылка или обрывок сети — в сотни раз меньше пикселя и почти не меняет его спектр. Чтобы считать штуки по снимку, нужны пары «снимок — полевой счёт» в одно время и в одном месте. Из 318 событий CSV организаторов синхронных пар ноль; в данных ADIS мы нашли 66 пар по месту и времени, но видимого сигнала нет ни в одной. Это физика, а не недоработка поиска.</a:t>
            </a:r>
          </a:p>
          <a:p/>
          <a:p>
            <a:r>
              <a:t>[0:26–1:05]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ступени: спутник находит зоны, поле даёт шт./км², детальное фото считает предметы. Детектор на Sentinel-2 отвечает, где и когда есть полоса мусора: F1 0.871 на отложенном тесте. Полевой счёт даёт 53.9 штуки на квадратный километр — это независимая оценка количества. Детальное фото считает предметы с ошибкой 0.59 штуки на кадр. Мост между ступенями возможен только через пары, поэтому площадь полосы в штуки мы не переводим.</a:t>
            </a:r>
          </a:p>
          <a:p/>
          <a:p>
            <a:r>
              <a:t>[1:05–1:35]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LightGBM на спектрах бьёт U-Net и индекс FDI на отложенном тесте MARIDA. На сценах, которых модель не видела, бустинг даёт F1 0.871, U-Net — 0.501, индекс FDI — 0.042. Полосы узкие, разметки мало — признаки пикселя работают лучше свёрток. Класс MARIDA — любой плавающий мусор, поэтому мы пишем «плавающий материал», а не «пластик».</a:t>
            </a:r>
          </a:p>
          <a:p/>
          <a:p>
            <a:r>
              <a:t>[1:35–1:59]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отложенной сцене 14 находок совпали с полосами, проверенными людьми (Cózar 2024). Сцена 30SXE не входила в обучение; 14 из 23 зон совпали с ручной разметкой нитей. Всего из 286 обработанных зон мы оставили 77 находок: суда, пена, блик, облака и сильный ветер отфильтрованы. Статус «подтверждено» ставит только человек.</a:t>
            </a:r>
          </a:p>
          <a:p/>
          <a:p>
            <a:r>
              <a:t>[1:59–2:22]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отличаем мусор от судов, пены, бликов, облаков и берега. Здесь пять примеров прямо из сервиса: верное обнаружение, пропуск, судно, пена и снимок, где анализ невозможен. На тесте 64 процентов ложных пикселей — суда и органика, поэтому после детектора стоят фильтры, а плохой снимок получает «анализ невозможен», а не «чисто».</a:t>
            </a:r>
          </a:p>
          <a:p/>
          <a:p>
            <a:r>
              <a:t>[2:22–2:45]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 полевым данным 53.9 шт./км² [39.7–70.4]; на отложенном тесте простая медиана лучше модели — показываем её. Число предметов на полосе делим на её площадь; интервал — бутстреп по дням рейса. У модели ошибка 30.0, у медианы 25.2; правило было записано заранее. Это и есть независимая оценка количества по полевым данным.</a:t>
            </a:r>
          </a:p>
          <a:p/>
          <a:p>
            <a:r>
              <a:t>[2:45–3:08]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детальном фото модель считает предметы с ошибкой 0.59 шт. на кадр и определяет материал. Это фото с воды или дрона, где предмет виден целиком. На отложенных сессиях FML ошибка 0.59 предмета на кадр, у бейзлайна 2.86; на аэрофото Winans мы лучше открытого DebrisScan.</a:t>
            </a:r>
          </a:p>
          <a:p/>
          <a:p>
            <a:r>
              <a:t>[3:08–3:28]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Эколог за пять шагов видит, что найдено, где, когда и насколько этому верить. Кнопка «Демо» проводит по шагам: район и даты, снимок с нумерованными зонами, карточка зоны, качество и статус, выгрузка. Первая строка карточки — что это: плавающий материал, пластик не подтверждён. Дальше статус, подтверждение независимой разметкой и прямо: количество предметов по этому снимку не определено; рядом — оценка по полю. Всё отфильтрованное выгружается в GeoJSON и CSV. Показываем это вживую в сервисе, кнопка «Демо», около полутора минут.</a:t>
            </a:r>
          </a:p>
          <a:p/>
          <a:p>
            <a:r>
              <a:t>[3:28–5:34]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ещё умеет карта: наша модель на новых снимках, дроны, дрейф и PRIME — у каждого слоя подписан источник. Это просьба жюри на чекпоинте. Реальное время — это наша модель на реальных снимках Sentinel-2: за 180 дней обработано моделью 202 из 1077 найденных снимков, с находками 10. NASA — только контекст. «Дроны» — детальные кадры с разметкой авторов, отдельно наш счётчик; карточка пишет «дрон, не спутник». «Дрейф» у находки: до 72 часов, течения и ветер на дату сцены, расчёт у 33 из 77. PRIME — демо-режим по просьбе жюри: как сервис выглядел бы на детальных снимках, не результат модели. На таймлайне у каждого источника своя дорожка.</a:t>
            </a:r>
          </a:p>
          <a:p/>
          <a:p>
            <a:r>
              <a:t>[5:34–6:23]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числа: F1 0.871 у детектора, 53.9 штуки на квадратный километр по полю и все проверенные гипотезы записаны до сравнения. Спасибо, готовы к вопросам.</a:t>
            </a:r>
          </a:p>
          <a:p/>
          <a:p>
            <a:r>
              <a:t>[6:23–6:34]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Приложение. Каждый слайд — одна гипотеза, как мы её проверили, число и решение.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проверили связку снимок — штуки на всех найденных парах, и посчитанные предметы спутнику не видны. Главный источник — ADIS: 21 444 отрезков наблюдений с судов; из них 66 совпадают со снимком по месту и времени. В 6 таких парах в поле есть предметы, и ни в одной детектор не сработал на полосе наблюдения. Мы проверили итальянские трансекты ISPRA и нашли одну пару по месту и дню — ER604; на карте видно, что предметы, посчитанные людьми, не лежат рядом с пикселями, где сработал детектор. Проверили искусственные мишени проекта PLP: детектор видит пиксель, только когда мишень закрывает заметную долю пикселя. Вывод: одиночные предметы, которые считают люди, спутнику не видны, а плотные нити, которые видит спутник, никто не считал поштучно. Поэтому число штук по снимку в сервисе — только исследовательский сценарий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Одна команда воспроизводит все числа из чистой копии. Мы клонировали репозиторий на чистую машину: от клона до открытой карты и пересчитанных чисел — 7,5 минуты. В проекте 252 автотестов; отдельные тесты сверяют каждое число в документах и этой презентации с единым файлом итоговых чисел, где у каждого числа есть источник и протокол. Веса моделей лежат в репозитории, поэтому ничего не нужно обучать заново. Правила выбора моделей мы записывали до сравнения: например, модель поля берётся, только если она лучше медианы на отложенном рейсе. Это защищает от подгонки под тест. Файл итоговых чисел пересобирается одной командой после любого пересчёта, и документы с этой презентацией собираются из него скриптом. Если число в тексте разойдётся с файлом, тест упадёт. Поэтому то, что вы видите на слайдах, совпадает с тем, что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событий CSV организаторов синхронных пар «снимок → поле» — ноль. Гипотеза: среди событий CSV есть пары снимка и полевого счёта для обучения. Как проверили: для каждого события искали снимок S2/Landsat, отбирали по времени и облачности, маскам качества и дрейфу. Решение: пары из CSV не используем для перевода снимка в штуки; ищем другие источники.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каждой пары — уровень доказательности и маски качества. Гипотеза: отобранные по метаданным пары пригодны без проверки облаков и блика. Как проверили: маски SCL и блика в полосе обследования; отбраковано по блику 10, по облакам 6. Решение: реестр пар хранит уровень A–D и причину отказа для каждой строки.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ADIS: 66 пар по месту и времени, видимого сигнала — 0. Гипотеза: в пересечениях маршрутов ADIS со снимками детектор увидит посчитанные предметы. Как проверили: 21 444 отрезков ADIS сопоставлены со снимками в окне по времени; полоса наблюдения против пикселей детектора. Решение: пары ADIS — «по месту и времени», не калибровочные; доля покрытия пикселя 6.6·10⁻⁸ объясняет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Окна Cózar 2024 — только для проверки, не для обучения. Гипотеза: ручная разметка нитей Cózar 2024 годится как независимая проверка детектора. Как проверили: сопоставили находки с 14 374 окнами разметки; на демо-сцене — совпадения по зонам. Решение: используем только как «подтверждение» в карточке, в обучение не берём.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MARIDA: утечек между обучением и тестом нет. Гипотеза: одни и те же сцены или дубликаты могут попасть в обучение и тест. Как проверили: сверка по сценам, датам и содержимому; проверено 119 пар, исключено дубликатов 1. Решение: находку на снимке обучения MARIDA помечаем и не считаем находкой.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Детектор v2: 13 вариантов с новыми данными — ни один не прошёл правило. Гипотеза: новые размеченные данные (PLP, Floating Objects, суда) улучшат детектор. Как проверили: 13 вариантов × 3 seed против контрольного; правило записано до экспериментов. Решение: в сервисе остаётся прежний LightGBM.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U-Net проигрывает бустингу на узких полосах. Гипотеза: свёрточная сеть лучше признаков пикселя. Как проверили: U-Net на тех же сценах и том же пороговом протоколе; сравнение по сценам (15). Решение: U-Net — только как бейзлайн.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Слой нефти MADOS — только эксперимент. Гипотеза: голова для нефтяных пятен даст полезный слой. Как проверили: обучили на MADOS, проверили на отложенном тесте и на реальных L2A (Wakashio). Решение: на реальных сценах ложные срабатывания — слой выключен по умолчанию.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ветре ≥ 5 м/с снимок не информативен. Гипотеза: детектор одинаково работает при любом ветре. Как проверили: ветер ERA5 для каждой зоны; правило из методики Cózar 2024. Решение: 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 поля: пуассоновский слишком узкий, бутстреп по дням — честный. Гипотеза: ошибка счёта (Пуассон) описывает неопределённость концентрации. Как проверили: сравнили охват отложенного рейса: пуассоновский интервал и кластерный бутстреп по дням рейса. Решение: показываем бутстреп; пуассоновский — только с подписью «только ошибка счёта».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Прогноз ADIS: модели не лучше медианы профиля. Гипотеза: модель по месту и времени предскажет концентрацию ADIS. Как проверили: кандидаты B1, M1, M2 против медианы на отложенных отрезках, правило на val. Решение: показываем медиану профиля.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Калибровка по ячейкам сетки — отказ. Гипотеза: климатология поля по ячейкам свяжется с сигналом снимков. Как проверили: 123 ячеек; ранговая корреляция с доверительным интервалом по дням судна. Решение: калибровки по ячейкам нет; в одном периоде общих дат поле × спутник — ноль.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Физика разрешения: при пикселе Sentinel-2 предметы поштучно не считаемы. Гипотеза: при достаточной модели штуки можно считать по пикселю Sentinel-2. Как проверили: распределение размеров предметов против размера пикселя разных спутников. Решение: на Sentinel-2 — только зоны скоплений; штуки — поле и детальное фото.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Снимков сверхвысокого разрешения в день наблюдений ADIS нет. Гипотеза: для пар ADIS найдутся снимки VHR, где предмет виден. Как проверили: поиск в открытых каталогах по отрезкам ADIS в тот же день. Решение: VHR — в плане развития (запросы операторам).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Искусственные мишени PLP: спектр пикселя не переводится в долю покрытия. Гипотеза: по спектру пикселя можно восстановить долю площади под пластиком. Как проверили: 63 пикселей мишеней, 5 дат; проверка с отложенной датой. Решение: 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Синтетические пары — отклонены. Гипотеза: синтетика (вставка предметов в снимок) заменит настоящие пары. Как проверили: проверка переносимости синтетики на природные сцены. Решение: 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Оценщик «снимок → штуки»: плоская калибровка хуже ответа «0». Гипотеза: простая калибровка площади маски в штуки даёт полезную оценку. Как проверили: лидерборд методов на парах по месту и времени, общий протокол и метрика. Решение: в карточке — «количество не определено», сценарий свёрнут с оговорками.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ISPRA: все трансекты разобраны одним скриптом, пара по месту и дню — одна. Гипотеза: итальянские трансекты MSFD дадут пары со снимком. Как проверили: поиск снимков под каждую трансекту, маски, уровни A/C/D. Решение: ER604 — пара по месту и дню, не калибровочная: ни один предмет не рядом с пикселем детектора.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PLASTIC MONITOR: квадрат 1 м² не равен пикселю. Гипотеза: фото-учёт PLASTIC MONITOR даст пары со снимком. Как проверили: сопоставление площадки учёта с пикселем и пятном на снимке. Решение: уровень C: единица наблюдения несовместима с пикселем.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Архивы и приложения статей: кандидаты есть, пар нет. Гипотеза: в приложениях к статьям лежат пары «снимок — счёт». Как проверили: разбор архивов и приложений: координаты, время, площадь, счёт. Решение: запросы авторам — в плане развития.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FML: разбиение по сессиям съёмки убирает утечку соседних кадров. Гипотеза: случайное разбиение кадров честно оценивает счётчик. Как проверили: сравнили случайное разбиение и разбиение по сессиям съёмки. Решение: публикуем только метрику по сессиям.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Winans: плотность на кадре берега — при известной площади. Гипотеза: счётчик по фото даёт шт. на площадь, если известна площадь кадра. Как проверили: пространственное разбиение, 397 тестовых кадров по 164 м². Решение: подпись «шт. на кадр берега»; берег ≠ вода, Sentinel-2 так не считает.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Перенос счётчика на реку и дрон — не работает без дообучения. Гипотеза: счётчик FML переносится на другие съёмки. Как проверили: проверка на кадрах реки и дрона другого источника. Решение: 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Материал на фото — только с матрицей ошибок. Гипотеза: модель различает материалы предметов на фото. Как проверили: матрица ошибок по классам материала на отложенном источнике. Решение: 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Внутренняя проверка глазами «жюри-человека» меняет подписи и статусы. Гипотеза: интерфейс и дека понятны без объяснений. Как проверили: независимый проверяющий внутри команды листает сервис и деку по чек-листу ТЗ и записывает, что понял неверно. Решение: 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Сколько гипотез мы проверили. Гипотеза: итог — это отбор из многих проверенных идей, а не первая удачная. Как проверили: подсчёт по журналу и конвейеру: гипотезы, эксперименты, решения. Решение: каждое решение записано до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нужно для настоящих пар «снимок → штуки». Гипотеза: связка возможна, если считать предметы там, где их видит спутник. Как проверили: по итогам всех проверок: какие данные закрывают разрыв. Решение: 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itle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1417320"/>
            <a:ext cx="10515600" cy="21945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Мусор в море виден из космоса полосами. Мы находим их и честно считаем штуки там, где их можно измерить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406908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4E6EA"/>
                </a:solidFill>
                <a:latin typeface="Segoe UI"/>
              </a:rPr>
              <a:t>Команда SAMARKAND · РТУ МИРЭА · КосмоХакатон · кейс «Морской мусор»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" y="5852160"/>
            <a:ext cx="1005840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D0D4DA"/>
                </a:solidFill>
                <a:latin typeface="Segoe UI"/>
              </a:rPr>
              <a:t>Кашин Г., Закон М., Панин М., Ожигов Е., Ведерников Ф.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E2836"/>
                </a:solidFill>
                <a:latin typeface="Segoe UI"/>
              </a:rPr>
              <a:t>Наша команда</a:t>
            </a:r>
          </a:p>
        </p:txBody>
      </p:sp>
      <p:pic>
        <p:nvPicPr>
          <p:cNvPr id="3" name="Picture 2" descr="team_r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71028"/>
            <a:ext cx="11247120" cy="359026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9224" y="580644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Кашин Г. · Закон М. · Панин М. · Ожигов Е. · Ведерников Ф.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Спутник видит пиксель 10 м, а предмет — 2.5–50 см: прямого счёта штук по снимку не существует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318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событий в полевом CSV организаторов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предметов считаемы поштучно при пикселе 10 м</a:t>
            </a:r>
          </a:p>
        </p:txBody>
      </p:sp>
      <p:pic>
        <p:nvPicPr>
          <p:cNvPr id="7" name="Picture 6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139" y="1737360"/>
            <a:ext cx="6019800" cy="361188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Воронка по событиям CSV: 318 → снимок рядом по времени → отбор по метаданным 29 → маски качества 12 → синхронны при дрейфе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Независимо: ADIS 21 444 отрезков → 66 пар по месту и времени → видимый сигнал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Поэтому считаем штуки там, где их можно измерить, — в поле и на детальном фото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Три ступени: спутник находит зоны, поле даёт шт./км², детальное фото считает предметы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35280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7556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детектор зон на снимке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634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377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 по полевому счёту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3464" y="1783080"/>
            <a:ext cx="335280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30896" y="2773680"/>
            <a:ext cx="3352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— ошибка счётчика по фото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Спутник Sentinel-2: где и когда есть полоса мусора (оценка детектора, не вероятность)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Поле: предметы, посчитанные с судна, делённые на обследованную площадь (C = N / A)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Детальное фото с воды или дрона: число предметов на кадре и материал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Каждая ступень проверена на своём отложенном тесте; переход между ступенями без пар не заявляем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LightGBM на спектрах бьёт U-Net и индекс FDI на отложенном тесте MARIDA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76199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C1400B"/>
                </a:solidFill>
                <a:latin typeface="Segoe UI"/>
              </a:rPr>
              <a:t>F1 0.871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52984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95 % ДИ [0.823; 0.920]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91063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LightGBM (наш)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938985"/>
            <a:ext cx="3383279" cy="396849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0" y="191063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0.871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261929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Random Forest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2647645"/>
            <a:ext cx="29948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18603" y="261929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0.771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32795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U-Net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3356305"/>
            <a:ext cx="1946065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69825" y="332795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0.501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036618"/>
            <a:ext cx="2011679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Индекс FDI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4064965"/>
            <a:ext cx="163143" cy="396849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6903" y="4036618"/>
            <a:ext cx="914400" cy="45354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0.042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8006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Отложенный тест: 15 сцен, пиксели класса «мусор» по разметке MARIDA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Лучше U-Net на 13 из 15 сцен; порог выбран только на val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Класс MARIDA Marine Debris — любой плавающий мусор, не только пластик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отложенной сцене 14 находок совпали с полосами, проверенными людьми (Cózar 2024)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23 зон сцены 30SXE совпали с разметкой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находок из 286 обработанных зон</a:t>
            </a:r>
          </a:p>
        </p:txBody>
      </p:sp>
      <p:pic>
        <p:nvPicPr>
          <p:cNvPr id="7" name="Picture 6" descr="scene_zon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343" y="1737360"/>
            <a:ext cx="4413392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Сцена 30SXE, 11.03.2021: не из обучения MARIDA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Зоны с судами и кильватером, пеной, бликом, облаками отфильтрованы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Ветер ≥ 5 м/с — «недостаточно данных» (правило Cózar 2024)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Мы отличаем мусор от судов, пены, бликов, облаков и берега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ложных пикселей на отложенном тесте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64 %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из них — суда и органика</a:t>
            </a:r>
          </a:p>
        </p:txBody>
      </p:sp>
      <p:pic>
        <p:nvPicPr>
          <p:cNvPr id="7" name="Picture 6" descr="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137" y="1737360"/>
            <a:ext cx="5103805" cy="42062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Пять примеров из сервиса («Проверка качества»): верно · пропуск · судно · пена · «анализ невозможен»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По полевым данным 53.9 шт./км² [39.7–70.4]; на отложенном тесте простая медиана лучше модели — показываем её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023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53.9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26080"/>
            <a:ext cx="4023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шт./км², 95 % [39.7–70.4] бутстреп по дням рейса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783080"/>
            <a:ext cx="649224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MAE на отложенном рейсе, шт./км² (меньше — лучше)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3385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Медиана (показываем)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2370582"/>
            <a:ext cx="2841955" cy="448056"/>
          </a:xfrm>
          <a:prstGeom prst="rect">
            <a:avLst/>
          </a:prstGeom>
          <a:solidFill>
            <a:srgbClr val="C14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65715" y="23385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C1400B"/>
                </a:solidFill>
                <a:latin typeface="Segoe UI"/>
              </a:rPr>
              <a:t>25.2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138678"/>
            <a:ext cx="2011679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Модель ridge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3170682"/>
            <a:ext cx="3383279" cy="448056"/>
          </a:xfrm>
          <a:prstGeom prst="rect">
            <a:avLst/>
          </a:prstGeom>
          <a:solidFill>
            <a:srgbClr val="B9BE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0" y="3138678"/>
            <a:ext cx="914400" cy="51206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A5462"/>
                </a:solidFill>
                <a:latin typeface="Segoe UI"/>
              </a:rPr>
              <a:t>30.0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114800"/>
            <a:ext cx="6492240" cy="12801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C = N / A: 697 предметов на 12.94 км² полосы обследования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Это полевое измерение, не снимок; в карточке зоны — «ближайшее полевое измерение»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На детальном фото модель считает предметы с ошибкой 0.59 шт. на кадр и определяет материал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шт./кадр — ошибка на FML (медиана-бейзлайн 2.86)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шт. на 164 м² кадра берега — Winans; DebrisScan 2.29</a:t>
            </a:r>
          </a:p>
        </p:txBody>
      </p:sp>
      <p:pic>
        <p:nvPicPr>
          <p:cNvPr id="7" name="Picture 6" descr="pho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FML: 1 190 кадров, разбиение по сессиям съёмки; AP50 0.914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Фото с воды или дрона, не спутник; шт./км² — только где известна площадь кадра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Эколог за пять шагов видит, что найдено, где, когда и насколько этому верить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статуса зоны по постановке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571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C1400B"/>
                </a:solidFill>
                <a:latin typeface="Segoe UI"/>
              </a:rPr>
              <a:t>GeoJSON ·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11480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выгрузка того, что отфильтровано</a:t>
            </a:r>
          </a:p>
        </p:txBody>
      </p:sp>
      <p:pic>
        <p:nvPicPr>
          <p:cNvPr id="7" name="Picture 6" descr="c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2041133"/>
            <a:ext cx="6400800" cy="359869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897880"/>
            <a:ext cx="539496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«Демо ▶»: Район и даты → Снимок → Зона → Качество и статус → Выгрузка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Карточка: «Что это» · статус · подтверждение · «Количество предметов по этому снимку не определено»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E2836"/>
                </a:solidFill>
                <a:latin typeface="Segoe UI"/>
              </a:rPr>
              <a:t>Что ещё умеет карта: наша модель на новых снимках, дроны, дрейф и PRIME — у каждого слоя подписан источник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Реальное время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наша модель, автоматически</a:t>
            </a:r>
          </a:p>
        </p:txBody>
      </p:sp>
      <p:pic>
        <p:nvPicPr>
          <p:cNvPr id="5" name="Picture 4" descr="s54_realti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49224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За 180 дней обработано моделью 202 из 1077 найденных снимков, с находками 10. Те же фильтры; не проверено человеком. NASA 250–375 м — только контекст, модель на нём не запускаем.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19856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Дроны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дрон, не спутник</a:t>
            </a:r>
          </a:p>
        </p:txBody>
      </p:sp>
      <p:pic>
        <p:nvPicPr>
          <p:cNvPr id="9" name="Picture 8" descr="s54_dr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4156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419856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Детальные кадры открытых наборов — 6 наборов, 81 кадр (4 — дрон, остальные — самолёт и судно): рамки и классы авторов. Шт./м² — только при известной площади кадра. Наш счётчик: 274 из 444 размеченных, ложных 257 — вне обучения ошибается.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90488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Дрейф 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HYCOM + GFS на дату сцены</a:t>
            </a:r>
          </a:p>
        </p:txBody>
      </p:sp>
      <p:pic>
        <p:nvPicPr>
          <p:cNvPr id="13" name="Picture 12" descr="s54_drift_ma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4788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6190488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Кнопка у находки на карте: до 72 ч, облако частиц с вероятностью. Расчёт есть у 33 из 77 находок, у остальных — «нет расчёта» с причиной. Прогноз модели, не наблюдение.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1627632"/>
            <a:ext cx="2569464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C1400B"/>
                </a:solidFill>
                <a:latin typeface="Segoe UI"/>
              </a:rPr>
              <a:t>PRIME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0" y="1956816"/>
            <a:ext cx="256946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4A5462"/>
                </a:solidFill>
                <a:latin typeface="Segoe UI"/>
              </a:rPr>
              <a:t>демо-данные, не результат модели</a:t>
            </a:r>
          </a:p>
        </p:txBody>
      </p:sp>
      <p:pic>
        <p:nvPicPr>
          <p:cNvPr id="17" name="Picture 16" descr="s54_prim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5420" y="2286000"/>
            <a:ext cx="2340864" cy="14630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8" name="TextBox 17"/>
          <p:cNvSpPr txBox="1"/>
          <p:nvPr/>
        </p:nvSpPr>
        <p:spPr>
          <a:xfrm>
            <a:off x="8961120" y="3840480"/>
            <a:ext cx="2569464" cy="146303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1E2836"/>
                </a:solidFill>
                <a:latin typeface="Segoe UI"/>
              </a:rPr>
              <a:t>Как сервис будет выглядеть на детальных снимках — по просьбе жюри. В точках событий CSV организаторов — демо-снимки из реальной воды и вырезок предметов с дронов, числа из строк CSV. Выключен — ни одного демо-объекта.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E2836"/>
                </a:solidFill>
                <a:latin typeface="Segoe UI"/>
              </a:rPr>
              <a:t>Обзор ≠ обнаружение · дрон ≠ спутник · демо ≠ результат модели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0.871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665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F1 детектора на отложенном тесте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7634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53.9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0377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шт./км² по полю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3464" y="2103120"/>
            <a:ext cx="3444240" cy="1270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000" b="1">
                <a:solidFill>
                  <a:srgbClr val="FA913B"/>
                </a:solidFill>
                <a:latin typeface="Segoe UI"/>
              </a:rPr>
              <a:t>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0896" y="3423920"/>
            <a:ext cx="3444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проверенных гипотез и экспериментов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502920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SAMARKAND · спасибо за внимание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2194560"/>
            <a:ext cx="105156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Segoe UI"/>
              </a:rPr>
              <a:t>Приложение. Исследование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3383280"/>
            <a:ext cx="1005840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D0D4DA"/>
                </a:solidFill>
                <a:latin typeface="Segoe UI"/>
              </a:rPr>
              <a:t>Каждый слайд — одна проверенная гипотеза: гипотеза → как проверили → результат → решение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3246120"/>
            <a:ext cx="2743200" cy="19050"/>
          </a:xfrm>
          <a:prstGeom prst="rect">
            <a:avLst/>
          </a:prstGeom>
          <a:solidFill>
            <a:srgbClr val="FA91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Мы проверили связку снимок → штуки на всех найденных парах — посчитанные предметы спутнику не видны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72796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ADIS по месту и времени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520439"/>
            <a:ext cx="4206240" cy="9525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" y="4511040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пар с видимым сигналом на снимке</a:t>
            </a:r>
          </a:p>
        </p:txBody>
      </p:sp>
      <p:pic>
        <p:nvPicPr>
          <p:cNvPr id="7" name="Picture 6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951061"/>
            <a:ext cx="6400799" cy="3184477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120640" y="5440680"/>
            <a:ext cx="640080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ADIS: 21 444 отрезков → 66 пар; в 6 с предметами детектор сработал в 0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ISPRA: 167 трансект обработаны одним скриптом; на ER604 ни один предмет не ближе к пикселю детектора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A5462"/>
                </a:solidFill>
                <a:latin typeface="Segoe UI"/>
              </a:rPr>
              <a:t>Искусственные мишени: 19 дат со счётом — детектор видит пиксель только при большом покрытии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349240"/>
            <a:ext cx="4297680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E2836"/>
                </a:solidFill>
                <a:latin typeface="Segoe UI"/>
              </a:rPr>
              <a:t>Число штук по снимку — только исследовательский сценарий, не измерение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14 /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Одна команда воспроизводит все числа из чистой копии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5166360" cy="104774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6600" b="1">
                <a:solidFill>
                  <a:srgbClr val="C1400B"/>
                </a:solidFill>
                <a:latin typeface="Segoe UI"/>
              </a:rPr>
              <a:t>7,5 мин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87274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чистый клон → карта и 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9904" y="1783080"/>
            <a:ext cx="516636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17336" y="2971800"/>
            <a:ext cx="516636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автотестов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3931920"/>
            <a:ext cx="10881360" cy="1371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Установка 3 мин 17 с, карта открывается за 8,1 с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Веса моделей в репозитории; все числа — reports/final_numbers.json с источником и протоколом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4A5462"/>
                </a:solidFill>
                <a:latin typeface="Segoe UI"/>
              </a:rPr>
              <a:t>Правила принятия решений записаны до сравнения (детектор, поле, счётчик)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9224" y="5422392"/>
            <a:ext cx="10881360" cy="19050"/>
          </a:xfrm>
          <a:prstGeom prst="rect">
            <a:avLst/>
          </a:prstGeom>
          <a:solidFill>
            <a:srgbClr val="A7AD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5532120"/>
            <a:ext cx="1088136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E2836"/>
                </a:solidFill>
                <a:latin typeface="Segoe UI"/>
              </a:rPr>
              <a:t>Любое число в презентации можно проверить по файлу и команде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15 / 42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Из событий CSV организаторов синхронных пар «снимок → поле» — ноль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синхронных из 318 событий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Среди событий CSV есть пары снимка и полевого счёта для обучения.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Для каждого события искали снимок S2/Landsat, отбирали по времени и облачности, маскам качества и дрейфу.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из CSV не используем для перевода снимка в штуки; ищем другие источники.</a:t>
            </a:r>
          </a:p>
        </p:txBody>
      </p:sp>
      <p:pic>
        <p:nvPicPr>
          <p:cNvPr id="11" name="Picture 10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240279"/>
            <a:ext cx="5486400" cy="3291840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16 / 42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У каждой пары — уровень доказательности и маски качества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из 29 прошли маски качества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Отобранные по метаданным пары пригодны без проверки облаков и блика.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Маски SCL и блика в полосе обследования; отбраковано по блику 10, по облакам 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Реестр пар хранит уровень A–D и причину отказа для каждой строки.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17 / 42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ADIS: 66 пар по месту и времени, видимого сигнала —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срабатываний в 6 парах с предметами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В пересечениях маршрутов ADIS со снимками детектор увидит посчитанные предметы.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21 444 отрезков ADIS сопоставлены со снимками в окне по времени; полоса наблюдения против пикселей детектора.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Пары ADIS — «по месту и времени», не калибровочные; доля покрытия пикселя 6.6·10⁻⁸ объясняет результат.</a:t>
            </a:r>
          </a:p>
        </p:txBody>
      </p:sp>
      <p:pic>
        <p:nvPicPr>
          <p:cNvPr id="11" name="Picture 10" descr="search_adis_pai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205543"/>
            <a:ext cx="5486400" cy="1361313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18 /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Окна Cózar 2024 — только для проверки, не для 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14 374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окон разметки Cózar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Ручная разметка нитей Cózar 2024 годится как независимая проверка детектора.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Сопоставили находки с 14 374 окнами разметки; на демо-сцене — совпадения по зонам.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Используем только как «подтверждение» в карточке, в обучение не берём.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19 / 42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MARIDA: утечек между обучением и тестом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пересечений train/test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Одни и те же сцены или дубликаты могут попасть в обучение и тест.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Сверка по сценам, датам и содержимому; проверено 119 пар, исключено дубликатов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Находку на снимке обучения MARIDA помечаем и не считаем находкой.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20 / 42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Детектор v2: 13 вариантов с новыми данными — ни один не прошёл правило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принято из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Новые размеченные данные (PLP, Floating Objects, суда) улучшат детектор.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13 вариантов × 3 seed против контрольного; правило записано до экспериментов.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сервисе остаётся прежний LightGBM.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21 / 42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U-Net проигрывает бустингу на узких полосах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U-Net против 0.871 у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Свёрточная сеть лучше признаков пикселя.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на тех же сценах и том же пороговом протоколе; сравнение по сценам (15).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U-Net — только как бейзлайн.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22 / 42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Слой нефти MADOS — только эксперимент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F1 на тесте MADOS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Голова для нефтяных пятен даст полезный слой.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Обучили на MADOS, проверили на отложенном тесте и на реальных L2A (Wakashio).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На реальных сценах ложные срабатывания — слой выключен по умолчанию.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23 / 42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При ветре ≥ 5 м/с снимок не информативен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 м/с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порог ветра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Детектор одинаково работает при любом ветре.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Ветер ERA5 для каждой зоны; правило из методики Cózar 2024.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Зоны с сильным ветром — «недостаточно данных», в знаменатель «обследовано» не входят.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24 /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Интервал поля: пуассоновский слишком узкий, бутстреп по дням — честный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×3.8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шире интервал бутстрепа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Ошибка счёта (Пуассон) описывает неопределённость концентрации.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охват отложенного рейса: пуассоновский интервал и кластерный бутстреп по дням рейса.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бутстреп; пуассоновский — только с подписью «только ошибка счёта».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25 / 42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Прогноз ADIS: модели не лучше медианы профиля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MAE медианы; лучший кандидат 1.28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по месту и времени предскажет концентрацию ADIS.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Кандидаты B1, M1, M2 против медианы на отложенных отрезках, правило на 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Показываем медиану профиля.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26 / 42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Калибровка по ячейкам сетки — отказ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— связь слабая, интервал задевает ноль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Климатология поля по ячейкам свяжется с сигналом снимков.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123 ячеек; ранговая корреляция с доверительным интервалом по дням судна.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Калибровки по ячейкам нет; в одном периоде общих дат поле × спутник — ноль.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27 / 42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Физика разрешения: при пикселе Sentinel-2 предметы поштучно не считаемы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25 %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предметов считаемы на пикселе 0.3 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При достаточной модели штуки можно считать по пикселю Sentinel-2.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Распределение размеров предметов против размера пикселя разных спутников.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На Sentinel-2 — только зоны скоплений; штуки — поле и детальное фото.</a:t>
            </a:r>
          </a:p>
        </p:txBody>
      </p:sp>
      <p:pic>
        <p:nvPicPr>
          <p:cNvPr id="11" name="Picture 10" descr="unit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961232"/>
            <a:ext cx="5486400" cy="1849935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28 / 42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Снимков сверхвысокого разрешения в день наблюдений ADIS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VHR-снимков в тот же день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Для пар ADIS найдутся снимки VHR, где предмет виден.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Поиск в открытых каталогах по отрезкам ADIS в тот же день.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VHR — в плане развития (запросы операторам).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29 / 42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Искусственные мишени PLP: спектр пикселя не переводится в долю покрытия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ρ FDI с долей покрытия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спектру пикселя можно восстановить долю площади под пластиком.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63 пикселей мишеней, 5 дат; проверка с отложенной датой.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Перевод «спектр → покрытие» не подтверждён; сценарий по мишеням — только исследовательский.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30 / 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Синтетические пары — отклонены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Синтетика (вставка предметов в снимок) заменит настоящие пары.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переносимости синтетики на природные сцены.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 принята: на 11 датах мишеней A* (оставь-одну-дату) MAE 893.5 против 100.9 у плоской калибровки и 113.5 у ответа «0».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31 / 42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Оценщик «снимок → штуки»: плоская калибровка хуже ответа «0»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методов на лидерборде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Простая калибровка площади маски в штуки даёт полезную оценку.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Лидерборд методов на парах по месту и времени, общий протокол и метрика.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карточке — «количество не определено», сценарий свёрнут с оговорками.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32 / 42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ISPRA: все трансекты разобраны одним скриптом, пара по месту и дню — одна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37360"/>
            <a:ext cx="5120640" cy="85725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C1400B"/>
                </a:solidFill>
                <a:latin typeface="Segoe U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628900"/>
            <a:ext cx="51206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4A5462"/>
                </a:solidFill>
                <a:latin typeface="Segoe UI"/>
              </a:rPr>
              <a:t>пара уровня A (ER604)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24612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49300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Итальянские трансекты MSFD дадут пары со снимком.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221480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46836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Поиск снимков под каждую трансекту, маски, уровни A/C/D.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5196839"/>
            <a:ext cx="512064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5443728"/>
            <a:ext cx="5120640" cy="701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E2836"/>
                </a:solidFill>
                <a:latin typeface="Segoe UI"/>
              </a:rPr>
              <a:t>ER604 — пара по месту и дню, не калибровочная: ни один предмет не рядом с пикселем детектора.</a:t>
            </a:r>
          </a:p>
        </p:txBody>
      </p:sp>
      <p:pic>
        <p:nvPicPr>
          <p:cNvPr id="11" name="Picture 10" descr="ispra_er604_201909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2521423"/>
            <a:ext cx="5486400" cy="2729552"/>
          </a:xfrm>
          <a:prstGeom prst="rect">
            <a:avLst/>
          </a:prstGeom>
          <a:ln w="9525">
            <a:solidFill>
              <a:srgbClr val="DDDFE3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33 / 42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PLASTIC MONITOR: квадрат 1 м² не равен пикселю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Фото-учёт PLASTIC MONITOR даст пары со снимком.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Сопоставление площадки учёта с пикселем и пятном на снимке.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Уровень C: единица наблюдения несовместима с пикселем.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34 / 42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Архивы и приложения статей: кандидаты есть, пар нет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файлов разобрано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В приложениях к статьям лежат пары «снимок — счёт».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Разбор архивов и приложений: координаты, время, площадь, счёт.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— в плане развития.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35 / 42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FML: разбиение по сессиям съёмки убирает утечку соседних кадров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шт./кадр на отложенных сессиях, 95 % [0.54; 0.66]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Случайное разбиение кадров честно оценивает счётчик.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Сравнили случайное разбиение и разбиение по сессиям съёмки.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Публикуем только метрику по сессиям.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36 / 42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Winans: плотность на кадре берега — при известной площади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1.85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шт. на кадр берега — ошибка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по фото даёт шт. на площадь, если известна площадь кадра.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Пространственное разбиение, 397 тестовых кадров по 164 м².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Подпись «шт. на кадр берега»; берег ≠ вода, Sentinel-2 так не считает.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37 / 42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Перенос счётчика на реку и дрон — не работает без дообучения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Счётчик FML переносится на другие съёмки.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Проверка на кадрах реки и дрона другого источника.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Без дообучения не переносится: AP50 0.914 на отложенном FML против дрон Maharjan 2022 0.01, камера над каналом TUD-GV 0.406, камера над рекой The Ocean Cleanup 0.001.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38 / 42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Материал на фото — только с матрицей ошибок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0.75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macro-F1 по материалам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Модель различает материалы предметов на фото.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Матрица ошибок по классам материала на отложенном источнике.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Число по классам — только при разметке и матрице ошибок; иначе «состав не определён».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39 / 42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E2836"/>
                </a:solidFill>
                <a:latin typeface="Segoe UI"/>
              </a:rPr>
              <a:t>Внутренняя проверка глазами «жюри-человека» меняет подписи и статусы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" y="2057400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Интерфейс и дека понятны без объяснений.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310896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338327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Независимый проверяющий внутри команды листает сервис и деку по чек-листу ТЗ и записывает, что понял неверно.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4434840"/>
            <a:ext cx="10890504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4709159"/>
            <a:ext cx="10890504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Подписи «оценка детектора», «пластик не подтверждён», статусы по постановке, «количество не определено».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40 / 42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Сколько гипотез мы проверили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проверенных гипотез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Итог — это отбор из многих проверенных идей, а не первая удачная.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Подсчёт по журналу и конвейеру: гипотезы, эксперименты, решения.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Каждое решение записано до сравнения.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41 / 42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9224" y="384048"/>
            <a:ext cx="10881360" cy="12344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>
                <a:solidFill>
                  <a:srgbClr val="1E2836"/>
                </a:solidFill>
                <a:latin typeface="Segoe UI"/>
              </a:rPr>
              <a:t>Что нужно для настоящих пар «снимок → штуки»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9224" y="1783080"/>
            <a:ext cx="3931920" cy="11430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>
                <a:solidFill>
                  <a:srgbClr val="C1400B"/>
                </a:solidFill>
                <a:latin typeface="Segoe UI"/>
              </a:rPr>
              <a:t>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2971800"/>
            <a:ext cx="393192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4A5462"/>
                </a:solidFill>
                <a:latin typeface="Segoe UI"/>
              </a:rPr>
              <a:t>калибровочных пар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78308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ГИПОТЕЗА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Связка возможна, если считать предметы там, где их видит спутник.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0896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КАК ПРОВЕРИЛИ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38327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По итогам всех проверок: какие данные закрывают разрыв.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4434840"/>
            <a:ext cx="6601967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1400B"/>
                </a:solidFill>
                <a:latin typeface="Segoe UI"/>
              </a:rPr>
              <a:t>РЕШЕНИЕ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709159"/>
            <a:ext cx="6601967" cy="10058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E2836"/>
                </a:solidFill>
                <a:latin typeface="Segoe UI"/>
              </a:rPr>
              <a:t>Запросы авторам полевых данных, VHR в день наблюдений, дроны над нитями, которые видит Sentinel-2.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6355080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Приложение · Исследование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355080"/>
            <a:ext cx="100584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AA1AC"/>
                </a:solidFill>
                <a:latin typeface="Segoe UI"/>
              </a:rPr>
              <a:t>42 / 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