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[0:00–0:19] Мы решали кейс как два алгоритма, проверенных по отдельности. Детектор по снимку — F1 0.871 на test MARIDA. Концентрация — по полевым данным. Синхронных пар «снимок — поле» 0, поэтому переноса на снимок мы не заявляем, и карта это прямо говорит.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[0:19–0:33] Пользователь — специалист по мониторингу. Он выбирает акваторию и дату, проверяет находки детектора, сравнивает с полем и выгружает результат. Измерение, оценка и площадь маски у нас везде — разные поля.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[0:33–0:52] Целевая величина — суммарный плавающий пластик больше двух сантиметров, штук на квадратный километр, визуальная полоса с судна. Это 63 события Саргассова моря, у каждого есть N и A. Весь мусор Северного и Чёрного морей — не пластик, он только для эксперимента.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[0:52–1:04] Из 935 строк в основной профиль попадают 63. У каждого отказа есть причина: объектные строки, категории, весь мусор. Поля-утечки в признаки не попадают, это проверяют тесты.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[1:04–1:24] Реестр пар — главный фильтр. Из 318 событий по метаданным проходят 29, маски в полосе — 12. Но вода за сутки уходит на десятки километров: пара синхронна, только если между снимком и наблюдением не больше 4.2 часа. Таких ноль. Для пластика снимков нет вообще.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[1:24–1:51] Главное в работе — как мы искали данные. CSV — это подсчёты вдоль маршрутов, поэтому каждую находку мы помечаем уровнем: A, B, C или D. У событий CSV пар уровня A — 0: для пластика снимков нет, в Северном море облака, в Чёрном время трансект не опубликовано. Тогда мы нашли открытые данные ADIS и получили 66 пар уровня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[1:51–2:12] Пар уровня A — 66. Время подтверждено даже по самому судну на снимке. В 6 парах, где камера видела предметы, детектор дал 0 пикселей. Это не ошибка, а предел: предмет занимает меньше процента пикселя. Калибровку на таких парах построить нельзя, и мы её не заявляем.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[2:12–2:39] Для детектора мы собрали новые метки: подтверждённые скопления PLP, FloatingObjects и нити Cózar — это B, суда и облака — D. Утечек с MARIDA и MADOS нет, проверяли по дате и по самим пикселям. Текущий детектор на них почти не видит нити и путает суда, а дообучение по заранее записанному правилу не прошло — в сервисе прежний детектор.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[2:39–3:09] Детектор — пиксельный LightGBM. На test MARIDA F1 0.871, RandomForest — 0.771, индексы FDI — 0.042; саргассум и мутную воду он не путает. На снимках пар мы выключили гармонизацию каналов — решение по MARIDA val, не по тесту. Сейчас 5 объектов на 22 сценах и ни одного в полосах; вне полосы — судно, это верное срабатывание. Прежний режим давал 975 объектов, почти всё — фон моря.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[3:09–3:32] Концентрация: C равно N на A, интервал Пуассона, контрольный пример — 60.0. Модели сравниваем с медианой на участках маршрута. На dev ridge выигрывает слабо, а на отложенном test, посчитанном один раз, — 30.0 против 25.2 у медианы. Правило записано до открытия test, поэтому на карте — медиана. Модель не спасаем.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[3:32–3:47] Карта повторяет отчёт: три слоя и два статуса полосы. Эта пара отклонена по дрейфу — «связь не подтверждена»; пикселей детектора в полосе нет, концентрация по снимку недоступна. Выгрузка сверена с API самопроверкой.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[3:47–4:16] Наш вклад — не модель, а решения, которые защищают выводы от самообмана. Допуск по дрейфу в реестре пар, сплит по участкам маршрута, найденный после утечки через соседей дня, test один раз по заранее записанному правилу, отказ от гармонизации по val, геометрия трансект по первоисточникам и один источник чисел с тестом. Разметка MARIDA, протокол RandomForest и индекс FDI — готовые, мы с ними сравниваемся.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[4:16–4:28] Ограничения называем сами: перенос на снимок не доказан, данных мало, интервалы недопокрывают. Развитие — трансекты под пролёт с записанным временем и больше рейсов.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[4:28–4:40] Всё воспроизводится одной командой без сети; чистый клон до карты — 7,5 минуты, числа совпали.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На новых данных мы попробовали дообучить детектор — 11 вариантов по правилу, записанному заранее. Не прошёл ни один: суда и нити спектрально похожи, выигрыш на одном ломает другое. В сервисе остался прежний детектор. Официальный U-Net MARIDA на том же test — F1 0.501, наш LightGBM — 0.871.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Количество мы считаем раздельно. По полю — штуки на квадратный километр с интервалом Пуассона. По снимку — только доля покрытия подозрительного материала, это не мусор и не штуки. Связать их может только калибровка на парах A с сигналом, а таких пар 0; нужно от 4 до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Нефть — отдельный эксперимент. На разметке MADOS голова лучше простого индекса, но известный разлив Wakashio на реальном снимке она не нашла. Поэтому слой выключен и подписан как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Связь снимка с полем мы всё же проверили. На 11 парах FDI даёт ρ −0.75, но после поправки Холма p 0.12, а случайная вода той же сцены даёт почти то же. Вывод — данных мало: нужно около 33 независимых пар.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[прил.–прил.] Из правила дрейфа мы сделали инструмент «Подобрать снимок»: он говорит, когда выходить на трансекту. Для Чёрного моря это окна UTC у 12 событий. Геометрию трансект восстановили по PANGAEA.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01 · Кейс «Макропластик»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Плавающий мусор: детектор по снимку и шт./км² по полю — что доказано, а что нет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по Sentinel-2 проверен на test MARIDA: F1 0.871 против RandomForest 0.771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Концентрация шт./км² — по полевым данным: C = N/A с интервалом Пуассона; на отложенном test модель не лучше медианы, поэтому на карте медиана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 ↔ поле: 318 событий → 0 синхронных пар; перенос «снимок → шт./км²» не заявляем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подтверждённых пар «снимок ↔ полевое измерение» — и мы это показываем, а не прячем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reports/final_numbers.json → case.sections (13 разделов с источником и протоколом)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02 · Задача и пользователь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Пользователь — специалист по мониторингу: акватория и дата → проверка зон → сравнение с полем → выгрузка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Выбирает акваторию и дату, видит полевые измерения, снимки-кандидаты и маску качества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Смотрит, где детектор нашёл подозрительные пиксели, и почему пара «снимок ↔ поле» принята или отклонена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Сравнивает с полевым измерением (шт./км² с интервалом), сохраняет запрос, выгружает GeoJSON/CSV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Измерение, оценка по полевым данным и площадь маски — разные поля везде: в API, карточке, легенде, выгрузке</a:t>
            </a:r>
          </a:p>
        </p:txBody>
      </p:sp>
      <p:pic>
        <p:nvPicPr>
          <p:cNvPr id="5" name="Picture 4" descr="01_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0074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699119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Карта кейса: 935 наблюдений, 29 полос обследования со снимками-кандидатами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README.md §1, §8; docs/CONTRACTS_V3.md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03 · Целевая величина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Целевая величина — суммарный плавающий пластик &gt; 2 см, шт./км², визуальная полоса 10 м (S2, Саргассово море)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63 события за 26 дней (2015-04-01 – 2015-04-26); у всех есть N и A → C = N/A проверяема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N 1–55 предметов, A 0.092–0.255 км²: масштаб контрольного примера 12 / 0.20 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Второй профиль — трал S1, 5–50 см, 83 события: только полевая проверка, со S2 не смешиваем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all_litter (S3, S4) — весь мусор всех материалов, не пластик: только в эксперименте на снимках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Детектор: класс Marine Debris MARIDA = любой плавающий мусор; пластик отдельно он не выделяет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шт./км² — медиана C профиля S2 (диапазон 4.3–222.7)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configs/case_selection.yaml; README.md §1; reports/report.md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04 · Данные и отбор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Из 935 строк реестра в профиль S2 входят 63: у каждого отказа записана причина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935 строк, 56 полей, 318 событий из 4 источников (S1 181, S2 63, S3 41, S4 33)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Принято: S2 — 63, S1 — 83; категории не суммируем (пусто ≠ 0)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Поля-утечки (concentration_*, items_count, reported_* …) не бывают признаками: тесты портят их и проверяют, что прогноз не меняется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Причина отказа (профиль S2)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Строк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объектная строка — предмет, а не плотность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пластика, не суммарный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321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суммарный пластик другого профиля (трал S1)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all_litter — весь мусор, не пластик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74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категория промыслового мусора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аэросъёмка S1 &gt; 50 см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итого отказов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872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src/macroplastic/case/selection.py; reports/case_splits/selection_*[_rejected].csv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0:52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05 · Реестр пар и окно синхронизации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318 событий → 29 по метаданным → 12 по маскам → 0 синхронных с учётом дрейфа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Для пластика снимков нет: S1 и S2 — открытый океан 2015 г., Sentinel-2A снимает с конца июня 2015 (S1 — 0 сцен в ±5 сут, S2 — 1)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Дрейф: при типичных 0.2 м/с вода смещается на 23.4 км (медиана) — допуск 3 км держит только |dt| ≤ 4.2 ч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Маски в полосе: блик 10, облака 6 (у 4 флаг QA Landsat сомнителен), покрытие 1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Реестр: строка на каждое из 318 событий, этап отказа и все причины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События, у которых остаётся пара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все события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|dt| ≤ 1 сут, облачность ≤ 60 %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207887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28520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маски качества в полосе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86022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665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дрейф ≤ допуска (0.2 м/с)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36576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7208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reports/case_pairs/summary.md, quality.md; data/case/run/registry_pairs.csv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06 · Как мы искали 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Пайплайн поиска данных: 318 событий CSV → пар уровня A 0; в найденных нами данных ADIS — 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Уровни: A — снимок и полевое число связаны по времени, месту, площади и категории; B — подтверждённая разметка скопления; C — кандидат; D — отвергнутый или отрицательный пример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учим только на B + проверенных D; «снимок → шт./км²» — только на A; C меткой не становится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Пластик: снимка нет у 62 из 63 событий Саргассова моря, у S1 датчики не видят предметы; Северное море — облака 21, маршрут вне снимка 29; Чёрное море — C 8 (время и площадь трансект не опубликованы)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Стоп-правило: нет A за пилот — поиск по дрейфу не расширяем. Нашли ADIS (The Ocean Cleanup): 177 отрезков → A 66, C 3, D 108</a:t>
            </a:r>
          </a:p>
        </p:txBody>
      </p:sp>
      <p:pic>
        <p:nvPicPr>
          <p:cNvPr id="5" name="Picture 4" descr="05_funn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209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901183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Воронка «событие → снимок → маски → синхронность»; каждая попытка — docs/SEARCH_LOG.md, хронология — docs/PIPELINE.md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docs/PIPELINE.md; docs/SEARCH_LOG.md; reports/search/*_candidates.csv (final_numbers → case.sections.search)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07 · Пары уровня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66 пар A: при 3.5–4.4 шт./км² на снимке 0 пикселей — это предел обнаружения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ADIS: камера судна, счёт предметов по размерам, время GPS; |dt| ≤ 3 ч; ≈ 52 независимых проходов, время у 26 пар подтверждено самим судном на снимке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оценивается на 28 парах A (на 38 — низкое солнце или слабый сигнал воды)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 6 парах с предметами детектор дал 0 пикселей в полосе и 0 в полосе, сдвинутой на дрейф; из них оцениваемых 3 — тоже 0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Доля покрытия предметами ≈ 6.6·10⁻⁸; крупнейший предмет — 0.7 % пикселя: Sentinel-2 такие предметы не видит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Ложные при полевом нуле (25 пар): ветер &lt; 7 м/с — 0 пикселей на 9.5 км²; сильнее — 1 на 8.8 км², в зоне 0.16 объекта/км² (барашки)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Вывод: калибровку «снимок → шт./км²» на них не построить — нужно 4–12 пар A с ненулевым сигналом, есть 0; со снимка — только доля покрытия подозрительного материала</a:t>
            </a:r>
          </a:p>
        </p:txBody>
      </p:sp>
      <p:pic>
        <p:nvPicPr>
          <p:cNvPr id="5" name="Picture 4" descr="06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132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1892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Пара A, Средиземное море: судно-съёмщик видно на снимке в конце полосы скана (пурпур) — время подтверждено; детектор в полосе пикселей не дал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reports/search/adis_candidates.csv, reports/search/adis.md (final_numbers → case.sections.adis_pairs)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1:51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08 · Новые размеченные данные B/D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Новые данные: B — 65 съёмок и 14374 нитей Cózar, D — 2094 судов и облака; утечек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B: PLP 38 съёмок (мишени), FloatingObjects 27 съёмок (25 регионов), Cózar 2024 — 14374 окон на 4435 съёмках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D: суда у Финляндии — 2094 рамок, 18 съёмок; облака — 28 сцен; отклонено источников 13 (у каждого причина)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Утечки: та же съёмка или те же пиксели с MARIDA, MADOS и нашими сценами — 0; по содержимому 0 из 119; исключён 1 дубль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Детектор без дообучения на L2A: нити Cózar 36 %, Refined 2.8 % пикселей; ложные на судах 25.9 %; облака — 4 пикс.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Дообучение на B + D по правилу, записанному заранее: принято 0 из 11 — в сервисе weights/lgbm; U-Net MARIDA на test 0.501 против 0.871 (приложение)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691640"/>
          <a:ext cx="534923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407"/>
                <a:gridCol w="1176832"/>
              </a:tblGrid>
              <a:tr h="329183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Набор (уровень)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Детектор</a:t>
                      </a:r>
                    </a:p>
                  </a:txBody>
                  <a:tcPr marL="73152" marR="73152" marT="27432" marB="27432">
                    <a:solidFill>
                      <a:srgbClr val="5B6370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Cózar, нити (B), из 234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85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PLP, пластик (B), %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0.9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Суда (D), ложные рамки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EEEFF1"/>
                          </a:solidFill>
                          <a:latin typeface="Segoe UI"/>
                        </a:rPr>
                        <a:t>543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Облака (D), ложные пикс.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EEFF1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1B1E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reports/extra_data/registry*.csv, fp_current_detector.json (final_numbers → case.sections.labeled_data)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09 · Детектор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Детектор: F1 0.871 на test MARIDA; на снимках пар — 5 объектов, в полосах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LightGBM, порог 0.63 с val; test MARIDA посчитан один раз: ΔF1 к RF 0.100 [0.049; 0.150]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MARIDA test: на саргассуме и мутной воде ложных 0 (FDI × NDVI помечает 46 % саргассума); ошибки — суда 27 и органика 21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Снимки пар (L2A): гармонизация каналов выключена по MARIDA val — F1 0.923 без сдвига против 0.897 со сдвигом, Δ −0.025 [−0.072; −0.013]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Сейчас: 5 объектов на 22 сценах, в полосах 0; вне полосы HE460 т.03 — 1 судно (верное срабатывание на сложном фоне) и 4 одиночных пикселя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Прежний режим (с гармонизацией) — основание отказа: 975 объектов, вероятное скопление по виду у 1.7 % [0.0; 5.0]; размечал ИИ-агент, один аннотатор, κ 0.77 — его же слепой повтор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6375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reports/case_detector/compare.md; reports/case_pairs/visual_review.md; docs/DECISIONS.md (final_numbers → case.detector_current)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2:39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10 · Концентрация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C = N/A сошлась с опубликованной у 467 из 467 строк; на отложенном test модель не лучше медианы — на карте медиана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Контроль: 12 / 0.20 км² = 60.0 шт./км², 95 % ДИ Пуассона 31.0–104.8; C = N/A совпала с опубликованной у 467 из 467 строк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Сплит: 5 участков маршрута + буфер 1 сут; протокол и правило выбора записаны до CV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Dev CV S2: ridge_log 28.5 против медианы 44.2, ΔMAE [−31.6; −0.3] — слабый выигрыш (с Бонферрони [−38.7; 7.3])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Отложенный test (25.09.2026 19:15, один раз): S2 30.0 против 25.2 (основная модель не лучше медианы); S1 370.0 против 371.1 (разницы с медианой нет)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S2, отложенный test (14 событий): MAE, шт./км²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ridge_log (основная)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227959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232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30.0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медиана dev (на карте)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914863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35496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25.2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1AC"/>
                </a:solidFill>
                <a:latin typeface="Segoe UI"/>
              </a:rPr>
              <a:t>ΔMAE +4.8 [−1.6; +12.9] — ДИ содержит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reports/case_conc/dev_cv.json, final_test.json; configs/case_selection.yaml: final_test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11 ·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Карта говорит то же, что отчёт: 29 полос-кандидатов, 0 подтверждённых пар, концентрация по снимку недоступна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Три слоя: полевые измерения (шт./км² с интервалом Пуассона) · снимки-кандидаты (полосы обследования) · подозрительные пиксели детектора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Два статуса полосы: детекция («связь не подтверждена» + причина) и концентрация («недоступна»)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Реестр пар, выгрузка GeoJSON/CSV, сохранённые запросы; самопроверка API ↔ выгрузка: 284 из 284, ошибочные входы 46/46, p95 ≤ 104 мс</a:t>
            </a:r>
          </a:p>
        </p:txBody>
      </p:sp>
      <p:pic>
        <p:nvPicPr>
          <p:cNvPr id="5" name="Picture 4" descr="02_zone_he460_t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49240" cy="36564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348082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Северное море, HE460 трансекта 03: связь с полем не подтверждена (дрейф &gt; допуска), подозрительных пикселей в полосе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service/routes_v3.py; reports/selfcheck/consistency_latest.json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12 · Собственный вклад и ключевые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Наш вклад — решения, каждое проверено экспериментом или записано до результата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Реестр пар с допуском по дрейфу вместо «±1 сут»: 29 пар по метаданным → 0 синхронных; причины у каждого из 318 событий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Сплит по участкам маршрута + буфер: на «связных компонентах» kNN выигрывал −11.6 [−23.1; −0.9], на маршруте −4.2 [−12.0; 3.4] — утечка через соседей дня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Отложенный test один раз: правило «не лучше медианы → медиана» записано 25.09.2026 19:05, test открыт 25.09.2026 19:15 — на карте медиана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Отказ от гармонизации L2A по MARIDA val (F1 0.923 против 0.897), test не использовался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Геометрия трансект по первоисточникам PANGAEA: 104 события, 4 прерванные — двумя сегментами; окно синхронизации |dt| ≤ 4.17 ч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Один источник чисел: final_numbers.json → README, отчёт, дека, речь, ответы; тест сверяет (242 passed)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EEEFF1"/>
                </a:solidFill>
                <a:latin typeface="Segoe UI"/>
              </a:rPr>
              <a:t>• Готовое, не наше: разметка MARIDA и MADOS, протокол RandomForest MARIDA, индекс FDI, каталоги STAC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reports/case_pairs/summary.md; reports/case_conc/metrics.json; configs/case_selection.yaml; docs/DECISIONS.md; reports/case_geometry/summary.md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3:47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13 · Ограничения и развитие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Ограничения названы на карте и в отчёте; развитие — синхронные пары и больше рейсов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Перенос «снимок → шт./км²» не доказан: синхронных пар нет, для пластика снимков нет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Мало независимых данных: S2 — один рейс, 26 дней; интервалы недопокрывают (84 % и 74 % вместо 90 %)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Test не абсолютно нетронутый: ранняя разведка бейзлайнов видела все события профиля (записано до открытия)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Детектор на L2A пар по разметке не измерен; порог блика не калибровался на этих сценах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Дальше: трансекты под пролёт с записанным временем (≈ 33 пар), больше рейсов и сезонов, ERA5 для дрейфа, разметка скоплений на L2A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reports/report.md §8–9; README.md «Ограничения»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14 · Воспроизводимость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Одна команда, 7.7 с без сети; чистый клон до карты — 7,5 мин, числа совпали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Одна команда: run.ps1 -Case all -Offline (CSV → отбор → пары → маски → детектор → метрики → выгрузка)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24 выходные таблицы с одинаковыми sha256 при повторе; отпечаток fccf808a8817d7c4…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Чистый клон: клон 76 с, установка и маршрут 3 мин 17 с, карта 8,1 с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Тесты кейса (26.09.2026 03:52): 242 passed, 2 skipped, 0 failed; числа документов сверяет тест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7,5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от git clone до карты на экране,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reports/selfcheck/clean_clone_1941.md; reports/case_run/run_summary.json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4:28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15 · Приложение · Детектор v2 и бейзлайны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Дообучение на B + D: принято 0 из 11 вариантов; U-Net MARIDA на test — F1 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Правило принятия записано до экспериментов: ΔF1 val ≥ 0.01 и не хуже на B и D; 3 seed; test не читался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ΔF1 val от −0.031 до 0.002 — в сервисе остаётся weights/lgbm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Компромисс: D судов — ложные на судах 26 % → 4 %, но нити Cózar 36 % → 27 %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U-Net MARIDA (официальные веса): LightGBM лучше на 0.370 [0.215; 0.481], в 13 из 15 сцен; на снимках пар U-Net — 253 объектов «соль-перец», в полосах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91640"/>
            <a:ext cx="534924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1AC"/>
                </a:solidFill>
                <a:latin typeface="Segoe UI"/>
              </a:rPr>
              <a:t>F1 Marine Debris, test MARIDA (15 сцен)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4884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LightGBM (основной)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7480" y="2212848"/>
            <a:ext cx="1985530" cy="274320"/>
          </a:xfrm>
          <a:prstGeom prst="rect">
            <a:avLst/>
          </a:prstGeom>
          <a:solidFill>
            <a:srgbClr val="D99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06163" y="214884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0.871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RandomForest, протокол MARIDA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7480" y="2715768"/>
            <a:ext cx="1757570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8203" y="265176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0.771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5468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U-Net MARIDA, веса авторов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7480" y="3218688"/>
            <a:ext cx="1142079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62711" y="315468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0.501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21552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окно FDI × NDVI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7480" y="3721608"/>
            <a:ext cx="95743" cy="274320"/>
          </a:xfrm>
          <a:prstGeom prst="rect">
            <a:avLst/>
          </a:prstGeom>
          <a:solidFill>
            <a:srgbClr val="5B6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375" y="3657600"/>
            <a:ext cx="82296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EEFF1"/>
                </a:solidFill>
                <a:latin typeface="Segoe UI"/>
              </a:rPr>
              <a:t>0.042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reports/detector_v2/experiments.md, unet_test.json; configs/detector_v2_eval.yaml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16 · Приложение · Количество: поле и снимок раздельно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EEEFF1"/>
                </a:solidFill>
                <a:latin typeface="Segoe UI"/>
              </a:rPr>
              <a:t>Количество раздельно: поле — шт./км², снимок — доля покрытия; калибровки нет, нужно 4–12 пар A с сигналом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Поле (измерение): S2 ΣN/ΣA = 697 / 12.94 км² = 53.9 [49.9–58.0]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Снимок: доля покрытия подозрительного материала, м²/км² пригодной воды; медиана на 64 живых сценах 3.2; это не мусор и не шт./км²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Калибровка ln C = ln k + b · ln S требует пар A с ненулевым сигналом — их 0; в 11 полосах CSV сигнал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Нужно: k в пределах ×/÷2 — 4–12 пар с сигналом; для связи r = 0.5 — 30 пар; обследований в 3.5 раза больше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«Площадь / размер = штуки» — только сценарий: 200 м² маски = 160–500000 предметов; массу не оцениваем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4–12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пар A с ненулевым сигналом нужно для калибровки (есть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reports/quantity/*.json, docs/QUANTITY.md (final_numbers → case.sections.quantity)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17 · Приложение · Нефтяное пятно —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Нефть: на MADOS F1 0.733 против OSI 0.324, но разлив Wakashio не найден — слой выключен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Отдельная голова на MADOS, сплит по сценам заморожен до обучения; val F1 0.888, test один раз 0.733 [0.612; 0.947]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Контроль на реальном L2A: Wakashio 2020-08-11 — 0.17 км² мелких пятен (пятно в лагуне не найдено), 2020-08-16 — 62.41 км² ряби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Честный отказ: это не детектор нефти на L2A; слой «эксперимент», выключен по умолчанию; единица — площадь, не объём и не масса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выкл.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слой «Нефтяное пятно» — эксперимент; для нефти обычно нужен радар Sentinel-1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reports/oil/test.json, control.json; docs/OIL.md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18 · Приложение · Эксперимент «снимок vs all_litter»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Связь признаков снимка с полевой плотностью всего мусора не установлена: данных на это мало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11 пар S2 прошли маски, независимых групп «район × день» — 6; эталон — весь мусор, не пластик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FDI в полосе: ρ −0.75 [−1.00; −0.14], p Холма 0.12; та же полоса в случайной воде сцены — −0.52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Значит, связь на уровне сцены или дня, а не места; знак к тому же обратный ожидаемому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Мощность: при 6 группах видна только |ρ| ≥ 0.96; для ρ = 0.5 нужно ≈ 33 независимых пар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49240" cy="1554480"/>
          </a:xfrm>
          <a:prstGeom prst="rect">
            <a:avLst/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783080"/>
            <a:ext cx="48006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D9912E"/>
                </a:solidFill>
                <a:latin typeface="Segoe UI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606040"/>
            <a:ext cx="4800600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EEFF1"/>
                </a:solidFill>
                <a:latin typeface="Segoe UI"/>
              </a:rPr>
              <a:t>независимых синхронных пар нужно, чтобы увидеть ρ = 0.5 (есть 6 групп)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reports/case_pairs/experiment.md, experiment.json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9912E"/>
                </a:solidFill>
                <a:latin typeface="Segoe UI"/>
              </a:rPr>
              <a:t>19 · Приложение · Дополнительные функции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EEFF1"/>
                </a:solidFill>
                <a:latin typeface="Segoe UI"/>
              </a:rPr>
              <a:t>«Подобрать снимок»: из правила дрейфа — инструмент планирования полевых работ под пролёт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5577840" cy="4572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Окно синхронизации |dt| ≤ 4.17 ч; наивное окно ±1 сут даёт 29 «пар», синхронных 0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Чёрное море без времени трансект: 12 событий получают окно UTC, у 8 полоса чистая по маскам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Прогноз пролётов на архиве совпал с реальной съёмкой в 82 из 88 случаев (±5 мин)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EEEFF1"/>
                </a:solidFill>
                <a:latin typeface="Segoe UI"/>
              </a:rPr>
              <a:t>• Геометрия трансект по PANGAEA: 104 события S2/S3, 108 сегментов; 4 прерванные трансекты — двумя сегментами</a:t>
            </a:r>
          </a:p>
        </p:txBody>
      </p:sp>
      <p:pic>
        <p:nvPicPr>
          <p:cNvPr id="5" name="Picture 4" descr="04_pairfinder_trans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726" y="1645920"/>
            <a:ext cx="4321386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715000"/>
            <a:ext cx="53492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A1AC"/>
                </a:solidFill>
                <a:latin typeface="Segoe UI"/>
              </a:rPr>
              <a:t>Саргассово море, T18: прерванная трансекта (2 сегмента) и «Подбор снимка» — сцен в окне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Источник: docs/EXTRA_FEATURES.md; reports/case_pairfinder/evidence.md; reports/case_geometry/summary.md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355080"/>
            <a:ext cx="6400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A1AC"/>
                </a:solidFill>
                <a:latin typeface="Segoe UI"/>
              </a:rPr>
              <a:t>прил.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