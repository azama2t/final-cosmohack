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[0:00–0:21] Задача — сколько плавающего пластика в море, в штуках на квадратный километр. Пользователь — эколог: он видит находки на карте, открывает зону на снимке, сверяет с полем и выгружает результат. Целевая величина — это материал, размер и единица вместе; профили разных методов мы не смешиваем.</a:t>
            </a:r>
          </a:p>
          <a:p/>
          <a:p>
            <a:r>
              <a:t>Если спросят: Основной профиль — S2: суммарный пластик &gt; 2 см, визуальный учёт с судна, 63 события. S1 — трал 5–50 см, только полевая проверка. S3/S4 — весь мусор, не пластик. ADIS — камера судна, объекты детектора ADIS &gt; 10 см, камера судна (7 % — животное/растение по классу модели).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[0:21–0:43] Мы искали пары «снимок плюс полевой счёт». Из 318 событий CSV синхронных с учётом дрейфа — 0. В открытых данных ADIS нашли 66 пар по месту и времени, но предметы там меньше пикселя. Калибровочных пар — 0; у авторов крупнейшего набора полос, Cózar 2024, тоже только искусственные мишени.</a:t>
            </a:r>
          </a:p>
          <a:p/>
          <a:p>
            <a:r>
              <a:t>Если спросят: Цитата полностью: «The current matching of satellite detections and field observations is limited to fake targets (artificial LWs), and reports of dense LW sightings» — Cózar et al. 2024, Nat Commun, раздел «A new scenario for research and management» (PMC11178853), doi 10.1038/s41467-024-48674-7. На 6 синхронных отрезках ADIS с единичными предметами детектор предметы не увидел; это согласуется с физикой (доля покрытия ≈ 6.6·10⁻⁸), но не задаёт общий предел для всех скоплений.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[0:43–1:04] Поэтому решение — лестница единиц. На фото счётчик считает предметы. Если известна площадь кадра — это плотность. По маршруту судна — штуки на квадратный километр. Со спутника — место и площадь зоны. У каждой ступени своя проверка, и без калибровки мы между ними не прыгаем.</a:t>
            </a:r>
          </a:p>
          <a:p/>
          <a:p>
            <a:r>
              <a:t>Если спросят: Сквозной путь в сервисе: спутник находит зону → детальное фото над ней → счётчик → шт./км² кадра → сверка с полем.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[1:04–1:23] Первая ступень со спутника — детектор скоплений. Пиксельный LightGBM на test MARIDA даёт F1 0.871: RandomForest по протоколу авторов — 0.771, их U-Net — 0.501. Порог выбран на val, test посчитан один раз. Класс — любой плавающий мусор, не только пластик.</a:t>
            </a:r>
          </a:p>
          <a:p/>
          <a:p>
            <a:r>
              <a:t>Если спросят: Ошибки: из 75 ложных 64 % — суда и природная органика. Дообучение: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[1:23–1:45] Главная трудность — сложный фон. Если учить на естественных нитях, полнота растёт до 97 процентов, но пена и суда тоже становятся мусором. Добавим суда как отрицательные — теряются нити. Правило, записанное заранее, не прошёл ни один вариант, поэтому в сервисе прежний детектор, а суда мы отсеиваем фильтрами.</a:t>
            </a:r>
          </a:p>
          <a:p/>
          <a:p>
            <a:r>
              <a:t>Если спросят: Нить — хотя бы один пиксель детектора на окне нити каталога Cózar 2024; суда — рамки судов (D); пена — окна пены. Test MARIDA при подборе не читался.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[1:45–2:06] Главный количественный результат — по полю: C равно N на A. Для пластика S2 — 53.9 штуки на квадратный километр, 95 процентов по дням рейса — от 39.7 до 70.4. На отложенном test модели не лучше медианы — 30.0 против 25.2, поэтому на карте медиана.</a:t>
            </a:r>
          </a:p>
          <a:p/>
          <a:p>
            <a:r>
              <a:t>Если спросят: Интервал Пуассона [49.9–58.0] — только ошибка счёта; разброс между днями (sd ln C ≈ 0.46) он не учитывает. Одно новое место: 10.0–160.3 шт./км². ADIS: модели по регионам не лучше медианы (ни один кандидат (B1, M1, M2) не прошёл правило на val в обеих схемах → медиана профиля остаётся). Калибровка авторов ADIS — de Vries et al. 2026, Environ. Res. Commun., doi 10.1088/2515-7620/ae8152, типичный интервал отрезка 1.1–18.7; наше число без поправки не заменяем.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[2:06–2:24] Штуки видно только на детальном фото. Счётчик предметов ошибается на 0.59 предмета на кадр на отложенных сессиях съёмки, медиана без модели — 2.86. Если площадь кадра известна, как у аэросъёмки, получаем штуки на квадратный километр. Состав по материалам не выдаём.</a:t>
            </a:r>
          </a:p>
          <a:p/>
          <a:p>
            <a:r>
              <a:t>Если спросят: FML (камера у воды, FML — CC BY (SEANOE doi:10.17882/106148)): mAP@0,5 0.914, точное число у 64 % кадров. Аэро: Winans 2023 (аэро, берег/мелководье), GSD 0.02 м, 397 отложенных кадров, ошибка числа 1.85 шт./кадр (Winans 2023 — CC BY (Zenodo 8381113)). Это отдельный модуль, не спутник.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[2:24–2:44] Теперь спутник на сцене, которую модель не видела. На отложенной сцене 30SXE 14 из 23 зон совпали с нитями, найденными людьми. У зоны — площадь, доля покрытия и статус; суда, пена, блик и сильный ветер — «недостаточно данных». Штук по снимку не выдаём.</a:t>
            </a:r>
          </a:p>
          <a:p/>
          <a:p>
            <a:r>
              <a:t>Если спросят: Сцена S2B_30SXE_20210311_0_L2A: в MARIDA того же тайла нет, MADOS по содержимому — no match; ветер 2.5 м/с. Пример зоны SZ-demo-cozar-2021-03-11-016: 4.18 км², вероятность 0.87, модель sha256 0eeebf43fccc.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[2:44–3:15] Как мы всё-таки получаем штуки по снимку. На мишенях PLP из бутылок детектор срабатывает, когда в пикселе 470–670 бутылок. Отсюда сценарий: пиксели зоны, умноженные на это число, делённые на площадь. Медиана по находкам — около 32000 штук на квадратный километр, если бы это были бутылки. Это сценарий по искусственным мишеням: для природного мусора не проверен, и на природной паре ISPRA посчитанные предметы лежат не там, где пиксели детектора.</a:t>
            </a:r>
          </a:p>
          <a:p/>
          <a:p>
            <a:r>
              <a:t>Если спросят: Метод: исследовательский сценарий: калибровка на искусственных мишенях PLP (бутылки PET 1.5 л). Протокол ISPRA MSFD Modulo 2bis: предметы 2.5–50 см, ширина полосы в файле 2019 г. не записана, часовой пояс не указан — пара не калибровочная. Точек калибровки 2 (по пикселю на дату). Почему это не интервал: пиксели ниже порога не учтены, а мелкие предметы дали бы больше штук. Почему не сравнивать с полем: поле — средняя по километрам маршрута и предметы &gt; 2 см, здесь — плотность внутри нити в пересчёте на бутылки.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[3:15–3:37] Сервис. Кнопка «Демо ▶» проводит по пяти шагам на реальной сцене Альборана: снимок, зона, качество, итоговый статус, выгрузка. Та же полоса шагов ведёт свой поиск: район и даты, снимок, зона. В карточке зоны — что это, статус и подтверждение, откуда каждое число; количество по снимку не определено.</a:t>
            </a:r>
          </a:p>
          <a:p/>
          <a:p>
            <a:r>
              <a:t>Если спросят: Показ вживую — docs/DEMO.md; запасное видео — presentation/demo.mp4. Полевые шт./км² другого места не выдаются за плотность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[3:37–3:54] Режим «Фото» открывается с готовым примером: рамки и число предметов, а при известной площади кадра — штуки на квадратный километр. У каждого числа подписан источник. Выгрузка GeoJSON и CSV совпадает с картой, запрос можно сохранить и повторить.</a:t>
            </a:r>
          </a:p>
          <a:p/>
          <a:p>
            <a:r>
              <a:t>Если спросят: Выгрузка сверяется тестом: UI 23, CSV 23, GeoJSON 23 строк.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[3:54–4:18] Что мы не утверждаем. Штуки по снимку — только исследовательская оценка, природных калибровочных пар ноль. Пластик по снимку — нет, детектор видит любой мусор и путает суда. Предел обнаружения не доказан. При сильном ветре — «недостаточно данных». Поле — один рейс, а счётчик по фото без дообучения на реку не переносится.</a:t>
            </a:r>
          </a:p>
          <a:p/>
          <a:p>
            <a:r>
              <a:t>Если спросят: Test концентрации не абсолютно нетронутый: ранняя разведка бейзлайнов (baseline_concentration.py, run_all шаг 4: median/mean/kNN) видела все события профиля, включая будущий test; test не абсолютно нетронутый — указывается как ограничение. Порог ветра — 5 м/с из Methods Cózar 2024, не подбирался.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[4:18–4:32] Развитие — замкнуть лестницу. Спутник находит зону, над ней делается детальный снимок с дрона, счётчик даёт штуки на квадратный километр, их сверяем с полем. Для калибровки хватит 4–12 таких пар.</a:t>
            </a:r>
          </a:p>
          <a:p/>
          <a:p>
            <a:r>
              <a:t>Если спросят: Проверено: доступа к VHR над положительными отрезками ADIS в тот же день нет; поэтому это следующий шаг, а не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[4:32–4:45] Всё воспроизводится одной командой без сети за 7.5 секунды, чистый клон до карты — 7,5 минуты, числа в README, отчёте и этой презентации сверяет тест. Спасибо, готовы к вопросам.</a:t>
            </a:r>
          </a:p>
          <a:p/>
          <a:p>
            <a:r>
              <a:t>Если спросят: Тесты кейса (26.09.2026 18:24): 255 passed. Приложение — подробные слайды для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Пар по месту и времени — 66, но это не калибровочные пары: на 6 отрезках с предметами детектор их не увидел, предмет меньше процента пикселя. Калибровочных пар «снимок — штуки» 0: мы проверили 318 событий CSV и 177 синхронных отрезков ADIS. У авторов крупнейшего набора полос тоже: «The current matching of satellite detections and field observations is limited to fake targets» (Cózar и др., 2024, doi 10.1038/s41467-024-48674-7).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перевода в штуки нет, калибровочных пар ноль, калибровка по ячейкам дала отрицательный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Наш вклад — решения, которые защищают выводы от самообмана. Допуск по дрейфу в реестре пар, сплит по участкам маршрута,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5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Задача и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Сколько плавающего пластика в море: шт./км² — по полю, место скопления — по снимку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шт./км²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целевая единица: материал + размерный класс + единица — профили не смешиваем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31546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Пользователь — эколог по мониторингу: карта находок → зона на снимке → полевое число рядом → выгрузка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Детектор (класс Marine Debris MARIDA) видит любой плавающий мусор, не только пластик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92040" y="1600200"/>
          <a:ext cx="6857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60"/>
                <a:gridCol w="12344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Профиль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Что считаем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Событий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 Саргассово,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&gt; 2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 GPGP, трал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5–50 см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S3 / S4, с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весь мусор &gt; 2 см / &gt; 2.5 см — не пластик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41 · 33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ADIS, камера судна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все плавающие предметы &gt; 10 см (не только пластик)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20836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92040" y="5029200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основная целевая величина — суммарный пластик S2, шт./км²; весь мусор S3/S4 — только для экспериментов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reports/quantity/*.json (final_numbers → case.sections.quantity.profiles)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Данные и воронка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318 событий CSV → 0 синхронных пар; калибровочных пар «снимок → шт./км²» —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9912E"/>
                </a:solidFill>
                <a:latin typeface="Segoe UI"/>
              </a:rPr>
              <a:t>318 → 29 → 12 →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события CSV → по дате и облакам → по маскам качества → синхронно с учётом дрейфа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108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92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пар по месту и времени ADIS (камера судна); видимый сигнал — 0 из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2148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7984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пар; для коэффициента в ×/÷2 нужно 4–12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4160520" cy="6857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Cózar и др., 2024: «The current matching of satellite detections and field observations is limited to fake targets»</a:t>
            </a:r>
          </a:p>
        </p:txBody>
      </p:sp>
      <p:pic>
        <p:nvPicPr>
          <p:cNvPr id="11" name="Picture 10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4439" y="1600200"/>
            <a:ext cx="655320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для пластика снимков в окне нет, а где снимок и счёт совпали — предметы меньше пикселя; калибровать не на чем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docs/img/funnel.png; reports/search/*.md; reports/case_pairs/summary.md (final_numbers → case.pairs, case.sections.search)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Решение: лестница единиц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Решение — лестница единиц: предмет на фото → плотность на кадре → шт./км² маршрута → зона на снимке</a:t>
            </a:r>
          </a:p>
        </p:txBody>
      </p:sp>
      <p:pic>
        <p:nvPicPr>
          <p:cNvPr id="4" name="Picture 3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11247120" cy="3792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38286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каждой ступени своя проверка и своя метрика; между ступенями без калибровки не переходим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docs/img/units_ladder.png (final_numbers → case.sections.photo_count, quantity, scene_zones)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Детектор скоплений по Sentinel-2: F1 0.871 на test MARIDA — лучше RandomForest, U-Net авторов и индексов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0.871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F1 на test MARIDA [0.823; 0.920], 15 сцен, test один раз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+0.100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 RandomForest по протоколу MARIDA [0.049; 0.150]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Дообучение на новых B/D: 13 вариантов — правило, записанное заранее, не прошёл ни один; остаётся weights/lgbm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600200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05740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(наш)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121408"/>
            <a:ext cx="274772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93278" y="20574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60320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624327"/>
            <a:ext cx="2432258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10" y="256032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06323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127247"/>
            <a:ext cx="1580494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26046" y="306323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566159"/>
            <a:ext cx="278892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630167"/>
            <a:ext cx="132496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8048" y="3566159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4114799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Вывод: на том же test пиксельный LightGBM лучше всех бейзлайнов; пороги индексов с val не переносятся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reports/case_detector/compare.md, metrics.json; reports/detector_v2/unet_test.json, decision.json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Сложный фон: нити, пена и суда спектрально близки — выигрыш на одном ломает другое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97 %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полнота на нитях Cózar, если учить на естественных скоплениях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50/50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ложных на пене у того же варианта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1600200"/>
          <a:ext cx="6858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В сервисе: weights/lgbm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+ суда как отрицательные D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92040" y="374903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правило принятия не прошёл ни один вариант — оставили прежний детектор и назвали его слабость (суда)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decision.json; configs/detector_v2_eval.yaml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Концентрация по полю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Главный количественный результат: 53.9 шт./км² [39.7–70.4] — пластик S2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суммарный пластик &gt; 2 см: 697 шт. / 12.94 км²; 95 % по дням рейса [39.7–70.4]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1.54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шт./км², ADIS: все предметы &gt; 10 см (не только пластик), измерение ΣN/ΣA [1.52–1.56]; калибровка авторов по тралу — 4.64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карте — медиана профиля 37.0 шт./км² (типичное событие); 53.9 — ΣN/ΣA всех событий; ошибка медианы на отложенном test — MAE 25.2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92040" y="1600200"/>
          <a:ext cx="6858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714500"/>
                <a:gridCol w="1714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Модель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Медиана</a:t>
                      </a:r>
                    </a:p>
                  </a:txBody>
                  <a:tcPr marL="73152" marR="73152" marT="36576" marB="36576">
                    <a:solidFill>
                      <a:srgbClr val="5B63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MAE (14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25.2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S1, MAE (19 событий)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370.0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371.1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EEFF1"/>
                          </a:solidFill>
                          <a:latin typeface="Segoe UI"/>
                        </a:rPr>
                        <a:t>S2, покрытие 90 %-интервала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71 %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EEEFF1"/>
                          </a:solidFill>
                          <a:latin typeface="Segoe UI"/>
                        </a:rPr>
                        <a:t>93 %</a:t>
                      </a:r>
                    </a:p>
                  </a:txBody>
                  <a:tcPr marL="73152" marR="73152" marT="36576" marB="36576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892040" y="4023359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модели не лучше медианы на отложенном test → на карте медиана профиля с честным интервалом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reports/case_conc/final_test.json; reports/quantity/field_intervals.md, adis_forecast.md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Счётчик предметов по фото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Счётчик по фото: ошибка 0.59 шт./кадр на отложенных сессиях; при известной площади — шт./км²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0.59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шт./кадр — ошибка числа, 1190 фото FML [0.54; 0.66]; медиана без модели — 2.86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11320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ошибка плотности на кадре 164 м² (аэро, берег); медиана — 27930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Состав: один класс «мусор» — по материалам не делим («состав не определён»)</a:t>
            </a:r>
          </a:p>
        </p:txBody>
      </p:sp>
      <p:pic>
        <p:nvPicPr>
          <p:cNvPr id="9" name="Picture 8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40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5693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штуки считаем там, где предмет виден — на фото; шт./км² — только при известной площади кадра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reports/photo_count/eval_grouped.json, area_winans.json; docs/PHOTO_COUNT.md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Спутниковые зоны на отложенной сцене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Отложенная сцена 30SXE (11.03.2021): 14 из 23 зон совпали с нитями Cózar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14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зон детектора совпали с разметкой Cózar (уровень B); сцена не участвовала в обучении и подборе порога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находок детектора на 75 сценах (14 совпали с Cózar; на снимках из обучения MARIDA не считаем — 1); ещё 180 — недостаточно данных или ложные, 28 — не обнаружено</a:t>
            </a:r>
          </a:p>
        </p:txBody>
      </p:sp>
      <p:pic>
        <p:nvPicPr>
          <p:cNvPr id="8" name="Picture 7" descr="26_sz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431" y="1600200"/>
            <a:ext cx="5767216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92040" y="5623559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снимок даёт место, площадь и статус зоны; количество предметов по снимку не определено; исследовательский сценарий — следующий слайд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data/case/scene_zones; reports/case_demo/heldout_check.json, demo_path.json (final_numbers → case.sections.scene_zones)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Как получаем шт./км² по снимку и насколько этому верить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шт./км² по снимку — исследовательский сценарий по искусственным мишеням PLP (2 даты): на природе не проверен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470–670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5856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бутылок PET 1.5 л на сработавший пиксель мишени PLP (2019-04-18, 2019-05-18) — допущение, не доверительный интервал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≈ 32000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21608"/>
            <a:ext cx="4160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сценария по 77 находкам (разброс 9100–130000), если бы это были предметы размера бутылки 1,5 л при покрытии 28–40 %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26280"/>
            <a:ext cx="4160520" cy="16916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C ≈ n_пикселей × [470; 670] / площадь зоны; зона 16: 691 пикс. на 4.18 км² → ≈ 92800 шт./км² (сценарий)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На оценщике «снимок → штуки» сценарий хуже ответа «0» — в карточке он свёрнут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• С полем (53.9 шт./км² — средняя по маршруту) напрямую не сравниваем</a:t>
            </a:r>
          </a:p>
        </p:txBody>
      </p:sp>
      <p:pic>
        <p:nvPicPr>
          <p:cNvPr id="9" name="Picture 8" descr="28_sce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00200"/>
            <a:ext cx="6858000" cy="38540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2040" y="5545693"/>
            <a:ext cx="68580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EEFF1"/>
                </a:solidFill>
                <a:latin typeface="Segoe UI"/>
              </a:rPr>
              <a:t>Вывод: порядок величины, не измерение; на природной паре ISPRA (16.09.2019) посчитанные с судна предметы не рядом с пикселями детектора — для природы не проверено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configs/zone_estimate.yaml; reports/count_datasets/115_bridge_s2.md (final_numbers → case.sections.scene_zones.research_estimate)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Сервис: путь эколога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Сервис: «Демо ▶» — Район и даты → Снимок → Зона → Качество и статус → Выгрузка</a:t>
            </a:r>
          </a:p>
        </p:txBody>
      </p:sp>
      <p:pic>
        <p:nvPicPr>
          <p:cNvPr id="4" name="Picture 3" descr="21_svc_ea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2606040" cy="1464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1. Район и даты: Земля и снимки «район · дата · находки · облачность»</a:t>
            </a:r>
          </a:p>
        </p:txBody>
      </p:sp>
      <p:pic>
        <p:nvPicPr>
          <p:cNvPr id="6" name="Picture 5" descr="28_sce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600200"/>
            <a:ext cx="2606040" cy="1464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3756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2. Снимок: зоны по номерам, площадь — оценка детектора</a:t>
            </a:r>
          </a:p>
        </p:txBody>
      </p:sp>
      <p:pic>
        <p:nvPicPr>
          <p:cNvPr id="8" name="Picture 7" descr="22_svc_c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00200"/>
            <a:ext cx="2606040" cy="1464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3137892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3. Зона: «Что это» → статус → подтверждение → «Количество … не определено»</a:t>
            </a:r>
          </a:p>
        </p:txBody>
      </p:sp>
      <p:pic>
        <p:nvPicPr>
          <p:cNvPr id="10" name="Picture 9" descr="27_svc_metric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606040" cy="29562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280" y="4629578"/>
            <a:ext cx="26060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4. Качество и статус: метрики и примеры верно / пропуск / судно / пена / анализ невозможен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кнопка «Демо ▶» проводит эколога по пяти шагам; пятый — выгрузка GeoJSON/CSV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presentation/img/*.jpg (presentation/make_shots.py, http://localhost:8070, 1920×1080, без фикстур); docs/DEMO.md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Сервис: фото, метрики, выгрузка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Фото, метрики, выгрузка: зоны отложенной сцены на карте = CSV = GeoJSON (23 = 23 = 23)</a:t>
            </a:r>
          </a:p>
        </p:txBody>
      </p:sp>
      <p:pic>
        <p:nvPicPr>
          <p:cNvPr id="4" name="Picture 3" descr="20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3566160" cy="20041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77459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«Фото»: рамки и число предметов, площадь кадра → шт./км²; состав не определён</a:t>
            </a:r>
          </a:p>
        </p:txBody>
      </p:sp>
      <p:pic>
        <p:nvPicPr>
          <p:cNvPr id="6" name="Picture 5" descr="27_svc_metr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8898" y="1600200"/>
            <a:ext cx="3143722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97680" y="5239512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«Метрики»: F1 детектора и отложенный test концентрации против медианы</a:t>
            </a:r>
          </a:p>
        </p:txBody>
      </p:sp>
      <p:pic>
        <p:nvPicPr>
          <p:cNvPr id="8" name="Picture 7" descr="24_svc_expo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600200"/>
            <a:ext cx="3566160" cy="20041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3677459"/>
            <a:ext cx="3566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Выгрузка GeoJSON/CSV того, что на карте; запросы сохраняются и повторяются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EEEFF1"/>
                </a:solidFill>
                <a:latin typeface="Segoe UI"/>
              </a:rPr>
              <a:t>Вывод: у каждого числа подписан источник — поле, фото, снимок или «нет данных»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presentation/img/*.jpg (presentation/make_shots.py, http://localhost:8070, 1920×1080); docs/CONTRACTS_V3.md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Ограничения: что мы НЕ утверждаем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EEFF1"/>
                </a:solidFill>
                <a:latin typeface="Segoe UI"/>
              </a:rPr>
              <a:t>Что мы НЕ утверждаем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шт./км² по снимку — не измерение: исследовательский сценарий по мишеням PLP, на природе не проверен; природных калибровочных пар 0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«Пластик» по снимку — нет: детектор видит любой плавающий мусор; суда — известная слабость (26 % судов)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Предел обнаружения не доказан: на 6 отрезках ADIS с единичными предметами детектор их не увидел — согласуется с физикой, но общий предел для всех скоплений не задаёт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Сильный ветер: «не обнаружено» → «недостаточно данных» (правило Cózar 2024)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Поле: S2 — один рейс; интервал одного нового места широкий (10–160 шт./км²)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EEFF1"/>
                </a:solidFill>
                <a:latin typeface="Segoe UI"/>
              </a:rPr>
              <a:t>• Счётчик по фото на реку и спутник без дообучения не переносится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«Ограничения»; reports/report.md; docs/QUANTITY.md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Развитие: спутник находит зону → детальный снимок над ней → счёт предметов → шт./км² → сверка с полем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4–12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калибровочных пар «снимок → шт./км²» хватит для коэффициента в ×/÷2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00200"/>
            <a:ext cx="548640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514600"/>
            <a:ext cx="50292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пар — чтобы увидеть связь r = 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Трансекты и пролёты дронов под пролёт Sentinel-2, время записано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Детальные снимки (дрон, VHR) над найденными зонами → счётчик → шт./км² кадра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Дообучить счётчик на реке и дронах; классы материалов — с матрицей ошибок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Больше рейсов и сезонов для поля; дрейф по течениям и ветру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docs/research/marine_quantity/DECISION.md; reports/quantity/calibration.json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Воспроизводимость, команда,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EEFF1"/>
                </a:solidFill>
                <a:latin typeface="Segoe UI"/>
              </a:rPr>
              <a:t>Одна команда без сети — 7.5 с; чистый клон до карты — 7,5 мин; числа из одного файла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7.5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run.ps1 -Case all -Offline, CPU, без сети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от git clone до карты на экране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600200"/>
            <a:ext cx="3566160" cy="173736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73736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D9912E"/>
                </a:solidFill>
                <a:latin typeface="Segoe UI"/>
              </a:rPr>
              <a:t>255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EEFF1"/>
                </a:solidFill>
                <a:latin typeface="Segoe UI"/>
              </a:rPr>
              <a:t>тесты кейса; skipped 2, failed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10881360" cy="2514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Репозиторий: github.com/azama2t/final-cosmohack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Все числа — reports/final_numbers.json; отпечаток прогона 278d93fb3390edeb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EEFF1"/>
                </a:solidFill>
                <a:latin typeface="Segoe UI"/>
              </a:rPr>
              <a:t>• Спасибо! Вопросы — в приложении и в presentation/qa.md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reports/case_run/run_summary.json; README.md «Как пересчитать»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Количество: поле и снимок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Штуки по снимку не показываем: перевод площади маски в штуки не показываем — нет калибровочных пар «снимок → шт./км²»; перевод «площадь / размер предмета» дал бы разброс в 3125 раз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Аналогия: пальмы на гектар по Sentinel-2 с опорой на подсчёт по снимкам высокого разрешения (arXiv 2105.11207): MAE ±7,3 пальмы/га. Для мусора — мусор дрейфует (часы между снимком и полем уже сдвигают поле), разнороден по размеру и материалу и занимает доли процента пикселя; поэтому калибровка по ячейкам требует независимой проверки — у нас она дала отрицательный результат: общих дат поле × спутник 0, климатологии ρ = 0.18 на 123 ячейках</a:t>
            </a:r>
          </a:p>
        </p:txBody>
      </p:sp>
      <p:pic>
        <p:nvPicPr>
          <p:cNvPr id="5" name="Picture 4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80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95326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Лестница единиц: предмет на кадре → шт./м² кадра → шт./км² маршрута → спутниковая зона; у каждой ступени своя 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21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22 · Приложение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23 · Приложение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24 · Приложение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25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26 · Приложение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(255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27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