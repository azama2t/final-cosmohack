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0:00–0:20</a:t>
            </a:r>
          </a:p>
          <a:p>
            <a:r>
              <a:t>Плавающий мусор в море со спутника — это пятна в один-два пикселя: медианное пятно в разметке MARIDA — 2 пикселя по 10 метров. Спутник не взвесит пластик. Но он может подсказать, куда в первую очередь отправить катер. Кейс просит найти пятна, дать показатель по акватории и сделать это быстро. Мы сделали все три.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0:20–0:40</a:t>
            </a:r>
          </a:p>
          <a:p>
            <a:r>
              <a:t>Данные. Размеченного мусора мало: в MARIDA всего 3 399 пикселей. Поэтому добавили MADOS — ещё 118 сцен, и выкинули из него 16 сцен, которые пересекаются с проверочной выборкой. Карту строим на 64 живых снимках Sentinel-2 в 18 районах, 52 из них — 2025–2026 годов.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0:40–1:05</a:t>
            </a:r>
          </a:p>
          <a:p>
            <a:r>
              <a:t>Метод. Пятно — два пикселя, контекста почти нет, решает спектр. Поэтому пиксельный LightGBM: каналы, индексы и статистики окна вокруг пикселя, всего 48 признаков. UNet мы обучили и сравнили по одному правилу: 0,891 против 0,923 у бустинга, UNet отклонён. MADOS принят: плюс 0,015 F1, и интервал по сценам выше нуля. [пауза]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1:05–1:35</a:t>
            </a:r>
          </a:p>
          <a:p>
            <a:r>
              <a:t>Качество — честно. На проверочной выборке MARIDA, это новые снимки тех же районов, модель находит 92 % размеченного мусора, и 93 % её находок верны. F1 0,923. Интервал по сценам — от 0,877 до 0,970: сцен мало, и мы это показываем. Самая строгая проверка — целый регион убран из обучения: F1 0,854. Столько и ждём на новом месте. Test MARIDA мы не открывали: он будет посчитан один раз, на финальной модели.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1:35–1:50</a:t>
            </a:r>
          </a:p>
          <a:p>
            <a:r>
              <a:t>Показатель на карте — доля видимой воды с признаками мусора, в промилле, по гексагонам H3 около 0,7 км². Ячейка, видимая меньше чем наполовину, — серая, «нет данных», а не ноль. Это индекс по снимку, не масса пластика. Покажу вживую. [Alt+Tab в браузер, пауза 2 с]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1:50–2:20</a:t>
            </a:r>
          </a:p>
          <a:p>
            <a:r>
              <a:t>[Обзор уже на экране] 18 районов, 64 даты, справа рейтинг «где искать в первую очередь». [клик: Мумбаи в надёжном рейтинге] Снимок Sentinel-2 от 01.01.2026, кольца — найденные пятна. На живых снимках L2A основной слой — открытая модель marinedebrisdetector, наша модель — второй слой. [клик по крупному пятну] Карточка находки: вырезка снимка, площадь помеченной области, уверенность модели.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2:20–2:45</a:t>
            </a:r>
          </a:p>
          <a:p>
            <a:r>
              <a:t>[Слои → Приоритет обследования → клик по зоне №1] Зоны — ответ на вопрос «куда плыть». Каждая объясняет, почему она первая: пиксели с признаками, умноженные на уверенность, повторяемость по датам и согласие моделей; снимок с дымкой или бликом получает половину балла, а шов детекторов, кильватер и суда в балл не входят. Двойное кольцо — уверенная находка: пятно видят две разные модели в радиусе 20 метров, таких 297 по всем датам. Это согласие моделей, не проверка на месте.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2:45–3:05</a:t>
            </a:r>
          </a:p>
          <a:p>
            <a:r>
              <a:t>[Слои → Дрейф 0→72 ч → ▶] Дрейф на 72 часа: OpenDrift, течения HYCOM, ветер GFS; сиреневое облако — разброс ветрового сноса. Это демонстрация, мы её не валидировали. [Alt+Tab в презентацию, набрать 9 и Enter]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3:05–3:35</a:t>
            </a:r>
          </a:p>
          <a:p>
            <a:r>
              <a:t>Скорость. 300 чипов с холодного старта — 5,7 секунды на GPU; на процессоре 21,7 секунды на 20 потоках и 37,9 на 8 — это честное ограничение: ускорения без потери качества на новом районе мы не нашли. Ваш датасет подключаем тремя командами. На репетиции с незнакомым архивом первый сабмит ушёл через 40 секунд после распаковки, а обучение на их train подняло скрытый F1 с 0,058 до 0,317.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3:35–4:00</a:t>
            </a:r>
          </a:p>
          <a:p>
            <a:r>
              <a:t>Итог. Модель находит 92 % мусора на новых снимках и держит F1 0,854 на невиданном регионе. Карта говорит, куда плыть, и объясняет почему. Дальше — разметка на L2A, больше дат на район и результаты обследований обратно в обучение. Спасибо, готовы к вопросам.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73152" cy="329184"/>
          </a:xfrm>
          <a:prstGeom prst="rect">
            <a:avLst/>
          </a:prstGeom>
          <a:solidFill>
            <a:srgbClr val="FF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9AAAC0"/>
                </a:solidFill>
                <a:latin typeface="Segoe UI"/>
              </a:rPr>
              <a:t>ЗАДАЧА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8EEF6"/>
                </a:solidFill>
                <a:latin typeface="Segoe UI"/>
              </a:rPr>
              <a:t>Спутник не взвесит пластик, но подскажет, куда отправить катер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71455" y="64465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1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Морской мусор · Sentinel-2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23160"/>
            <a:ext cx="47548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8800" b="1">
                <a:solidFill>
                  <a:srgbClr val="FF6B4A"/>
                </a:solidFill>
                <a:latin typeface="Segoe UI"/>
              </a:rPr>
              <a:t>2 пикс.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794760"/>
            <a:ext cx="47548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медианный размер пятна мусора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в разметке MARIDA (пиксель 10 м)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0" y="2240280"/>
            <a:ext cx="5760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9AAAC0"/>
                </a:solidFill>
                <a:latin typeface="Segoe UI"/>
              </a:rPr>
              <a:t>Кейс просит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52160" y="2788920"/>
            <a:ext cx="5760720" cy="777240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80760" y="2788920"/>
            <a:ext cx="4572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FF6B4A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788920"/>
            <a:ext cx="493776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E8EEF6"/>
                </a:solidFill>
                <a:latin typeface="Segoe UI"/>
              </a:rPr>
              <a:t>найти пятна мусора на снимке Sentinel-2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52160" y="3749040"/>
            <a:ext cx="5760720" cy="777240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80760" y="3749040"/>
            <a:ext cx="4572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FF6B4A"/>
                </a:solidFill>
                <a:latin typeface="Segoe U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3749040"/>
            <a:ext cx="493776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E8EEF6"/>
                </a:solidFill>
                <a:latin typeface="Segoe UI"/>
              </a:rPr>
              <a:t>показатель по акватории на карте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852160" y="4709160"/>
            <a:ext cx="5760720" cy="777240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80760" y="4709160"/>
            <a:ext cx="4572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FF6B4A"/>
                </a:solidFill>
                <a:latin typeface="Segoe U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709160"/>
            <a:ext cx="493776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E8EEF6"/>
                </a:solidFill>
                <a:latin typeface="Segoe UI"/>
              </a:rPr>
              <a:t>быстрый инференс на данных организаторов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73152" cy="329184"/>
          </a:xfrm>
          <a:prstGeom prst="rect">
            <a:avLst/>
          </a:prstGeom>
          <a:solidFill>
            <a:srgbClr val="FF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9AAAC0"/>
                </a:solidFill>
                <a:latin typeface="Segoe UI"/>
              </a:rPr>
              <a:t>ДАННЫЕ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8EEF6"/>
                </a:solidFill>
                <a:latin typeface="Segoe UI"/>
              </a:rPr>
              <a:t>Размеченного мусора мало — 3 399 пикселей, поэтому добавили MADOS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71455" y="64465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2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Морской мусор · Sentinel-2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23160"/>
            <a:ext cx="32918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8800" b="1">
                <a:solidFill>
                  <a:srgbClr val="FF6B4A"/>
                </a:solidFill>
                <a:latin typeface="Segoe UI"/>
              </a:rPr>
              <a:t>3 399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794760"/>
            <a:ext cx="3291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пикселей «мусора»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в MARIDA (CC BY 4.0)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31920" y="2240280"/>
            <a:ext cx="2423160" cy="2926080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33088" y="2404872"/>
            <a:ext cx="202082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E8EEF6"/>
                </a:solidFill>
                <a:latin typeface="Segoe UI"/>
              </a:rPr>
              <a:t>MARIDA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33088" y="2883661"/>
            <a:ext cx="2020824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63 сцен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1 381 патчей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обучение + val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test не трогаем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2240280"/>
            <a:ext cx="2423160" cy="2926080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FF6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39128" y="2404872"/>
            <a:ext cx="202082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FF6B4A"/>
                </a:solidFill>
                <a:latin typeface="Segoe UI"/>
              </a:rPr>
              <a:t>MADOS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39128" y="2883661"/>
            <a:ext cx="2020824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+118 сцен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16 сцен убраны: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пересечение с val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0" y="2240280"/>
            <a:ext cx="2423160" cy="2926080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45168" y="2404872"/>
            <a:ext cx="202082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E8EEF6"/>
                </a:solidFill>
                <a:latin typeface="Segoe UI"/>
              </a:rPr>
              <a:t>Sentinel-2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45168" y="2883661"/>
            <a:ext cx="2020824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64 живых снимков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18 районов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52 — 2025–2026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без разметки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73152" cy="329184"/>
          </a:xfrm>
          <a:prstGeom prst="rect">
            <a:avLst/>
          </a:prstGeom>
          <a:solidFill>
            <a:srgbClr val="FF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9AAAC0"/>
                </a:solidFill>
                <a:latin typeface="Segoe UI"/>
              </a:rPr>
              <a:t>МЕТОД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8EEF6"/>
                </a:solidFill>
                <a:latin typeface="Segoe UI"/>
              </a:rPr>
              <a:t>Пятно — 2 пикселя, решает спектр: пиксельный LightGBM точнее UNet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71455" y="64465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3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Морской мусор · Sentinel-2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23160"/>
            <a:ext cx="38404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8800" b="1">
                <a:solidFill>
                  <a:srgbClr val="FF6B4A"/>
                </a:solidFill>
                <a:latin typeface="Segoe UI"/>
              </a:rPr>
              <a:t>0,923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794760"/>
            <a:ext cx="38404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F1 «мусор», val, 3 seed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LightGBM, 48 признаков: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каналы, индексы, окна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0" y="2240280"/>
            <a:ext cx="6858000" cy="603504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FF6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83480" y="2240280"/>
            <a:ext cx="40233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E8EEF6"/>
                </a:solidFill>
                <a:latin typeface="Segoe UI"/>
              </a:rPr>
              <a:t>LightGBM, MARIDA + MADOS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0" y="2240280"/>
            <a:ext cx="10972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FF6B4A"/>
                </a:solidFill>
                <a:latin typeface="Segoe UI"/>
              </a:rPr>
              <a:t>0,923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40" y="2240280"/>
            <a:ext cx="13716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принят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54880" y="2953512"/>
            <a:ext cx="6858000" cy="603504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3480" y="2953512"/>
            <a:ext cx="40233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E8EEF6"/>
                </a:solidFill>
                <a:latin typeface="Segoe UI"/>
              </a:rPr>
              <a:t>стек UNet + LightGBM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0" y="2953512"/>
            <a:ext cx="10972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E8EEF6"/>
                </a:solidFill>
                <a:latin typeface="Segoe UI"/>
              </a:rPr>
              <a:t>0,916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49840" y="2953512"/>
            <a:ext cx="13716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отклонён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80" y="3666744"/>
            <a:ext cx="6858000" cy="603504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83480" y="3666744"/>
            <a:ext cx="40233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E8EEF6"/>
                </a:solidFill>
                <a:latin typeface="Segoe UI"/>
              </a:rPr>
              <a:t>LightGBM, только MARIDA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0" y="3666744"/>
            <a:ext cx="10972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E8EEF6"/>
                </a:solidFill>
                <a:latin typeface="Segoe UI"/>
              </a:rPr>
              <a:t>0,906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40" y="3666744"/>
            <a:ext cx="13716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база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754880" y="4379976"/>
            <a:ext cx="6858000" cy="603504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3480" y="4379976"/>
            <a:ext cx="40233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E8EEF6"/>
                </a:solidFill>
                <a:latin typeface="Segoe UI"/>
              </a:rPr>
              <a:t>UNet (ResNet-34)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1120" y="4379976"/>
            <a:ext cx="10972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E8EEF6"/>
                </a:solidFill>
                <a:latin typeface="Segoe UI"/>
              </a:rPr>
              <a:t>0,891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49840" y="4379976"/>
            <a:ext cx="13716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отклонён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54880" y="5212080"/>
            <a:ext cx="6858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Правило: принимаем, если прирост F1 ≥ max(0,01; 2·std по seed).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73152" cy="329184"/>
          </a:xfrm>
          <a:prstGeom prst="rect">
            <a:avLst/>
          </a:prstGeom>
          <a:solidFill>
            <a:srgbClr val="FF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9AAAC0"/>
                </a:solidFill>
                <a:latin typeface="Segoe UI"/>
              </a:rPr>
              <a:t>КАЧЕСТВО, ЧЕСТНО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8EEF6"/>
                </a:solidFill>
                <a:latin typeface="Segoe UI"/>
              </a:rPr>
              <a:t>Находим 92 % размеченного мусора на новых снимках тех же районов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71455" y="64465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4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Морской мусор · Sentinel-2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23160"/>
            <a:ext cx="3657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8800" b="1">
                <a:solidFill>
                  <a:srgbClr val="FF6B4A"/>
                </a:solidFill>
                <a:latin typeface="Segoe UI"/>
              </a:rPr>
              <a:t>0,923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7947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F1 «мусор», val MARIDA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порог 0,63; точность 93 %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023360" y="2240280"/>
            <a:ext cx="2423160" cy="2011680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24528" y="2404872"/>
            <a:ext cx="202082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E8EEF6"/>
                </a:solidFill>
                <a:latin typeface="Segoe UI"/>
              </a:rPr>
              <a:t>0,877–0,970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24528" y="2846831"/>
            <a:ext cx="2020824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95 % интервал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по сценам val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29400" y="2240280"/>
            <a:ext cx="2423160" cy="2011680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FF6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30568" y="2404872"/>
            <a:ext cx="202082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FF6B4A"/>
                </a:solidFill>
                <a:latin typeface="Segoe UI"/>
              </a:rPr>
              <a:t>0,854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30568" y="2846831"/>
            <a:ext cx="2020824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F1 на районе,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убранном из обучения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(4 района)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235440" y="2240280"/>
            <a:ext cx="2423160" cy="2011680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36608" y="2404872"/>
            <a:ext cx="202082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E8EEF6"/>
                </a:solidFill>
                <a:latin typeface="Segoe UI"/>
              </a:rPr>
              <a:t>test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36608" y="2846831"/>
            <a:ext cx="2020824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один раз,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на финальной модели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23360" y="4572000"/>
            <a:ext cx="7589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E8EEF6"/>
                </a:solidFill>
                <a:latin typeface="Segoe UI"/>
              </a:rPr>
              <a:t>Решения — только по val. На новом месте ждём около 0,854, а не 0,923.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73152" cy="329184"/>
          </a:xfrm>
          <a:prstGeom prst="rect">
            <a:avLst/>
          </a:prstGeom>
          <a:solidFill>
            <a:srgbClr val="FF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9AAAC0"/>
                </a:solidFill>
                <a:latin typeface="Segoe UI"/>
              </a:rPr>
              <a:t>ПОКАЗАТЕЛЬ НА КАРТЕ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8EEF6"/>
                </a:solidFill>
                <a:latin typeface="Segoe UI"/>
              </a:rPr>
              <a:t>Показатель — доля видимой воды с признаками мусора, не масса пластика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71455" y="64465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5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Морской мусор · Sentinel-2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40280"/>
            <a:ext cx="5852160" cy="1371600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FF6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240280"/>
            <a:ext cx="585216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000" b="1">
                <a:solidFill>
                  <a:srgbClr val="FF6B4A"/>
                </a:solidFill>
                <a:latin typeface="Segoe UI"/>
              </a:rPr>
              <a:t>‰ = вода с признаками</a:t>
            </a:r>
          </a:p>
          <a:p>
            <a:pPr algn="ctr">
              <a:lnSpc>
                <a:spcPct val="110000"/>
              </a:lnSpc>
            </a:pPr>
            <a:r>
              <a:rPr sz="3000" b="1">
                <a:solidFill>
                  <a:srgbClr val="FF6B4A"/>
                </a:solidFill>
                <a:latin typeface="Segoe UI"/>
              </a:rPr>
              <a:t>     / видимая вода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931920"/>
            <a:ext cx="585216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2200" b="1">
                <a:solidFill>
                  <a:srgbClr val="E8EEF6"/>
                </a:solidFill>
                <a:latin typeface="Segoe UI"/>
              </a:rPr>
              <a:t>H3 ≈ 0,7 км²</a:t>
            </a:r>
            <a:r>
              <a:rPr sz="2200" b="0">
                <a:solidFill>
                  <a:srgbClr val="9AAAC0"/>
                </a:solidFill>
                <a:latin typeface="Segoe UI"/>
              </a:rPr>
              <a:t> — точка обследования</a:t>
            </a:r>
          </a:p>
          <a:p>
            <a:pPr algn="l">
              <a:lnSpc>
                <a:spcPct val="160000"/>
              </a:lnSpc>
            </a:pPr>
            <a:r>
              <a:rPr sz="2200" b="1">
                <a:solidFill>
                  <a:srgbClr val="E8EEF6"/>
                </a:solidFill>
                <a:latin typeface="Segoe UI"/>
              </a:rPr>
              <a:t>Видно &lt; 50 %</a:t>
            </a:r>
            <a:r>
              <a:rPr sz="2200" b="0">
                <a:solidFill>
                  <a:srgbClr val="9AAAC0"/>
                </a:solidFill>
                <a:latin typeface="Segoe UI"/>
              </a:rPr>
              <a:t> → «нет данных», не ноль</a:t>
            </a:r>
          </a:p>
          <a:p>
            <a:pPr algn="l">
              <a:lnSpc>
                <a:spcPct val="160000"/>
              </a:lnSpc>
            </a:pPr>
            <a:r>
              <a:rPr sz="2200" b="1">
                <a:solidFill>
                  <a:srgbClr val="FF6B4A"/>
                </a:solidFill>
                <a:latin typeface="Segoe UI"/>
              </a:rPr>
              <a:t>Индекс по снимку,</a:t>
            </a:r>
            <a:r>
              <a:rPr sz="2200" b="0">
                <a:solidFill>
                  <a:srgbClr val="9AAAC0"/>
                </a:solidFill>
                <a:latin typeface="Segoe UI"/>
              </a:rPr>
              <a:t> не килограммы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8515" y="2148840"/>
            <a:ext cx="3918401" cy="3520439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7198515" y="2148840"/>
            <a:ext cx="3918401" cy="3520439"/>
          </a:xfrm>
          <a:prstGeom prst="rect">
            <a:avLst/>
          </a:prstGeom>
          <a:noFill/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98515" y="5760719"/>
            <a:ext cx="444179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9AAAC0"/>
                </a:solidFill>
                <a:latin typeface="Segoe UI"/>
              </a:rPr>
              <a:t>Мумбаи: индекс по ячейкам H3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73152" cy="329184"/>
          </a:xfrm>
          <a:prstGeom prst="rect">
            <a:avLst/>
          </a:prstGeom>
          <a:solidFill>
            <a:srgbClr val="FF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9AAAC0"/>
                </a:solidFill>
                <a:latin typeface="Segoe UI"/>
              </a:rPr>
              <a:t>ЖИВАЯ КАРТА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8EEF6"/>
                </a:solidFill>
                <a:latin typeface="Segoe UI"/>
              </a:rPr>
              <a:t>18 районов, 64 даты: карта показывает, где искать первым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71455" y="64465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6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Морской мусор · Sentinel-2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38814"/>
            <a:ext cx="7086600" cy="3986212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48640" y="1938814"/>
            <a:ext cx="7086600" cy="3986212"/>
          </a:xfrm>
          <a:prstGeom prst="rect">
            <a:avLst/>
          </a:prstGeom>
          <a:noFill/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016466"/>
            <a:ext cx="7086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9AAAC0"/>
                </a:solidFill>
                <a:latin typeface="Segoe UI"/>
              </a:rPr>
              <a:t>Обзор: 18 районов, рейтинг «где искать первым»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44079" y="1920240"/>
            <a:ext cx="3773017" cy="402336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7844079" y="1920240"/>
            <a:ext cx="3773017" cy="4023360"/>
          </a:xfrm>
          <a:prstGeom prst="rect">
            <a:avLst/>
          </a:prstGeom>
          <a:noFill/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44079" y="6035040"/>
            <a:ext cx="379897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9AAAC0"/>
                </a:solidFill>
                <a:latin typeface="Segoe UI"/>
              </a:rPr>
              <a:t>Находка: Мумбаи, 01.01.2026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73152" cy="329184"/>
          </a:xfrm>
          <a:prstGeom prst="rect">
            <a:avLst/>
          </a:prstGeom>
          <a:solidFill>
            <a:srgbClr val="FF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9AAAC0"/>
                </a:solidFill>
                <a:latin typeface="Segoe UI"/>
              </a:rPr>
              <a:t>ЗОНЫ ОБСЛЕДОВАНИЯ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8EEF6"/>
                </a:solidFill>
                <a:latin typeface="Segoe UI"/>
              </a:rPr>
              <a:t>Зона №1 объясняет, почему она первая; двойное кольцо — видят обе модели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71455" y="64465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7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Морской мусор · Sentinel-2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103120"/>
            <a:ext cx="3745734" cy="38862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48640" y="2103120"/>
            <a:ext cx="3745734" cy="3886200"/>
          </a:xfrm>
          <a:prstGeom prst="rect">
            <a:avLst/>
          </a:prstGeom>
          <a:noFill/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08076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9AAAC0"/>
                </a:solidFill>
                <a:latin typeface="Segoe UI"/>
              </a:rPr>
              <a:t>Мумбаи, зона №1: «почему она первая»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0" y="2331720"/>
            <a:ext cx="65836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8800" b="1">
                <a:solidFill>
                  <a:srgbClr val="FF6B4A"/>
                </a:solidFill>
                <a:latin typeface="Segoe UI"/>
              </a:rPr>
              <a:t>297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3703320"/>
            <a:ext cx="65836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пятен видят обе модели в радиусе 20 м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(на 38 из 64 дат)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Это согласие моделей, не проверка на месте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73152" cy="329184"/>
          </a:xfrm>
          <a:prstGeom prst="rect">
            <a:avLst/>
          </a:prstGeom>
          <a:solidFill>
            <a:srgbClr val="FF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9AAAC0"/>
                </a:solidFill>
                <a:latin typeface="Segoe UI"/>
              </a:rPr>
              <a:t>ДРЕЙФ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8EEF6"/>
                </a:solidFill>
                <a:latin typeface="Segoe UI"/>
              </a:rPr>
              <a:t>Дрейф на 72 ч показывает, куда унесёт пятно — демонстрация без валидации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71455" y="64465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8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Морской мусор · Sentinel-2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103120"/>
            <a:ext cx="3865193" cy="38862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48640" y="2103120"/>
            <a:ext cx="3865193" cy="3886200"/>
          </a:xfrm>
          <a:prstGeom prst="rect">
            <a:avLst/>
          </a:prstGeom>
          <a:noFill/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08076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9AAAC0"/>
                </a:solidFill>
                <a:latin typeface="Segoe UI"/>
              </a:rPr>
              <a:t>Мумбаи: дрейф от пятен 01.01.2026, T+36 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0" y="2331720"/>
            <a:ext cx="65836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8800" b="1">
                <a:solidFill>
                  <a:srgbClr val="FF6B4A"/>
                </a:solidFill>
                <a:latin typeface="Segoe UI"/>
              </a:rPr>
              <a:t>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3703320"/>
            <a:ext cx="65836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снимков с прогнозом дрейфа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OpenDrift + течения HYCOM + ветер GFS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облако — разброс ветрового сноса 1–3 %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73152" cy="329184"/>
          </a:xfrm>
          <a:prstGeom prst="rect">
            <a:avLst/>
          </a:prstGeom>
          <a:solidFill>
            <a:srgbClr val="FF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9AAAC0"/>
                </a:solidFill>
                <a:latin typeface="Segoe UI"/>
              </a:rPr>
              <a:t>СКОРОСТЬ И ГОТОВНОСТЬ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8EEF6"/>
                </a:solidFill>
                <a:latin typeface="Segoe UI"/>
              </a:rPr>
              <a:t>300 чипов — 5,7 с на GPU; первый сабмит на чужих данных — 40 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71455" y="64465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9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Морской мусор · Sentinel-2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23160"/>
            <a:ext cx="38404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8800" b="1">
                <a:solidFill>
                  <a:srgbClr val="FF6B4A"/>
                </a:solidFill>
                <a:latin typeface="Segoe UI"/>
              </a:rPr>
              <a:t>5,7 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794760"/>
            <a:ext cx="38404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GPU RTX 4070, холодный старт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CPU: 21,7 с / 20 потоков,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37,9 с / 8, 81,1 с /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2240280"/>
            <a:ext cx="6858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9AAAC0"/>
                </a:solidFill>
                <a:latin typeface="Segoe UI"/>
              </a:rPr>
              <a:t>Данные организаторов → модель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54880" y="2788920"/>
            <a:ext cx="6858000" cy="731520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37760" y="2788920"/>
            <a:ext cx="36576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FF6B4A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49240" y="2788920"/>
            <a:ext cx="42062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E8EEF6"/>
                </a:solidFill>
                <a:latin typeface="Consolas"/>
              </a:rPr>
              <a:t>ingest.py архив.zip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0" y="2788920"/>
            <a:ext cx="21031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отчёт «Сомнения»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54880" y="3657600"/>
            <a:ext cx="6858000" cy="731520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37760" y="3657600"/>
            <a:ext cx="36576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FF6B4A"/>
                </a:solidFill>
                <a:latin typeface="Segoe U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9240" y="3657600"/>
            <a:ext cx="42062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E8EEF6"/>
                </a:solidFill>
                <a:latin typeface="Consolas"/>
              </a:rPr>
              <a:t>ingest.py архив.zip --convert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18320" y="3657600"/>
            <a:ext cx="21031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наш формат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54880" y="4526280"/>
            <a:ext cx="6858000" cy="731520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37760" y="4526280"/>
            <a:ext cx="36576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FF6B4A"/>
                </a:solidFill>
                <a:latin typeface="Segoe U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49240" y="4526280"/>
            <a:ext cx="42062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E8EEF6"/>
                </a:solidFill>
                <a:latin typeface="Consolas"/>
              </a:rPr>
              <a:t>train_lgbm_ingest.py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0" y="4526280"/>
            <a:ext cx="21031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обучение ≈ 4,5 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54880" y="5440680"/>
            <a:ext cx="6858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Репетиция: скрытый F1 0,058 «как есть» → 0,317 после обучения на их train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73152" cy="329184"/>
          </a:xfrm>
          <a:prstGeom prst="rect">
            <a:avLst/>
          </a:prstGeom>
          <a:solidFill>
            <a:srgbClr val="FF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9AAAC0"/>
                </a:solidFill>
                <a:latin typeface="Segoe UI"/>
              </a:rPr>
              <a:t>ВЫВОДЫ И ЧТО ДАЛЬШЕ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8EEF6"/>
                </a:solidFill>
                <a:latin typeface="Segoe UI"/>
              </a:rPr>
              <a:t>Готово к работе: карта «куда плыть» и модель, которая переобучается за секунды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71455" y="64465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10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Морской мусор · Sentinel-2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240280"/>
            <a:ext cx="536432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9AAAC0"/>
                </a:solidFill>
                <a:latin typeface="Segoe UI"/>
              </a:rPr>
              <a:t>Выводы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78727" y="2240280"/>
            <a:ext cx="536432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9AAAC0"/>
                </a:solidFill>
                <a:latin typeface="Segoe UI"/>
              </a:rPr>
              <a:t>Дальше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788920"/>
            <a:ext cx="5364327" cy="841248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FF6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788920"/>
            <a:ext cx="17373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FF6B4A"/>
                </a:solidFill>
                <a:latin typeface="Segoe UI"/>
              </a:rPr>
              <a:t>0,854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20" y="2788920"/>
            <a:ext cx="3169767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E8EEF6"/>
                </a:solidFill>
                <a:latin typeface="Segoe UI"/>
              </a:rPr>
              <a:t>F1 на новом районе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794760"/>
            <a:ext cx="5364327" cy="841248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794760"/>
            <a:ext cx="17373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FF6B4A"/>
                </a:solidFill>
                <a:latin typeface="Segoe UI"/>
              </a:rPr>
              <a:t>18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0" y="3794760"/>
            <a:ext cx="3169767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E8EEF6"/>
                </a:solidFill>
                <a:latin typeface="Segoe UI"/>
              </a:rPr>
              <a:t>районов на живой карте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800600"/>
            <a:ext cx="5364327" cy="841248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800600"/>
            <a:ext cx="17373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FF6B4A"/>
                </a:solidFill>
                <a:latin typeface="Segoe UI"/>
              </a:rPr>
              <a:t>5,7 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60320" y="4800600"/>
            <a:ext cx="3169767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E8EEF6"/>
                </a:solidFill>
                <a:latin typeface="Segoe UI"/>
              </a:rPr>
              <a:t>300 чипов на GPU; CPU 8 потоков — 37,9 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78727" y="2788920"/>
            <a:ext cx="5364327" cy="841248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07327" y="2788920"/>
            <a:ext cx="45720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9AAAC0"/>
                </a:solidFill>
                <a:latin typeface="Segoe UI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10247" y="2788920"/>
            <a:ext cx="4449927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E8EEF6"/>
                </a:solidFill>
                <a:latin typeface="Segoe UI"/>
              </a:rPr>
              <a:t>Разметка на снимках L2A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78727" y="3794760"/>
            <a:ext cx="5364327" cy="841248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07327" y="3794760"/>
            <a:ext cx="45720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9AAAC0"/>
                </a:solidFill>
                <a:latin typeface="Segoe UI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10247" y="3794760"/>
            <a:ext cx="4449927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E8EEF6"/>
                </a:solidFill>
                <a:latin typeface="Segoe UI"/>
              </a:rPr>
              <a:t>Больше дат на район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78727" y="4800600"/>
            <a:ext cx="5364327" cy="841248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07327" y="4800600"/>
            <a:ext cx="45720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9AAAC0"/>
                </a:solidFill>
                <a:latin typeface="Segoe U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10247" y="4800600"/>
            <a:ext cx="4449927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E8EEF6"/>
                </a:solidFill>
                <a:latin typeface="Segoe UI"/>
              </a:rPr>
              <a:t>Итоги обследований → в обучение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