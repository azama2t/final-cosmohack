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384048"/>
          </a:xfrm>
          <a:prstGeom prst="rect">
            <a:avLst/>
          </a:prstGeom>
          <a:solidFill>
            <a:srgbClr val="FF6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8C9DB5"/>
                </a:solidFill>
                <a:latin typeface="Segoe UI"/>
              </a:rPr>
              <a:t>ПРОБЛЕМА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9441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8EEF6"/>
                </a:solidFill>
                <a:latin typeface="Segoe UI"/>
              </a:rPr>
              <a:t>Мусор в море виден со спутника как сигнал, куда отправить обследование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71455" y="64008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8C9DB5"/>
                </a:solidFill>
                <a:latin typeface="Segoe UI"/>
              </a:rPr>
              <a:t>1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8C9DB5"/>
                </a:solidFill>
                <a:latin typeface="Segoe UI"/>
              </a:rPr>
              <a:t>Макропластик · Sentinel-2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9600" b="1">
                <a:solidFill>
                  <a:srgbClr val="FF6B5A"/>
                </a:solidFill>
                <a:latin typeface="Segoe UI"/>
              </a:rPr>
              <a:t>10 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60520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8C9DB5"/>
                </a:solidFill>
                <a:latin typeface="Segoe UI"/>
              </a:rPr>
              <a:t>пиксель Sentinel-2: пятно мусора</a:t>
            </a:r>
          </a:p>
          <a:p>
            <a:pPr algn="l">
              <a:lnSpc>
                <a:spcPct val="110000"/>
              </a:lnSpc>
            </a:pPr>
            <a:r>
              <a:rPr sz="1800" b="0">
                <a:solidFill>
                  <a:srgbClr val="8C9DB5"/>
                </a:solidFill>
                <a:latin typeface="Segoe UI"/>
              </a:rPr>
              <a:t>занимает 1–4 пикселя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743200"/>
            <a:ext cx="55778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E8EEF6"/>
                </a:solidFill>
                <a:latin typeface="Segoe UI"/>
              </a:rPr>
              <a:t>Судов и дронов мало, акватории огромные.</a:t>
            </a:r>
          </a:p>
          <a:p>
            <a:pPr algn="l">
              <a:lnSpc>
                <a:spcPct val="125000"/>
              </a:lnSpc>
            </a:pPr>
            <a:r>
              <a:rPr sz="2200" b="0">
                <a:solidFill>
                  <a:srgbClr val="E8EEF6"/>
                </a:solidFill>
                <a:latin typeface="Segoe UI"/>
              </a:rPr>
              <a:t>Нужна карта: где подозрительно, насколько, куда плыть первым.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384048"/>
          </a:xfrm>
          <a:prstGeom prst="rect">
            <a:avLst/>
          </a:prstGeom>
          <a:solidFill>
            <a:srgbClr val="FF6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8C9DB5"/>
                </a:solidFill>
                <a:latin typeface="Segoe UI"/>
              </a:rPr>
              <a:t>ДАННЫЕ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9441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8EEF6"/>
                </a:solidFill>
                <a:latin typeface="Segoe UI"/>
              </a:rPr>
              <a:t>Мусора в MARIDA всего 3 399 размеченных пикселей: ищем иголки в стоге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71455" y="64008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8C9DB5"/>
                </a:solidFill>
                <a:latin typeface="Segoe UI"/>
              </a:rPr>
              <a:t>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8C9DB5"/>
                </a:solidFill>
                <a:latin typeface="Segoe UI"/>
              </a:rPr>
              <a:t>Макропластик · Sentinel-2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5029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9600" b="1">
                <a:solidFill>
                  <a:srgbClr val="FF6B5A"/>
                </a:solidFill>
                <a:latin typeface="Segoe UI"/>
              </a:rPr>
              <a:t>3 399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6052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8C9DB5"/>
                </a:solidFill>
                <a:latin typeface="Segoe UI"/>
              </a:rPr>
              <a:t>пикселей Marine Debris</a:t>
            </a:r>
          </a:p>
          <a:p>
            <a:pPr algn="l">
              <a:lnSpc>
                <a:spcPct val="110000"/>
              </a:lnSpc>
            </a:pPr>
            <a:r>
              <a:rPr sz="1800" b="0">
                <a:solidFill>
                  <a:srgbClr val="8C9DB5"/>
                </a:solidFill>
                <a:latin typeface="Segoe UI"/>
              </a:rPr>
              <a:t>(High / Moderate / Low уверенность)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743200"/>
            <a:ext cx="1737360" cy="1005840"/>
          </a:xfrm>
          <a:prstGeom prst="roundRect">
            <a:avLst>
              <a:gd name="adj" fmla="val 8000"/>
            </a:avLst>
          </a:prstGeom>
          <a:solidFill>
            <a:srgbClr val="121C2E"/>
          </a:solidFill>
          <a:ln w="15875">
            <a:solidFill>
              <a:srgbClr val="24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907792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E8EEF6"/>
                </a:solidFill>
                <a:latin typeface="Segoe UI"/>
              </a:rPr>
              <a:t>1 381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329184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8C9DB5"/>
                </a:solidFill>
                <a:latin typeface="Segoe UI"/>
              </a:rPr>
              <a:t>патчей 256×256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2743200"/>
            <a:ext cx="1737360" cy="1005840"/>
          </a:xfrm>
          <a:prstGeom prst="roundRect">
            <a:avLst>
              <a:gd name="adj" fmla="val 8000"/>
            </a:avLst>
          </a:prstGeom>
          <a:solidFill>
            <a:srgbClr val="121C2E"/>
          </a:solidFill>
          <a:ln w="15875">
            <a:solidFill>
              <a:srgbClr val="24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2907792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E8EEF6"/>
                </a:solidFill>
                <a:latin typeface="Segoe UI"/>
              </a:rPr>
              <a:t>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29184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8C9DB5"/>
                </a:solidFill>
                <a:latin typeface="Segoe UI"/>
              </a:rPr>
              <a:t>сцен Sentinel-2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75520" y="2743200"/>
            <a:ext cx="1737360" cy="1005840"/>
          </a:xfrm>
          <a:prstGeom prst="roundRect">
            <a:avLst>
              <a:gd name="adj" fmla="val 8000"/>
            </a:avLst>
          </a:prstGeom>
          <a:solidFill>
            <a:srgbClr val="121C2E"/>
          </a:solidFill>
          <a:ln w="15875">
            <a:solidFill>
              <a:srgbClr val="24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0" y="2907792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E8EEF6"/>
                </a:solidFill>
                <a:latin typeface="Segoe UI"/>
              </a:rPr>
              <a:t>0.93 %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329184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8C9DB5"/>
                </a:solidFill>
                <a:latin typeface="Segoe UI"/>
              </a:rPr>
              <a:t>пикселей размечено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4114800"/>
            <a:ext cx="5577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8C9DB5"/>
                </a:solidFill>
                <a:latin typeface="Segoe UI"/>
              </a:rPr>
              <a:t>15 классов, включая похожие на мусор: пена, Sargassum, суда, следы.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8C9DB5"/>
                </a:solidFill>
                <a:latin typeface="Segoe UI"/>
              </a:rPr>
              <a:t>Лицензия CC BY 4.0.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384048"/>
          </a:xfrm>
          <a:prstGeom prst="rect">
            <a:avLst/>
          </a:prstGeom>
          <a:solidFill>
            <a:srgbClr val="FF6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8C9DB5"/>
                </a:solidFill>
                <a:latin typeface="Segoe UI"/>
              </a:rPr>
              <a:t>МЕТОД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9441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8EEF6"/>
                </a:solidFill>
                <a:latin typeface="Segoe UI"/>
              </a:rPr>
              <a:t>Пятна по 2 пикселя: решает спектр, поэтому пиксельный бустинг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71455" y="64008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8C9DB5"/>
                </a:solidFill>
                <a:latin typeface="Segoe UI"/>
              </a:rPr>
              <a:t>3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8C9DB5"/>
                </a:solidFill>
                <a:latin typeface="Segoe UI"/>
              </a:rPr>
              <a:t>Макропластик · Sentinel-2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3200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9600" b="1">
                <a:solidFill>
                  <a:srgbClr val="FF6B5A"/>
                </a:solidFill>
                <a:latin typeface="Segoe UI"/>
              </a:rPr>
              <a:t>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60520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8C9DB5"/>
                </a:solidFill>
                <a:latin typeface="Segoe UI"/>
              </a:rPr>
              <a:t>признаков на пиксель:</a:t>
            </a:r>
          </a:p>
          <a:p>
            <a:pPr algn="l">
              <a:lnSpc>
                <a:spcPct val="110000"/>
              </a:lnSpc>
            </a:pPr>
            <a:r>
              <a:rPr sz="1800" b="0">
                <a:solidFill>
                  <a:srgbClr val="8C9DB5"/>
                </a:solidFill>
                <a:latin typeface="Segoe UI"/>
              </a:rPr>
              <a:t>19 спектр + 29 окно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2834640"/>
            <a:ext cx="1417320" cy="1005840"/>
          </a:xfrm>
          <a:prstGeom prst="roundRect">
            <a:avLst>
              <a:gd name="adj" fmla="val 8000"/>
            </a:avLst>
          </a:prstGeom>
          <a:solidFill>
            <a:srgbClr val="121C2E"/>
          </a:solidFill>
          <a:ln w="15875">
            <a:solidFill>
              <a:srgbClr val="24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2999232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8EEF6"/>
                </a:solidFill>
                <a:latin typeface="Segoe UI"/>
              </a:rPr>
              <a:t>Данные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3383280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8C9DB5"/>
                </a:solidFill>
                <a:latin typeface="Segoe UI"/>
              </a:rPr>
              <a:t>MARIDA + MADOS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2834640"/>
            <a:ext cx="1417320" cy="1005840"/>
          </a:xfrm>
          <a:prstGeom prst="roundRect">
            <a:avLst>
              <a:gd name="adj" fmla="val 8000"/>
            </a:avLst>
          </a:prstGeom>
          <a:solidFill>
            <a:srgbClr val="121C2E"/>
          </a:solidFill>
          <a:ln w="15875">
            <a:solidFill>
              <a:srgbClr val="24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2999232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8EEF6"/>
                </a:solidFill>
                <a:latin typeface="Segoe UI"/>
              </a:rPr>
              <a:t>Признаки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3383280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8C9DB5"/>
                </a:solidFill>
                <a:latin typeface="Segoe UI"/>
              </a:rPr>
              <a:t>каналы, индексы, окна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2834640"/>
            <a:ext cx="1417320" cy="1005840"/>
          </a:xfrm>
          <a:prstGeom prst="roundRect">
            <a:avLst>
              <a:gd name="adj" fmla="val 8000"/>
            </a:avLst>
          </a:prstGeom>
          <a:solidFill>
            <a:srgbClr val="121C2E"/>
          </a:solidFill>
          <a:ln w="15875">
            <a:solidFill>
              <a:srgbClr val="FF6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2999232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8EEF6"/>
                </a:solidFill>
                <a:latin typeface="Segoe UI"/>
              </a:rPr>
              <a:t>LightGBM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3383280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8C9DB5"/>
                </a:solidFill>
                <a:latin typeface="Segoe UI"/>
              </a:rPr>
              <a:t>мусор / не мусор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2834640"/>
            <a:ext cx="1417320" cy="1005840"/>
          </a:xfrm>
          <a:prstGeom prst="roundRect">
            <a:avLst>
              <a:gd name="adj" fmla="val 8000"/>
            </a:avLst>
          </a:prstGeom>
          <a:solidFill>
            <a:srgbClr val="121C2E"/>
          </a:solidFill>
          <a:ln w="15875">
            <a:solidFill>
              <a:srgbClr val="24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2999232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8EEF6"/>
                </a:solidFill>
                <a:latin typeface="Segoe UI"/>
              </a:rPr>
              <a:t>Порог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3383280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8C9DB5"/>
                </a:solidFill>
                <a:latin typeface="Segoe UI"/>
              </a:rPr>
              <a:t>0.63 по val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41280" y="2834640"/>
            <a:ext cx="1417320" cy="1005840"/>
          </a:xfrm>
          <a:prstGeom prst="roundRect">
            <a:avLst>
              <a:gd name="adj" fmla="val 8000"/>
            </a:avLst>
          </a:prstGeom>
          <a:solidFill>
            <a:srgbClr val="121C2E"/>
          </a:solidFill>
          <a:ln w="15875">
            <a:solidFill>
              <a:srgbClr val="24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24160" y="2999232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8EEF6"/>
                </a:solidFill>
                <a:latin typeface="Segoe UI"/>
              </a:rPr>
              <a:t>H3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3383280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8C9DB5"/>
                </a:solidFill>
                <a:latin typeface="Segoe UI"/>
              </a:rPr>
              <a:t>показатель, зоны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4206240"/>
            <a:ext cx="7589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8C9DB5"/>
                </a:solidFill>
                <a:latin typeface="Segoe UI"/>
              </a:rPr>
              <a:t>На живых L2A-сценах основной слой — marinedebrisdetector (MIT); на MARIDA его не оцениваем.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384048"/>
          </a:xfrm>
          <a:prstGeom prst="rect">
            <a:avLst/>
          </a:prstGeom>
          <a:solidFill>
            <a:srgbClr val="FF6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8C9DB5"/>
                </a:solidFill>
                <a:latin typeface="Segoe UI"/>
              </a:rPr>
              <a:t>ПОКАЗАТЕЛЬ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9441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8EEF6"/>
                </a:solidFill>
                <a:latin typeface="Segoe UI"/>
              </a:rPr>
              <a:t>Показатель: какая доля видимой воды выглядит как мусор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71455" y="64008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8C9DB5"/>
                </a:solidFill>
                <a:latin typeface="Segoe UI"/>
              </a:rPr>
              <a:t>4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8C9DB5"/>
                </a:solidFill>
                <a:latin typeface="Segoe UI"/>
              </a:rPr>
              <a:t>Макропластик · Sentinel-2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60320"/>
            <a:ext cx="11094415" cy="1463040"/>
          </a:xfrm>
          <a:prstGeom prst="roundRect">
            <a:avLst>
              <a:gd name="adj" fmla="val 8000"/>
            </a:avLst>
          </a:prstGeom>
          <a:solidFill>
            <a:srgbClr val="12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1109441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800" b="1">
                <a:solidFill>
                  <a:srgbClr val="FF6B5A"/>
                </a:solidFill>
                <a:latin typeface="Segoe UI"/>
              </a:rPr>
              <a:t>‰ = помеченная вода / видимая вода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89120"/>
            <a:ext cx="5486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E8EEF6"/>
                </a:solidFill>
                <a:latin typeface="Segoe UI"/>
              </a:rPr>
              <a:t>Ячейка H3 ≈ 0,7 км².</a:t>
            </a:r>
          </a:p>
          <a:p>
            <a:pPr algn="l">
              <a:lnSpc>
                <a:spcPct val="130000"/>
              </a:lnSpc>
            </a:pPr>
            <a:r>
              <a:rPr sz="1800" b="0">
                <a:solidFill>
                  <a:srgbClr val="E8EEF6"/>
                </a:solidFill>
                <a:latin typeface="Segoe UI"/>
              </a:rPr>
              <a:t>observed_frac &lt; 0,5 → серая «нет данных», не ноль.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4389120"/>
            <a:ext cx="5029200" cy="82296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FF6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4526280"/>
            <a:ext cx="4663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E8EEF6"/>
                </a:solidFill>
                <a:latin typeface="Segoe UI"/>
              </a:rPr>
              <a:t>Индекс по снимку, не масса пластика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384048"/>
          </a:xfrm>
          <a:prstGeom prst="rect">
            <a:avLst/>
          </a:prstGeom>
          <a:solidFill>
            <a:srgbClr val="FF6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8C9DB5"/>
                </a:solidFill>
                <a:latin typeface="Segoe UI"/>
              </a:rPr>
              <a:t>КАЧЕСТВО (MARIDA)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9441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8EEF6"/>
                </a:solidFill>
                <a:latin typeface="Segoe UI"/>
              </a:rPr>
              <a:t>Модель находит 9 из 10 пикселей мусора, и 9 из 10 её находок верны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71455" y="64008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8C9DB5"/>
                </a:solidFill>
                <a:latin typeface="Segoe UI"/>
              </a:rPr>
              <a:t>5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8C9DB5"/>
                </a:solidFill>
                <a:latin typeface="Segoe UI"/>
              </a:rPr>
              <a:t>Макропластик · Sentinel-2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4114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9600" b="1">
                <a:solidFill>
                  <a:srgbClr val="FF6B5A"/>
                </a:solidFill>
                <a:latin typeface="Segoe UI"/>
              </a:rPr>
              <a:t>0.923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60520"/>
            <a:ext cx="4114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8C9DB5"/>
                </a:solidFill>
                <a:latin typeface="Segoe UI"/>
              </a:rPr>
              <a:t>F1 Marine Debris, val</a:t>
            </a:r>
          </a:p>
          <a:p>
            <a:pPr algn="l">
              <a:lnSpc>
                <a:spcPct val="110000"/>
              </a:lnSpc>
            </a:pPr>
            <a:r>
              <a:rPr sz="1800" b="0">
                <a:solidFill>
                  <a:srgbClr val="8C9DB5"/>
                </a:solidFill>
                <a:latin typeface="Segoe UI"/>
              </a:rPr>
              <a:t>(выбор модели и порога)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2743200"/>
            <a:ext cx="2011680" cy="1005840"/>
          </a:xfrm>
          <a:prstGeom prst="roundRect">
            <a:avLst>
              <a:gd name="adj" fmla="val 8000"/>
            </a:avLst>
          </a:prstGeom>
          <a:solidFill>
            <a:srgbClr val="121C2E"/>
          </a:solidFill>
          <a:ln w="15875">
            <a:solidFill>
              <a:srgbClr val="24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2907792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E8EEF6"/>
                </a:solidFill>
                <a:latin typeface="Segoe UI"/>
              </a:rPr>
              <a:t>0.856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29184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8C9DB5"/>
                </a:solidFill>
                <a:latin typeface="Segoe UI"/>
              </a:rPr>
              <a:t>IoU val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2743200"/>
            <a:ext cx="2011680" cy="1005840"/>
          </a:xfrm>
          <a:prstGeom prst="roundRect">
            <a:avLst>
              <a:gd name="adj" fmla="val 8000"/>
            </a:avLst>
          </a:prstGeom>
          <a:solidFill>
            <a:srgbClr val="121C2E"/>
          </a:solidFill>
          <a:ln w="15875">
            <a:solidFill>
              <a:srgbClr val="FF6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0" y="2907792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E8EEF6"/>
                </a:solidFill>
                <a:latin typeface="Segoe UI"/>
              </a:rPr>
              <a:t>0.854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0" y="329184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8C9DB5"/>
                </a:solidFill>
                <a:latin typeface="Segoe UI"/>
              </a:rPr>
              <a:t>F1 на новом районе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0" y="2743200"/>
            <a:ext cx="2011680" cy="1005840"/>
          </a:xfrm>
          <a:prstGeom prst="roundRect">
            <a:avLst>
              <a:gd name="adj" fmla="val 8000"/>
            </a:avLst>
          </a:prstGeom>
          <a:solidFill>
            <a:srgbClr val="121C2E"/>
          </a:solidFill>
          <a:ln w="15875">
            <a:solidFill>
              <a:srgbClr val="24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2907792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E8EEF6"/>
                </a:solidFill>
                <a:latin typeface="Segoe UI"/>
              </a:rPr>
              <a:t>0.80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329184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8C9DB5"/>
                </a:solidFill>
                <a:latin typeface="Segoe UI"/>
              </a:rPr>
              <a:t>RF из статьи MARIDA,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4114800"/>
            <a:ext cx="6492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8C9DB5"/>
                </a:solidFill>
                <a:latin typeface="Segoe UI"/>
              </a:rPr>
              <a:t>Выбор только по val, шум — 3 seed. Test посчитаем один раз на итоговой модели.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384048"/>
          </a:xfrm>
          <a:prstGeom prst="rect">
            <a:avLst/>
          </a:prstGeom>
          <a:solidFill>
            <a:srgbClr val="FF6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8C9DB5"/>
                </a:solidFill>
                <a:latin typeface="Segoe UI"/>
              </a:rPr>
              <a:t>СРАВНЕНИЕ МОДЕЛЕЙ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9441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8EEF6"/>
                </a:solidFill>
                <a:latin typeface="Segoe UI"/>
              </a:rPr>
              <a:t>MADOS принят, UNet и стек отклонены по одному правилу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71455" y="64008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8C9DB5"/>
                </a:solidFill>
                <a:latin typeface="Segoe UI"/>
              </a:rPr>
              <a:t>6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8C9DB5"/>
                </a:solidFill>
                <a:latin typeface="Segoe UI"/>
              </a:rPr>
              <a:t>Макропластик · Sentinel-2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43200"/>
            <a:ext cx="2606040" cy="1188720"/>
          </a:xfrm>
          <a:prstGeom prst="roundRect">
            <a:avLst>
              <a:gd name="adj" fmla="val 8000"/>
            </a:avLst>
          </a:prstGeom>
          <a:solidFill>
            <a:srgbClr val="121C2E"/>
          </a:solidFill>
          <a:ln w="15875">
            <a:solidFill>
              <a:srgbClr val="24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07792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E8EEF6"/>
                </a:solidFill>
                <a:latin typeface="Segoe UI"/>
              </a:rPr>
              <a:t>0.906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8C9DB5"/>
                </a:solidFill>
                <a:latin typeface="Segoe UI"/>
              </a:rPr>
              <a:t>только MARIDA · ±0.0025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743200"/>
            <a:ext cx="2606040" cy="1188720"/>
          </a:xfrm>
          <a:prstGeom prst="roundRect">
            <a:avLst>
              <a:gd name="adj" fmla="val 8000"/>
            </a:avLst>
          </a:prstGeom>
          <a:solidFill>
            <a:srgbClr val="121C2E"/>
          </a:solidFill>
          <a:ln w="15875">
            <a:solidFill>
              <a:srgbClr val="FF6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2907792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E8EEF6"/>
                </a:solidFill>
                <a:latin typeface="Segoe UI"/>
              </a:rPr>
              <a:t>0.923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329184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8C9DB5"/>
                </a:solidFill>
                <a:latin typeface="Segoe UI"/>
              </a:rPr>
              <a:t>MARIDA + MADOS · ±0.0005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743200"/>
            <a:ext cx="2606040" cy="1188720"/>
          </a:xfrm>
          <a:prstGeom prst="roundRect">
            <a:avLst>
              <a:gd name="adj" fmla="val 8000"/>
            </a:avLst>
          </a:prstGeom>
          <a:solidFill>
            <a:srgbClr val="121C2E"/>
          </a:solidFill>
          <a:ln w="15875">
            <a:solidFill>
              <a:srgbClr val="24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907792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E8EEF6"/>
                </a:solidFill>
                <a:latin typeface="Segoe UI"/>
              </a:rPr>
              <a:t>0.891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29184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8C9DB5"/>
                </a:solidFill>
                <a:latin typeface="Segoe UI"/>
              </a:rPr>
              <a:t>UNet · ±0.0061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2743200"/>
            <a:ext cx="2606040" cy="1188720"/>
          </a:xfrm>
          <a:prstGeom prst="roundRect">
            <a:avLst>
              <a:gd name="adj" fmla="val 8000"/>
            </a:avLst>
          </a:prstGeom>
          <a:solidFill>
            <a:srgbClr val="121C2E"/>
          </a:solidFill>
          <a:ln w="15875">
            <a:solidFill>
              <a:srgbClr val="24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2907792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E8EEF6"/>
                </a:solidFill>
                <a:latin typeface="Segoe UI"/>
              </a:rPr>
              <a:t>0.916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329184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8C9DB5"/>
                </a:solidFill>
                <a:latin typeface="Segoe UI"/>
              </a:rPr>
              <a:t>стек UNet + LGBM · ±0.0015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29768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8C9DB5"/>
                </a:solidFill>
                <a:latin typeface="Segoe UI"/>
              </a:rPr>
              <a:t>F1 Marine Debris на val, 3 seed. Принимаем, если прирост ≥ max(0.01, 2×std).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384048"/>
          </a:xfrm>
          <a:prstGeom prst="rect">
            <a:avLst/>
          </a:prstGeom>
          <a:solidFill>
            <a:srgbClr val="FF6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8C9DB5"/>
                </a:solidFill>
                <a:latin typeface="Segoe UI"/>
              </a:rPr>
              <a:t>ДЕМО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9441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8EEF6"/>
                </a:solidFill>
                <a:latin typeface="Segoe UI"/>
              </a:rPr>
              <a:t>Живая карта: снимок, находки и зоны на одном экране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71455" y="64008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8C9DB5"/>
                </a:solidFill>
                <a:latin typeface="Segoe UI"/>
              </a:rPr>
              <a:t>7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8C9DB5"/>
                </a:solidFill>
                <a:latin typeface="Segoe UI"/>
              </a:rPr>
              <a:t>Макропластик · Sentinel-2</a:t>
            </a:r>
          </a:p>
        </p:txBody>
      </p:sp>
      <p:pic>
        <p:nvPicPr>
          <p:cNvPr id="7" name="Picture 6" descr="reg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081" y="2514600"/>
            <a:ext cx="6664958" cy="374903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148081" y="5852159"/>
            <a:ext cx="6664958" cy="411480"/>
          </a:xfrm>
          <a:prstGeom prst="rect">
            <a:avLst/>
          </a:prstGeom>
          <a:solidFill>
            <a:srgbClr val="0A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5241" y="5916167"/>
            <a:ext cx="63906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E8EEF6"/>
                </a:solidFill>
                <a:latin typeface="Segoe UI"/>
              </a:rPr>
              <a:t>Снимок + находки модели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274320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800" b="1">
                <a:solidFill>
                  <a:srgbClr val="FF6B5A"/>
                </a:solidFill>
                <a:latin typeface="Segoe UI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425196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8C9DB5"/>
                </a:solidFill>
                <a:latin typeface="Segoe UI"/>
              </a:rPr>
              <a:t>районов, 29 дат</a:t>
            </a:r>
          </a:p>
          <a:p>
            <a:pPr algn="l">
              <a:lnSpc>
                <a:spcPct val="110000"/>
              </a:lnSpc>
            </a:pPr>
            <a:r>
              <a:rPr sz="1800" b="0">
                <a:solidFill>
                  <a:srgbClr val="8C9DB5"/>
                </a:solidFill>
                <a:latin typeface="Segoe UI"/>
              </a:rPr>
              <a:t>сцен Sentinel-2 L2A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384048"/>
          </a:xfrm>
          <a:prstGeom prst="rect">
            <a:avLst/>
          </a:prstGeom>
          <a:solidFill>
            <a:srgbClr val="FF6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8C9DB5"/>
                </a:solidFill>
                <a:latin typeface="Segoe UI"/>
              </a:rPr>
              <a:t>ЗОНЫ И СРАВНЕНИЕ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9441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8EEF6"/>
                </a:solidFill>
                <a:latin typeface="Segoe UI"/>
              </a:rPr>
              <a:t>Топ ячеек H3 — готовый список точек для выхода судна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71455" y="64008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8C9DB5"/>
                </a:solidFill>
                <a:latin typeface="Segoe UI"/>
              </a:rPr>
              <a:t>8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8C9DB5"/>
                </a:solidFill>
                <a:latin typeface="Segoe UI"/>
              </a:rPr>
              <a:t>Макропластик · Sentinel-2</a:t>
            </a:r>
          </a:p>
        </p:txBody>
      </p:sp>
      <p:pic>
        <p:nvPicPr>
          <p:cNvPr id="7" name="Picture 6" descr="07_z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081" y="2514600"/>
            <a:ext cx="6664958" cy="374903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148081" y="5852159"/>
            <a:ext cx="6664958" cy="411480"/>
          </a:xfrm>
          <a:prstGeom prst="rect">
            <a:avLst/>
          </a:prstGeom>
          <a:solidFill>
            <a:srgbClr val="0A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5241" y="5916167"/>
            <a:ext cx="63906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E8EEF6"/>
                </a:solidFill>
                <a:latin typeface="Segoe UI"/>
              </a:rPr>
              <a:t>Приоритет обследования и сравнение районов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274320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800" b="1">
                <a:solidFill>
                  <a:srgbClr val="FF6B5A"/>
                </a:solidFill>
                <a:latin typeface="Segoe UI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425196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8C9DB5"/>
                </a:solidFill>
                <a:latin typeface="Segoe UI"/>
              </a:rPr>
              <a:t>зон на район: ранг,</a:t>
            </a:r>
          </a:p>
          <a:p>
            <a:pPr algn="l">
              <a:lnSpc>
                <a:spcPct val="110000"/>
              </a:lnSpc>
            </a:pPr>
            <a:r>
              <a:rPr sz="1800" b="0">
                <a:solidFill>
                  <a:srgbClr val="8C9DB5"/>
                </a:solidFill>
                <a:latin typeface="Segoe UI"/>
              </a:rPr>
              <a:t>координаты, причина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384048"/>
          </a:xfrm>
          <a:prstGeom prst="rect">
            <a:avLst/>
          </a:prstGeom>
          <a:solidFill>
            <a:srgbClr val="FF6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8C9DB5"/>
                </a:solidFill>
                <a:latin typeface="Segoe UI"/>
              </a:rPr>
              <a:t>СОГЛАСИЕ МОДЕЛЕЙ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9441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8EEF6"/>
                </a:solidFill>
                <a:latin typeface="Segoe UI"/>
              </a:rPr>
              <a:t>Уверенная находка: две разные модели видят объект в пределах 20 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71455" y="64008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8C9DB5"/>
                </a:solidFill>
                <a:latin typeface="Segoe UI"/>
              </a:rPr>
              <a:t>9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8C9DB5"/>
                </a:solidFill>
                <a:latin typeface="Segoe UI"/>
              </a:rPr>
              <a:t>Макропластик · Sentinel-2</a:t>
            </a:r>
          </a:p>
        </p:txBody>
      </p:sp>
      <p:pic>
        <p:nvPicPr>
          <p:cNvPr id="7" name="Picture 6" descr="detection_c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081" y="2514600"/>
            <a:ext cx="6664958" cy="374903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148081" y="5852159"/>
            <a:ext cx="6664958" cy="411480"/>
          </a:xfrm>
          <a:prstGeom prst="rect">
            <a:avLst/>
          </a:prstGeom>
          <a:solidFill>
            <a:srgbClr val="0A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5241" y="5916167"/>
            <a:ext cx="63906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E8EEF6"/>
                </a:solidFill>
                <a:latin typeface="Segoe UI"/>
              </a:rPr>
              <a:t>Карточка находки: вырезка снимка и согласие моделей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274320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800" b="1">
                <a:solidFill>
                  <a:srgbClr val="FF6B5A"/>
                </a:solidFill>
                <a:latin typeface="Segoe UI"/>
              </a:rPr>
              <a:t>200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425196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8C9DB5"/>
                </a:solidFill>
                <a:latin typeface="Segoe UI"/>
              </a:rPr>
              <a:t>объектов в 15 из 29</a:t>
            </a:r>
          </a:p>
          <a:p>
            <a:pPr algn="l">
              <a:lnSpc>
                <a:spcPct val="110000"/>
              </a:lnSpc>
            </a:pPr>
            <a:r>
              <a:rPr sz="1800" b="0">
                <a:solidFill>
                  <a:srgbClr val="8C9DB5"/>
                </a:solidFill>
                <a:latin typeface="Segoe UI"/>
              </a:rPr>
              <a:t>сцен; не проверка на месте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384048"/>
          </a:xfrm>
          <a:prstGeom prst="rect">
            <a:avLst/>
          </a:prstGeom>
          <a:solidFill>
            <a:srgbClr val="FF6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8C9DB5"/>
                </a:solidFill>
                <a:latin typeface="Segoe UI"/>
              </a:rPr>
              <a:t>ДРЕЙФ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9441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8EEF6"/>
                </a:solidFill>
                <a:latin typeface="Segoe UI"/>
              </a:rPr>
              <a:t>Дрейф на 72 часа: демонстрация направления, не прогноз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71455" y="64008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8C9DB5"/>
                </a:solidFill>
                <a:latin typeface="Segoe UI"/>
              </a:rPr>
              <a:t>10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8C9DB5"/>
                </a:solidFill>
                <a:latin typeface="Segoe UI"/>
              </a:rPr>
              <a:t>Макропластик · Sentinel-2</a:t>
            </a:r>
          </a:p>
        </p:txBody>
      </p:sp>
      <p:pic>
        <p:nvPicPr>
          <p:cNvPr id="7" name="Picture 6" descr="dri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081" y="2514600"/>
            <a:ext cx="6664958" cy="374903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148081" y="5852159"/>
            <a:ext cx="6664958" cy="411480"/>
          </a:xfrm>
          <a:prstGeom prst="rect">
            <a:avLst/>
          </a:prstGeom>
          <a:solidFill>
            <a:srgbClr val="0A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5241" y="5916167"/>
            <a:ext cx="63906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E8EEF6"/>
                </a:solidFill>
                <a:latin typeface="Segoe UI"/>
              </a:rPr>
              <a:t>Треки частиц 0–72 ч (без валидации)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274320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800" b="1">
                <a:solidFill>
                  <a:srgbClr val="FF6B5A"/>
                </a:solidFill>
                <a:latin typeface="Segoe UI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425196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8C9DB5"/>
                </a:solidFill>
                <a:latin typeface="Segoe UI"/>
              </a:rPr>
              <a:t>свежих сцен с дрейфом:</a:t>
            </a:r>
          </a:p>
          <a:p>
            <a:pPr algn="l">
              <a:lnSpc>
                <a:spcPct val="110000"/>
              </a:lnSpc>
            </a:pPr>
            <a:r>
              <a:rPr sz="1800" b="0">
                <a:solidFill>
                  <a:srgbClr val="8C9DB5"/>
                </a:solidFill>
                <a:latin typeface="Segoe UI"/>
              </a:rPr>
              <a:t>OpenDrift, HYCOM, GFS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384048"/>
          </a:xfrm>
          <a:prstGeom prst="rect">
            <a:avLst/>
          </a:prstGeom>
          <a:solidFill>
            <a:srgbClr val="FF6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8C9DB5"/>
                </a:solidFill>
                <a:latin typeface="Segoe UI"/>
              </a:rPr>
              <a:t>ГОТОВНОСТЬ К ДАННЫМ ОРГАНИЗАТОРОВ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9441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8EEF6"/>
                </a:solidFill>
                <a:latin typeface="Segoe UI"/>
              </a:rPr>
              <a:t>Новый датасет — первый сабмит за 60 минут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71455" y="64008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8C9DB5"/>
                </a:solidFill>
                <a:latin typeface="Segoe UI"/>
              </a:rPr>
              <a:t>11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8C9DB5"/>
                </a:solidFill>
                <a:latin typeface="Segoe UI"/>
              </a:rPr>
              <a:t>Макропластик · Sentinel-2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9600" b="1">
                <a:solidFill>
                  <a:srgbClr val="FF6B5A"/>
                </a:solidFill>
                <a:latin typeface="Segoe UI"/>
              </a:rPr>
              <a:t>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60520"/>
            <a:ext cx="3657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8C9DB5"/>
                </a:solidFill>
                <a:latin typeface="Segoe UI"/>
              </a:rPr>
              <a:t>минут от архива</a:t>
            </a:r>
          </a:p>
          <a:p>
            <a:pPr algn="l">
              <a:lnSpc>
                <a:spcPct val="110000"/>
              </a:lnSpc>
            </a:pPr>
            <a:r>
              <a:rPr sz="1800" b="0">
                <a:solidFill>
                  <a:srgbClr val="8C9DB5"/>
                </a:solidFill>
                <a:latin typeface="Segoe UI"/>
              </a:rPr>
              <a:t>до первого сабмита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743200"/>
            <a:ext cx="1645920" cy="1005840"/>
          </a:xfrm>
          <a:prstGeom prst="roundRect">
            <a:avLst>
              <a:gd name="adj" fmla="val 8000"/>
            </a:avLst>
          </a:prstGeom>
          <a:solidFill>
            <a:srgbClr val="121C2E"/>
          </a:solidFill>
          <a:ln w="15875">
            <a:solidFill>
              <a:srgbClr val="24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907792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E8EEF6"/>
                </a:solidFill>
                <a:latin typeface="Segoe UI"/>
              </a:rPr>
              <a:t>inspect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29184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8C9DB5"/>
                </a:solidFill>
                <a:latin typeface="Segoe UI"/>
              </a:rPr>
              <a:t>каналы, масштаб, классы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743200"/>
            <a:ext cx="1645920" cy="1005840"/>
          </a:xfrm>
          <a:prstGeom prst="roundRect">
            <a:avLst>
              <a:gd name="adj" fmla="val 8000"/>
            </a:avLst>
          </a:prstGeom>
          <a:solidFill>
            <a:srgbClr val="121C2E"/>
          </a:solidFill>
          <a:ln w="15875">
            <a:solidFill>
              <a:srgbClr val="24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907792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E8EEF6"/>
                </a:solidFill>
                <a:latin typeface="Segoe UI"/>
              </a:rPr>
              <a:t>forensics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29184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8C9DB5"/>
                </a:solidFill>
                <a:latin typeface="Segoe UI"/>
              </a:rPr>
              <a:t>разметка из спектра?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743200"/>
            <a:ext cx="1645920" cy="1005840"/>
          </a:xfrm>
          <a:prstGeom prst="roundRect">
            <a:avLst>
              <a:gd name="adj" fmla="val 8000"/>
            </a:avLst>
          </a:prstGeom>
          <a:solidFill>
            <a:srgbClr val="121C2E"/>
          </a:solidFill>
          <a:ln w="15875">
            <a:solidFill>
              <a:srgbClr val="24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907792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E8EEF6"/>
                </a:solidFill>
                <a:latin typeface="Segoe UI"/>
              </a:rPr>
              <a:t>adapter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29184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8C9DB5"/>
                </a:solidFill>
                <a:latin typeface="Segoe UI"/>
              </a:rPr>
              <a:t>YAML → наш формат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66960" y="2743200"/>
            <a:ext cx="1645920" cy="1005840"/>
          </a:xfrm>
          <a:prstGeom prst="roundRect">
            <a:avLst>
              <a:gd name="adj" fmla="val 8000"/>
            </a:avLst>
          </a:prstGeom>
          <a:solidFill>
            <a:srgbClr val="121C2E"/>
          </a:solidFill>
          <a:ln w="15875">
            <a:solidFill>
              <a:srgbClr val="243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49840" y="2907792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E8EEF6"/>
                </a:solidFill>
                <a:latin typeface="Segoe UI"/>
              </a:rPr>
              <a:t>provenance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329184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8C9DB5"/>
                </a:solidFill>
                <a:latin typeface="Segoe UI"/>
              </a:rPr>
              <a:t>пересечения с MARIDA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114800"/>
            <a:ext cx="71323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8C9DB5"/>
                </a:solidFill>
                <a:latin typeface="Segoe UI"/>
              </a:rPr>
              <a:t>Проверено на MARIDA и чужом датасете Sentinel-2. Дальше — переобучение LightGBM за минуты.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384048"/>
          </a:xfrm>
          <a:prstGeom prst="rect">
            <a:avLst/>
          </a:prstGeom>
          <a:solidFill>
            <a:srgbClr val="FF6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8C9DB5"/>
                </a:solidFill>
                <a:latin typeface="Segoe UI"/>
              </a:rPr>
              <a:t>ЧТО ДАЛЬШЕ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9441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8EEF6"/>
                </a:solidFill>
                <a:latin typeface="Segoe UI"/>
              </a:rPr>
              <a:t>Дальше: калибровка на L2A и повторяемость находок во времени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71455" y="64008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8C9DB5"/>
                </a:solidFill>
                <a:latin typeface="Segoe UI"/>
              </a:rPr>
              <a:t>12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8C9DB5"/>
                </a:solidFill>
                <a:latin typeface="Segoe UI"/>
              </a:rPr>
              <a:t>Макропластик · Sentinel-2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914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>
                <a:solidFill>
                  <a:srgbClr val="FF6B5A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74320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E8EEF6"/>
                </a:solidFill>
                <a:latin typeface="Segoe UI"/>
              </a:rPr>
              <a:t>Дообучить модель на размеченных L2A-сценах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914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>
                <a:solidFill>
                  <a:srgbClr val="8C9DB5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84048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E8EEF6"/>
                </a:solidFill>
                <a:latin typeface="Segoe UI"/>
              </a:rPr>
              <a:t>Больше дат на район: повторяемость = надёжность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54880"/>
            <a:ext cx="914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>
                <a:solidFill>
                  <a:srgbClr val="8C9DB5"/>
                </a:solidFill>
                <a:latin typeface="Segoe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93776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E8EEF6"/>
                </a:solidFill>
                <a:latin typeface="Segoe UI"/>
              </a:rPr>
              <a:t>Результаты обследований — обратно в разметку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